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95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29C01-D236-4001-7672-EDA517CE9A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98B58C-9421-07D0-516F-F1D6304229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98D85B2-7F6C-974B-6FF7-289D633141AB}"/>
              </a:ext>
            </a:extLst>
          </p:cNvPr>
          <p:cNvSpPr>
            <a:spLocks noGrp="1"/>
          </p:cNvSpPr>
          <p:nvPr>
            <p:ph type="dt" sz="half" idx="10"/>
          </p:nvPr>
        </p:nvSpPr>
        <p:spPr/>
        <p:txBody>
          <a:bodyPr/>
          <a:lstStyle/>
          <a:p>
            <a:fld id="{6DF532E3-5399-4E56-9FDA-0197D239BE17}" type="datetimeFigureOut">
              <a:rPr lang="en-US" smtClean="0"/>
              <a:t>10/17/2026</a:t>
            </a:fld>
            <a:endParaRPr lang="en-US"/>
          </a:p>
        </p:txBody>
      </p:sp>
      <p:sp>
        <p:nvSpPr>
          <p:cNvPr id="5" name="Footer Placeholder 4">
            <a:extLst>
              <a:ext uri="{FF2B5EF4-FFF2-40B4-BE49-F238E27FC236}">
                <a16:creationId xmlns:a16="http://schemas.microsoft.com/office/drawing/2014/main" id="{BB4A2EF8-DB52-307E-AB51-281FF56E90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50A005-BEF5-0534-819B-CCC105C9F24B}"/>
              </a:ext>
            </a:extLst>
          </p:cNvPr>
          <p:cNvSpPr>
            <a:spLocks noGrp="1"/>
          </p:cNvSpPr>
          <p:nvPr>
            <p:ph type="sldNum" sz="quarter" idx="12"/>
          </p:nvPr>
        </p:nvSpPr>
        <p:spPr/>
        <p:txBody>
          <a:bodyPr/>
          <a:lstStyle/>
          <a:p>
            <a:fld id="{B102DA6C-9ED5-47A3-AFDD-12D833779584}" type="slidenum">
              <a:rPr lang="en-US" smtClean="0"/>
              <a:t>‹#›</a:t>
            </a:fld>
            <a:endParaRPr lang="en-US"/>
          </a:p>
        </p:txBody>
      </p:sp>
    </p:spTree>
    <p:extLst>
      <p:ext uri="{BB962C8B-B14F-4D97-AF65-F5344CB8AC3E}">
        <p14:creationId xmlns:p14="http://schemas.microsoft.com/office/powerpoint/2010/main" val="1908754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A22CB-852E-63AE-E5E3-BD1589B426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8D0239-F776-5C6E-DC26-894085EEF6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91B2DC-7BAE-E869-961E-8FC52D5AF999}"/>
              </a:ext>
            </a:extLst>
          </p:cNvPr>
          <p:cNvSpPr>
            <a:spLocks noGrp="1"/>
          </p:cNvSpPr>
          <p:nvPr>
            <p:ph type="dt" sz="half" idx="10"/>
          </p:nvPr>
        </p:nvSpPr>
        <p:spPr/>
        <p:txBody>
          <a:bodyPr/>
          <a:lstStyle/>
          <a:p>
            <a:fld id="{6DF532E3-5399-4E56-9FDA-0197D239BE17}" type="datetimeFigureOut">
              <a:rPr lang="en-US" smtClean="0"/>
              <a:t>10/17/2026</a:t>
            </a:fld>
            <a:endParaRPr lang="en-US"/>
          </a:p>
        </p:txBody>
      </p:sp>
      <p:sp>
        <p:nvSpPr>
          <p:cNvPr id="5" name="Footer Placeholder 4">
            <a:extLst>
              <a:ext uri="{FF2B5EF4-FFF2-40B4-BE49-F238E27FC236}">
                <a16:creationId xmlns:a16="http://schemas.microsoft.com/office/drawing/2014/main" id="{9DB55D06-53D5-EDE4-0AFE-88FDA69AE8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47D747-8229-8E95-9B4F-B088539EDA38}"/>
              </a:ext>
            </a:extLst>
          </p:cNvPr>
          <p:cNvSpPr>
            <a:spLocks noGrp="1"/>
          </p:cNvSpPr>
          <p:nvPr>
            <p:ph type="sldNum" sz="quarter" idx="12"/>
          </p:nvPr>
        </p:nvSpPr>
        <p:spPr/>
        <p:txBody>
          <a:bodyPr/>
          <a:lstStyle/>
          <a:p>
            <a:fld id="{B102DA6C-9ED5-47A3-AFDD-12D833779584}" type="slidenum">
              <a:rPr lang="en-US" smtClean="0"/>
              <a:t>‹#›</a:t>
            </a:fld>
            <a:endParaRPr lang="en-US"/>
          </a:p>
        </p:txBody>
      </p:sp>
    </p:spTree>
    <p:extLst>
      <p:ext uri="{BB962C8B-B14F-4D97-AF65-F5344CB8AC3E}">
        <p14:creationId xmlns:p14="http://schemas.microsoft.com/office/powerpoint/2010/main" val="1732116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5DBC4-6BAB-786D-4186-823371AF0F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6A0DDE-911A-4B78-1842-D7C09074AA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C457A5-8022-E7F0-C302-BAB65F147384}"/>
              </a:ext>
            </a:extLst>
          </p:cNvPr>
          <p:cNvSpPr>
            <a:spLocks noGrp="1"/>
          </p:cNvSpPr>
          <p:nvPr>
            <p:ph type="dt" sz="half" idx="10"/>
          </p:nvPr>
        </p:nvSpPr>
        <p:spPr/>
        <p:txBody>
          <a:bodyPr/>
          <a:lstStyle/>
          <a:p>
            <a:fld id="{6DF532E3-5399-4E56-9FDA-0197D239BE17}" type="datetimeFigureOut">
              <a:rPr lang="en-US" smtClean="0"/>
              <a:t>10/17/2026</a:t>
            </a:fld>
            <a:endParaRPr lang="en-US"/>
          </a:p>
        </p:txBody>
      </p:sp>
      <p:sp>
        <p:nvSpPr>
          <p:cNvPr id="5" name="Footer Placeholder 4">
            <a:extLst>
              <a:ext uri="{FF2B5EF4-FFF2-40B4-BE49-F238E27FC236}">
                <a16:creationId xmlns:a16="http://schemas.microsoft.com/office/drawing/2014/main" id="{9991D553-6434-7916-BD69-A9AE712EEC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ECBE1C-3D81-2F36-E6A7-1DF1C983279E}"/>
              </a:ext>
            </a:extLst>
          </p:cNvPr>
          <p:cNvSpPr>
            <a:spLocks noGrp="1"/>
          </p:cNvSpPr>
          <p:nvPr>
            <p:ph type="sldNum" sz="quarter" idx="12"/>
          </p:nvPr>
        </p:nvSpPr>
        <p:spPr/>
        <p:txBody>
          <a:bodyPr/>
          <a:lstStyle/>
          <a:p>
            <a:fld id="{B102DA6C-9ED5-47A3-AFDD-12D833779584}" type="slidenum">
              <a:rPr lang="en-US" smtClean="0"/>
              <a:t>‹#›</a:t>
            </a:fld>
            <a:endParaRPr lang="en-US"/>
          </a:p>
        </p:txBody>
      </p:sp>
    </p:spTree>
    <p:extLst>
      <p:ext uri="{BB962C8B-B14F-4D97-AF65-F5344CB8AC3E}">
        <p14:creationId xmlns:p14="http://schemas.microsoft.com/office/powerpoint/2010/main" val="3442373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77B60-CCE7-A5F9-AEFC-BBBF146EC9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99C526-3C31-DC43-7D17-BE45A87EE0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FAC269A-FCC9-2D73-A01B-C4A0EBB246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E47716-5EDE-064C-100D-8352EB46B8C2}"/>
              </a:ext>
            </a:extLst>
          </p:cNvPr>
          <p:cNvSpPr>
            <a:spLocks noGrp="1"/>
          </p:cNvSpPr>
          <p:nvPr>
            <p:ph type="dt" sz="half" idx="10"/>
          </p:nvPr>
        </p:nvSpPr>
        <p:spPr/>
        <p:txBody>
          <a:bodyPr/>
          <a:lstStyle/>
          <a:p>
            <a:fld id="{6DF532E3-5399-4E56-9FDA-0197D239BE17}" type="datetimeFigureOut">
              <a:rPr lang="en-US" smtClean="0"/>
              <a:t>10/17/2026</a:t>
            </a:fld>
            <a:endParaRPr lang="en-US"/>
          </a:p>
        </p:txBody>
      </p:sp>
      <p:sp>
        <p:nvSpPr>
          <p:cNvPr id="6" name="Footer Placeholder 5">
            <a:extLst>
              <a:ext uri="{FF2B5EF4-FFF2-40B4-BE49-F238E27FC236}">
                <a16:creationId xmlns:a16="http://schemas.microsoft.com/office/drawing/2014/main" id="{997722FE-21E5-F31C-FA85-26954D1965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C6E6C8-2C26-20D0-97B4-87965AFFC7A1}"/>
              </a:ext>
            </a:extLst>
          </p:cNvPr>
          <p:cNvSpPr>
            <a:spLocks noGrp="1"/>
          </p:cNvSpPr>
          <p:nvPr>
            <p:ph type="sldNum" sz="quarter" idx="12"/>
          </p:nvPr>
        </p:nvSpPr>
        <p:spPr/>
        <p:txBody>
          <a:bodyPr/>
          <a:lstStyle/>
          <a:p>
            <a:fld id="{B102DA6C-9ED5-47A3-AFDD-12D833779584}" type="slidenum">
              <a:rPr lang="en-US" smtClean="0"/>
              <a:t>‹#›</a:t>
            </a:fld>
            <a:endParaRPr lang="en-US"/>
          </a:p>
        </p:txBody>
      </p:sp>
    </p:spTree>
    <p:extLst>
      <p:ext uri="{BB962C8B-B14F-4D97-AF65-F5344CB8AC3E}">
        <p14:creationId xmlns:p14="http://schemas.microsoft.com/office/powerpoint/2010/main" val="1617983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2A5D2-F5D2-403F-9A93-5F92153FEF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533D286-AD22-4636-77D7-96DEE58E48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F4F70B-D4CF-FBED-8F4F-4E8111DD40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06191E-957D-1A41-C4AC-1F691044AE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F66695-3456-AD15-3B62-AE62F44FA0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65A593-FDB8-C7B5-A820-29D2E45B1EB2}"/>
              </a:ext>
            </a:extLst>
          </p:cNvPr>
          <p:cNvSpPr>
            <a:spLocks noGrp="1"/>
          </p:cNvSpPr>
          <p:nvPr>
            <p:ph type="dt" sz="half" idx="10"/>
          </p:nvPr>
        </p:nvSpPr>
        <p:spPr/>
        <p:txBody>
          <a:bodyPr/>
          <a:lstStyle/>
          <a:p>
            <a:fld id="{6DF532E3-5399-4E56-9FDA-0197D239BE17}" type="datetimeFigureOut">
              <a:rPr lang="en-US" smtClean="0"/>
              <a:t>10/17/2026</a:t>
            </a:fld>
            <a:endParaRPr lang="en-US"/>
          </a:p>
        </p:txBody>
      </p:sp>
      <p:sp>
        <p:nvSpPr>
          <p:cNvPr id="8" name="Footer Placeholder 7">
            <a:extLst>
              <a:ext uri="{FF2B5EF4-FFF2-40B4-BE49-F238E27FC236}">
                <a16:creationId xmlns:a16="http://schemas.microsoft.com/office/drawing/2014/main" id="{16ABC70F-DCD7-FACA-24DE-C6E8258966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695E19-16D5-C8E9-B631-280C1C94900B}"/>
              </a:ext>
            </a:extLst>
          </p:cNvPr>
          <p:cNvSpPr>
            <a:spLocks noGrp="1"/>
          </p:cNvSpPr>
          <p:nvPr>
            <p:ph type="sldNum" sz="quarter" idx="12"/>
          </p:nvPr>
        </p:nvSpPr>
        <p:spPr/>
        <p:txBody>
          <a:bodyPr/>
          <a:lstStyle/>
          <a:p>
            <a:fld id="{B102DA6C-9ED5-47A3-AFDD-12D833779584}" type="slidenum">
              <a:rPr lang="en-US" smtClean="0"/>
              <a:t>‹#›</a:t>
            </a:fld>
            <a:endParaRPr lang="en-US"/>
          </a:p>
        </p:txBody>
      </p:sp>
    </p:spTree>
    <p:extLst>
      <p:ext uri="{BB962C8B-B14F-4D97-AF65-F5344CB8AC3E}">
        <p14:creationId xmlns:p14="http://schemas.microsoft.com/office/powerpoint/2010/main" val="1839551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711A7-0329-E9F4-AB11-742E553705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FDCA562-E127-8276-CB10-D7041BC7C74F}"/>
              </a:ext>
            </a:extLst>
          </p:cNvPr>
          <p:cNvSpPr>
            <a:spLocks noGrp="1"/>
          </p:cNvSpPr>
          <p:nvPr>
            <p:ph type="dt" sz="half" idx="10"/>
          </p:nvPr>
        </p:nvSpPr>
        <p:spPr/>
        <p:txBody>
          <a:bodyPr/>
          <a:lstStyle/>
          <a:p>
            <a:fld id="{6DF532E3-5399-4E56-9FDA-0197D239BE17}" type="datetimeFigureOut">
              <a:rPr lang="en-US" smtClean="0"/>
              <a:t>10/17/2026</a:t>
            </a:fld>
            <a:endParaRPr lang="en-US"/>
          </a:p>
        </p:txBody>
      </p:sp>
      <p:sp>
        <p:nvSpPr>
          <p:cNvPr id="4" name="Footer Placeholder 3">
            <a:extLst>
              <a:ext uri="{FF2B5EF4-FFF2-40B4-BE49-F238E27FC236}">
                <a16:creationId xmlns:a16="http://schemas.microsoft.com/office/drawing/2014/main" id="{F9F4C102-CEC9-71C6-212A-4DCD5134D1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D0B606-41A1-C64B-CA3C-824575507ACB}"/>
              </a:ext>
            </a:extLst>
          </p:cNvPr>
          <p:cNvSpPr>
            <a:spLocks noGrp="1"/>
          </p:cNvSpPr>
          <p:nvPr>
            <p:ph type="sldNum" sz="quarter" idx="12"/>
          </p:nvPr>
        </p:nvSpPr>
        <p:spPr/>
        <p:txBody>
          <a:bodyPr/>
          <a:lstStyle/>
          <a:p>
            <a:fld id="{B102DA6C-9ED5-47A3-AFDD-12D833779584}" type="slidenum">
              <a:rPr lang="en-US" smtClean="0"/>
              <a:t>‹#›</a:t>
            </a:fld>
            <a:endParaRPr lang="en-US"/>
          </a:p>
        </p:txBody>
      </p:sp>
    </p:spTree>
    <p:extLst>
      <p:ext uri="{BB962C8B-B14F-4D97-AF65-F5344CB8AC3E}">
        <p14:creationId xmlns:p14="http://schemas.microsoft.com/office/powerpoint/2010/main" val="1908410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5F989A-C929-2069-4219-2AEDD709E520}"/>
              </a:ext>
            </a:extLst>
          </p:cNvPr>
          <p:cNvSpPr>
            <a:spLocks noGrp="1"/>
          </p:cNvSpPr>
          <p:nvPr>
            <p:ph type="dt" sz="half" idx="10"/>
          </p:nvPr>
        </p:nvSpPr>
        <p:spPr/>
        <p:txBody>
          <a:bodyPr/>
          <a:lstStyle/>
          <a:p>
            <a:fld id="{6DF532E3-5399-4E56-9FDA-0197D239BE17}" type="datetimeFigureOut">
              <a:rPr lang="en-US" smtClean="0"/>
              <a:t>10/17/2026</a:t>
            </a:fld>
            <a:endParaRPr lang="en-US"/>
          </a:p>
        </p:txBody>
      </p:sp>
      <p:sp>
        <p:nvSpPr>
          <p:cNvPr id="3" name="Footer Placeholder 2">
            <a:extLst>
              <a:ext uri="{FF2B5EF4-FFF2-40B4-BE49-F238E27FC236}">
                <a16:creationId xmlns:a16="http://schemas.microsoft.com/office/drawing/2014/main" id="{11DED4DE-0CD5-5270-B67F-1E55057D3DC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BE45D1-B624-553C-C1B6-D2E961878B41}"/>
              </a:ext>
            </a:extLst>
          </p:cNvPr>
          <p:cNvSpPr>
            <a:spLocks noGrp="1"/>
          </p:cNvSpPr>
          <p:nvPr>
            <p:ph type="sldNum" sz="quarter" idx="12"/>
          </p:nvPr>
        </p:nvSpPr>
        <p:spPr/>
        <p:txBody>
          <a:bodyPr/>
          <a:lstStyle/>
          <a:p>
            <a:fld id="{B102DA6C-9ED5-47A3-AFDD-12D833779584}" type="slidenum">
              <a:rPr lang="en-US" smtClean="0"/>
              <a:t>‹#›</a:t>
            </a:fld>
            <a:endParaRPr lang="en-US"/>
          </a:p>
        </p:txBody>
      </p:sp>
    </p:spTree>
    <p:extLst>
      <p:ext uri="{BB962C8B-B14F-4D97-AF65-F5344CB8AC3E}">
        <p14:creationId xmlns:p14="http://schemas.microsoft.com/office/powerpoint/2010/main" val="4112644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9FB49-5EC3-DF58-4C53-BAB2D86E20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EF93A8-CCC4-C8E5-1539-7847EC1CD7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DF68AD-F710-EF84-E05E-52548EB4E5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56E6C-18C4-1747-5A55-83C75C66D02B}"/>
              </a:ext>
            </a:extLst>
          </p:cNvPr>
          <p:cNvSpPr>
            <a:spLocks noGrp="1"/>
          </p:cNvSpPr>
          <p:nvPr>
            <p:ph type="dt" sz="half" idx="10"/>
          </p:nvPr>
        </p:nvSpPr>
        <p:spPr/>
        <p:txBody>
          <a:bodyPr/>
          <a:lstStyle/>
          <a:p>
            <a:fld id="{6DF532E3-5399-4E56-9FDA-0197D239BE17}" type="datetimeFigureOut">
              <a:rPr lang="en-US" smtClean="0"/>
              <a:t>10/17/2026</a:t>
            </a:fld>
            <a:endParaRPr lang="en-US"/>
          </a:p>
        </p:txBody>
      </p:sp>
      <p:sp>
        <p:nvSpPr>
          <p:cNvPr id="6" name="Footer Placeholder 5">
            <a:extLst>
              <a:ext uri="{FF2B5EF4-FFF2-40B4-BE49-F238E27FC236}">
                <a16:creationId xmlns:a16="http://schemas.microsoft.com/office/drawing/2014/main" id="{0129CBAC-3200-D355-C805-2166BCBEBF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6FF546-1245-0606-79B9-EE4B94DB21C8}"/>
              </a:ext>
            </a:extLst>
          </p:cNvPr>
          <p:cNvSpPr>
            <a:spLocks noGrp="1"/>
          </p:cNvSpPr>
          <p:nvPr>
            <p:ph type="sldNum" sz="quarter" idx="12"/>
          </p:nvPr>
        </p:nvSpPr>
        <p:spPr/>
        <p:txBody>
          <a:bodyPr/>
          <a:lstStyle/>
          <a:p>
            <a:fld id="{B102DA6C-9ED5-47A3-AFDD-12D833779584}" type="slidenum">
              <a:rPr lang="en-US" smtClean="0"/>
              <a:t>‹#›</a:t>
            </a:fld>
            <a:endParaRPr lang="en-US"/>
          </a:p>
        </p:txBody>
      </p:sp>
    </p:spTree>
    <p:extLst>
      <p:ext uri="{BB962C8B-B14F-4D97-AF65-F5344CB8AC3E}">
        <p14:creationId xmlns:p14="http://schemas.microsoft.com/office/powerpoint/2010/main" val="2216039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4FB48-FA22-90B6-E90A-D54B06323E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5AF0B2-CEB3-FF77-0A23-A1CD6F70CC2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00FB7E-64F6-98BC-D096-96EB2F846D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8737D5-586A-C910-4550-F4D77ED286D2}"/>
              </a:ext>
            </a:extLst>
          </p:cNvPr>
          <p:cNvSpPr>
            <a:spLocks noGrp="1"/>
          </p:cNvSpPr>
          <p:nvPr>
            <p:ph type="dt" sz="half" idx="10"/>
          </p:nvPr>
        </p:nvSpPr>
        <p:spPr/>
        <p:txBody>
          <a:bodyPr/>
          <a:lstStyle/>
          <a:p>
            <a:fld id="{6DF532E3-5399-4E56-9FDA-0197D239BE17}" type="datetimeFigureOut">
              <a:rPr lang="en-US" smtClean="0"/>
              <a:t>10/17/2026</a:t>
            </a:fld>
            <a:endParaRPr lang="en-US"/>
          </a:p>
        </p:txBody>
      </p:sp>
      <p:sp>
        <p:nvSpPr>
          <p:cNvPr id="6" name="Footer Placeholder 5">
            <a:extLst>
              <a:ext uri="{FF2B5EF4-FFF2-40B4-BE49-F238E27FC236}">
                <a16:creationId xmlns:a16="http://schemas.microsoft.com/office/drawing/2014/main" id="{937B8CCF-33B2-A28A-A949-3E4285DAED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B2EC7E-70CE-4A85-8FED-CD1538B39398}"/>
              </a:ext>
            </a:extLst>
          </p:cNvPr>
          <p:cNvSpPr>
            <a:spLocks noGrp="1"/>
          </p:cNvSpPr>
          <p:nvPr>
            <p:ph type="sldNum" sz="quarter" idx="12"/>
          </p:nvPr>
        </p:nvSpPr>
        <p:spPr/>
        <p:txBody>
          <a:bodyPr/>
          <a:lstStyle/>
          <a:p>
            <a:fld id="{B102DA6C-9ED5-47A3-AFDD-12D833779584}" type="slidenum">
              <a:rPr lang="en-US" smtClean="0"/>
              <a:t>‹#›</a:t>
            </a:fld>
            <a:endParaRPr lang="en-US"/>
          </a:p>
        </p:txBody>
      </p:sp>
    </p:spTree>
    <p:extLst>
      <p:ext uri="{BB962C8B-B14F-4D97-AF65-F5344CB8AC3E}">
        <p14:creationId xmlns:p14="http://schemas.microsoft.com/office/powerpoint/2010/main" val="614015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B7AEA-19E0-FDF8-9B07-B9D2E0FAA1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CB1EB8-A10E-7AF5-9770-219DFC5D15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319BB4-7F72-2FE7-58BA-DBE956D05B5F}"/>
              </a:ext>
            </a:extLst>
          </p:cNvPr>
          <p:cNvSpPr>
            <a:spLocks noGrp="1"/>
          </p:cNvSpPr>
          <p:nvPr>
            <p:ph type="dt" sz="half" idx="10"/>
          </p:nvPr>
        </p:nvSpPr>
        <p:spPr/>
        <p:txBody>
          <a:bodyPr/>
          <a:lstStyle/>
          <a:p>
            <a:fld id="{6DF532E3-5399-4E56-9FDA-0197D239BE17}" type="datetimeFigureOut">
              <a:rPr lang="en-US" smtClean="0"/>
              <a:t>10/17/2026</a:t>
            </a:fld>
            <a:endParaRPr lang="en-US"/>
          </a:p>
        </p:txBody>
      </p:sp>
      <p:sp>
        <p:nvSpPr>
          <p:cNvPr id="5" name="Footer Placeholder 4">
            <a:extLst>
              <a:ext uri="{FF2B5EF4-FFF2-40B4-BE49-F238E27FC236}">
                <a16:creationId xmlns:a16="http://schemas.microsoft.com/office/drawing/2014/main" id="{1FF8B035-C510-DDC3-3CA4-26ECD4F0D4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EBD21C-7C28-4A5D-2CAA-421972E24DE3}"/>
              </a:ext>
            </a:extLst>
          </p:cNvPr>
          <p:cNvSpPr>
            <a:spLocks noGrp="1"/>
          </p:cNvSpPr>
          <p:nvPr>
            <p:ph type="sldNum" sz="quarter" idx="12"/>
          </p:nvPr>
        </p:nvSpPr>
        <p:spPr/>
        <p:txBody>
          <a:bodyPr/>
          <a:lstStyle/>
          <a:p>
            <a:fld id="{B102DA6C-9ED5-47A3-AFDD-12D833779584}" type="slidenum">
              <a:rPr lang="en-US" smtClean="0"/>
              <a:t>‹#›</a:t>
            </a:fld>
            <a:endParaRPr lang="en-US"/>
          </a:p>
        </p:txBody>
      </p:sp>
    </p:spTree>
    <p:extLst>
      <p:ext uri="{BB962C8B-B14F-4D97-AF65-F5344CB8AC3E}">
        <p14:creationId xmlns:p14="http://schemas.microsoft.com/office/powerpoint/2010/main" val="579219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F01D4F-5346-5031-C496-51B9ECCC4BB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D119AEB-DF59-3B2C-848A-A8F2087642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A6A83C-2950-0526-9140-8764B98B432F}"/>
              </a:ext>
            </a:extLst>
          </p:cNvPr>
          <p:cNvSpPr>
            <a:spLocks noGrp="1"/>
          </p:cNvSpPr>
          <p:nvPr>
            <p:ph type="dt" sz="half" idx="10"/>
          </p:nvPr>
        </p:nvSpPr>
        <p:spPr/>
        <p:txBody>
          <a:bodyPr/>
          <a:lstStyle/>
          <a:p>
            <a:fld id="{6DF532E3-5399-4E56-9FDA-0197D239BE17}" type="datetimeFigureOut">
              <a:rPr lang="en-US" smtClean="0"/>
              <a:t>10/17/2026</a:t>
            </a:fld>
            <a:endParaRPr lang="en-US"/>
          </a:p>
        </p:txBody>
      </p:sp>
      <p:sp>
        <p:nvSpPr>
          <p:cNvPr id="5" name="Footer Placeholder 4">
            <a:extLst>
              <a:ext uri="{FF2B5EF4-FFF2-40B4-BE49-F238E27FC236}">
                <a16:creationId xmlns:a16="http://schemas.microsoft.com/office/drawing/2014/main" id="{9B631CC6-58ED-E952-E439-413F43ABBD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AD5BFE-4222-6BC0-A063-C6C7F437A665}"/>
              </a:ext>
            </a:extLst>
          </p:cNvPr>
          <p:cNvSpPr>
            <a:spLocks noGrp="1"/>
          </p:cNvSpPr>
          <p:nvPr>
            <p:ph type="sldNum" sz="quarter" idx="12"/>
          </p:nvPr>
        </p:nvSpPr>
        <p:spPr/>
        <p:txBody>
          <a:bodyPr/>
          <a:lstStyle/>
          <a:p>
            <a:fld id="{B102DA6C-9ED5-47A3-AFDD-12D833779584}" type="slidenum">
              <a:rPr lang="en-US" smtClean="0"/>
              <a:t>‹#›</a:t>
            </a:fld>
            <a:endParaRPr lang="en-US"/>
          </a:p>
        </p:txBody>
      </p:sp>
    </p:spTree>
    <p:extLst>
      <p:ext uri="{BB962C8B-B14F-4D97-AF65-F5344CB8AC3E}">
        <p14:creationId xmlns:p14="http://schemas.microsoft.com/office/powerpoint/2010/main" val="555587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001B61-05FC-8C0E-CA6D-7652E0C06C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D625E0-84B8-263E-BDAE-1D67390C75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85B179-69B7-D592-21C3-A236FEC55C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F532E3-5399-4E56-9FDA-0197D239BE17}" type="datetimeFigureOut">
              <a:rPr lang="en-US" smtClean="0"/>
              <a:t>10/17/2026</a:t>
            </a:fld>
            <a:endParaRPr lang="en-US"/>
          </a:p>
        </p:txBody>
      </p:sp>
      <p:sp>
        <p:nvSpPr>
          <p:cNvPr id="5" name="Footer Placeholder 4">
            <a:extLst>
              <a:ext uri="{FF2B5EF4-FFF2-40B4-BE49-F238E27FC236}">
                <a16:creationId xmlns:a16="http://schemas.microsoft.com/office/drawing/2014/main" id="{394D7106-2362-5A53-1890-4EF07544ED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5C46552-8808-BFF2-659C-40025DC0EA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02DA6C-9ED5-47A3-AFDD-12D833779584}" type="slidenum">
              <a:rPr lang="en-US" smtClean="0"/>
              <a:t>‹#›</a:t>
            </a:fld>
            <a:endParaRPr lang="en-US"/>
          </a:p>
        </p:txBody>
      </p:sp>
    </p:spTree>
    <p:extLst>
      <p:ext uri="{BB962C8B-B14F-4D97-AF65-F5344CB8AC3E}">
        <p14:creationId xmlns:p14="http://schemas.microsoft.com/office/powerpoint/2010/main" val="3607076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42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29E56A-0F6E-68F5-807F-2AAEF1E8363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3B9C5CB6-6EFA-9350-9C3D-8B838A6EB3BF}"/>
              </a:ext>
            </a:extLst>
          </p:cNvPr>
          <p:cNvSpPr/>
          <p:nvPr/>
        </p:nvSpPr>
        <p:spPr>
          <a:xfrm>
            <a:off x="0" y="0"/>
            <a:ext cx="12192000" cy="6858000"/>
          </a:xfrm>
          <a:prstGeom prst="rect">
            <a:avLst/>
          </a:prstGeom>
          <a:solidFill>
            <a:srgbClr val="07142A">
              <a:alpha val="7500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4C5A6A0-A84F-45A8-DC8A-4B3008891469}"/>
              </a:ext>
            </a:extLst>
          </p:cNvPr>
          <p:cNvSpPr/>
          <p:nvPr/>
        </p:nvSpPr>
        <p:spPr>
          <a:xfrm>
            <a:off x="0" y="0"/>
            <a:ext cx="12192000" cy="101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AFE70556-CE95-3E8E-6947-88BA0D36EEE9}"/>
              </a:ext>
            </a:extLst>
          </p:cNvPr>
          <p:cNvSpPr/>
          <p:nvPr/>
        </p:nvSpPr>
        <p:spPr>
          <a:xfrm>
            <a:off x="5029200" y="584200"/>
            <a:ext cx="2133600" cy="2133600"/>
          </a:xfrm>
          <a:prstGeom prst="roundRect">
            <a:avLst>
              <a:gd name="adj" fmla="val 12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F5D759B-10AA-77C6-2754-A8DCFE1A3046}"/>
              </a:ext>
            </a:extLst>
          </p:cNvPr>
          <p:cNvSpPr txBox="1"/>
          <p:nvPr/>
        </p:nvSpPr>
        <p:spPr>
          <a:xfrm>
            <a:off x="0" y="3022600"/>
            <a:ext cx="12192000" cy="1016000"/>
          </a:xfrm>
          <a:prstGeom prst="rect">
            <a:avLst/>
          </a:prstGeom>
          <a:noFill/>
        </p:spPr>
        <p:txBody>
          <a:bodyPr vert="horz" wrap="square" lIns="0" tIns="0" rIns="0" bIns="0" rtlCol="0" anchor="ctr">
            <a:noAutofit/>
          </a:bodyPr>
          <a:lstStyle/>
          <a:p>
            <a:pPr algn="ctr"/>
            <a:r>
              <a:rPr lang="en-US" sz="6000" b="1" spc="1400">
                <a:solidFill>
                  <a:srgbClr val="FFFFFF"/>
                </a:solidFill>
                <a:latin typeface="Segoe UI Semibold" panose="020B0702040204020203" pitchFamily="34" charset="0"/>
              </a:rPr>
              <a:t>MECHWARE</a:t>
            </a:r>
          </a:p>
        </p:txBody>
      </p:sp>
      <p:sp>
        <p:nvSpPr>
          <p:cNvPr id="10" name="TextBox 9">
            <a:extLst>
              <a:ext uri="{FF2B5EF4-FFF2-40B4-BE49-F238E27FC236}">
                <a16:creationId xmlns:a16="http://schemas.microsoft.com/office/drawing/2014/main" id="{03112CE4-0319-CFE1-2880-9AFF2F7DE315}"/>
              </a:ext>
            </a:extLst>
          </p:cNvPr>
          <p:cNvSpPr txBox="1"/>
          <p:nvPr/>
        </p:nvSpPr>
        <p:spPr>
          <a:xfrm>
            <a:off x="0" y="4038600"/>
            <a:ext cx="12192000" cy="330200"/>
          </a:xfrm>
          <a:prstGeom prst="rect">
            <a:avLst/>
          </a:prstGeom>
          <a:noFill/>
        </p:spPr>
        <p:txBody>
          <a:bodyPr vert="horz" wrap="square" lIns="0" tIns="0" rIns="0" bIns="0" rtlCol="0" anchor="ctr">
            <a:noAutofit/>
          </a:bodyPr>
          <a:lstStyle/>
          <a:p>
            <a:pPr algn="ctr"/>
            <a:r>
              <a:rPr lang="en-US" sz="1700" b="1" spc="500">
                <a:solidFill>
                  <a:srgbClr val="00E5FF"/>
                </a:solidFill>
                <a:latin typeface="Segoe UI Semibold" panose="020B0702040204020203" pitchFamily="34" charset="0"/>
              </a:rPr>
              <a:t>YOUR GATEWAY TO INDUSTRY 4.0</a:t>
            </a:r>
          </a:p>
        </p:txBody>
      </p:sp>
      <p:sp>
        <p:nvSpPr>
          <p:cNvPr id="11" name="Rectangle 10">
            <a:extLst>
              <a:ext uri="{FF2B5EF4-FFF2-40B4-BE49-F238E27FC236}">
                <a16:creationId xmlns:a16="http://schemas.microsoft.com/office/drawing/2014/main" id="{D0EA165E-3B41-2FD8-A69E-C6DB74171E3E}"/>
              </a:ext>
            </a:extLst>
          </p:cNvPr>
          <p:cNvSpPr/>
          <p:nvPr/>
        </p:nvSpPr>
        <p:spPr>
          <a:xfrm>
            <a:off x="5588000" y="4597400"/>
            <a:ext cx="1016000" cy="38100"/>
          </a:xfrm>
          <a:prstGeom prst="rect">
            <a:avLst/>
          </a:prstGeom>
          <a:solidFill>
            <a:srgbClr val="00E5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3B58E35-78D8-FEB9-1143-EABF3CD49F21}"/>
              </a:ext>
            </a:extLst>
          </p:cNvPr>
          <p:cNvSpPr txBox="1"/>
          <p:nvPr/>
        </p:nvSpPr>
        <p:spPr>
          <a:xfrm>
            <a:off x="0" y="4851400"/>
            <a:ext cx="12192000" cy="279400"/>
          </a:xfrm>
          <a:prstGeom prst="rect">
            <a:avLst/>
          </a:prstGeom>
          <a:noFill/>
        </p:spPr>
        <p:txBody>
          <a:bodyPr vert="horz" wrap="square" lIns="0" tIns="0" rIns="0" bIns="0" rtlCol="0" anchor="ctr">
            <a:noAutofit/>
          </a:bodyPr>
          <a:lstStyle/>
          <a:p>
            <a:pPr algn="ctr"/>
            <a:r>
              <a:rPr lang="en-US" sz="1250">
                <a:solidFill>
                  <a:srgbClr val="C8D6E8"/>
                </a:solidFill>
                <a:latin typeface="Segoe UI" panose="020B0502040204020203" pitchFamily="34" charset="0"/>
              </a:rPr>
              <a:t>Industrial Automation   •   Control Systems   •   SCADA   •   IIoT   •   Instrumentation   •   Smart Manufacturing</a:t>
            </a:r>
          </a:p>
        </p:txBody>
      </p:sp>
      <p:sp>
        <p:nvSpPr>
          <p:cNvPr id="13" name="TextBox 12">
            <a:extLst>
              <a:ext uri="{FF2B5EF4-FFF2-40B4-BE49-F238E27FC236}">
                <a16:creationId xmlns:a16="http://schemas.microsoft.com/office/drawing/2014/main" id="{CED75F22-9A18-5BF2-A9A7-3F2993C7DF71}"/>
              </a:ext>
            </a:extLst>
          </p:cNvPr>
          <p:cNvSpPr txBox="1"/>
          <p:nvPr/>
        </p:nvSpPr>
        <p:spPr>
          <a:xfrm>
            <a:off x="0" y="5689600"/>
            <a:ext cx="12192000" cy="254000"/>
          </a:xfrm>
          <a:prstGeom prst="rect">
            <a:avLst/>
          </a:prstGeom>
          <a:noFill/>
        </p:spPr>
        <p:txBody>
          <a:bodyPr vert="horz" wrap="square" lIns="0" tIns="0" rIns="0" bIns="0" rtlCol="0" anchor="ctr">
            <a:noAutofit/>
          </a:bodyPr>
          <a:lstStyle/>
          <a:p>
            <a:pPr algn="ctr"/>
            <a:r>
              <a:rPr lang="en-US" sz="1200" b="1" spc="300">
                <a:solidFill>
                  <a:srgbClr val="FFFFFF"/>
                </a:solidFill>
                <a:latin typeface="Segoe UI Semibold" panose="020B0702040204020203" pitchFamily="34" charset="0"/>
              </a:rPr>
              <a:t>MADE IN BANGLADESH MACHINERY</a:t>
            </a:r>
          </a:p>
        </p:txBody>
      </p:sp>
      <p:sp>
        <p:nvSpPr>
          <p:cNvPr id="14" name="TextBox 13">
            <a:extLst>
              <a:ext uri="{FF2B5EF4-FFF2-40B4-BE49-F238E27FC236}">
                <a16:creationId xmlns:a16="http://schemas.microsoft.com/office/drawing/2014/main" id="{C8E6EDA7-4792-030D-0633-81AE195EE5AA}"/>
              </a:ext>
            </a:extLst>
          </p:cNvPr>
          <p:cNvSpPr txBox="1"/>
          <p:nvPr/>
        </p:nvSpPr>
        <p:spPr>
          <a:xfrm>
            <a:off x="0" y="5994400"/>
            <a:ext cx="12192000" cy="228600"/>
          </a:xfrm>
          <a:prstGeom prst="rect">
            <a:avLst/>
          </a:prstGeom>
          <a:noFill/>
        </p:spPr>
        <p:txBody>
          <a:bodyPr vert="horz" wrap="square" lIns="0" tIns="0" rIns="0" bIns="0" rtlCol="0" anchor="ctr">
            <a:noAutofit/>
          </a:bodyPr>
          <a:lstStyle/>
          <a:p>
            <a:pPr algn="ctr"/>
            <a:r>
              <a:rPr lang="en-US" sz="1100">
                <a:solidFill>
                  <a:srgbClr val="A9BBD3"/>
                </a:solidFill>
                <a:latin typeface="Segoe UI" panose="020B0502040204020203" pitchFamily="34" charset="0"/>
              </a:rPr>
              <a:t>Established 2024   |   Bangladesh</a:t>
            </a:r>
          </a:p>
        </p:txBody>
      </p:sp>
      <p:pic>
        <p:nvPicPr>
          <p:cNvPr id="8" name="Graphic 7">
            <a:extLst>
              <a:ext uri="{FF2B5EF4-FFF2-40B4-BE49-F238E27FC236}">
                <a16:creationId xmlns:a16="http://schemas.microsoft.com/office/drawing/2014/main" id="{FD7A7880-4767-E92D-E7E9-36D5EB66A492}"/>
              </a:ext>
            </a:extLst>
          </p:cNvPr>
          <p:cNvPicPr>
            <a:picLocks/>
          </p:cNvPicPr>
          <p:nvPr/>
        </p:nvPicPr>
        <p:blipFill>
          <a:blip>
            <a:extLst>
              <a:ext uri="{96DAC541-7B7A-43D3-8B79-37D633B846F1}">
                <asvg:svgBlip xmlns:asvg="http://schemas.microsoft.com/office/drawing/2016/SVG/main" r:embed="rId3"/>
              </a:ext>
            </a:extLst>
          </a:blip>
          <a:srcRect l="11000" t="19000" r="11000" b="28000"/>
          <a:stretch>
            <a:fillRect/>
          </a:stretch>
        </p:blipFill>
        <p:spPr>
          <a:xfrm>
            <a:off x="5029200" y="885825"/>
            <a:ext cx="2133600" cy="1495426"/>
          </a:xfrm>
          <a:prstGeom prst="rect">
            <a:avLst/>
          </a:prstGeom>
        </p:spPr>
      </p:pic>
    </p:spTree>
    <p:extLst>
      <p:ext uri="{BB962C8B-B14F-4D97-AF65-F5344CB8AC3E}">
        <p14:creationId xmlns:p14="http://schemas.microsoft.com/office/powerpoint/2010/main" val="1054436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6E0C93-CC60-2CBC-0F7D-1861DCFC9F6F}"/>
              </a:ext>
            </a:extLst>
          </p:cNvPr>
          <p:cNvSpPr/>
          <p:nvPr/>
        </p:nvSpPr>
        <p:spPr>
          <a:xfrm>
            <a:off x="0" y="0"/>
            <a:ext cx="12192000" cy="1016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AF4CFF6-D75C-B5E4-B4B2-7907B289FF6D}"/>
              </a:ext>
            </a:extLst>
          </p:cNvPr>
          <p:cNvSpPr/>
          <p:nvPr/>
        </p:nvSpPr>
        <p:spPr>
          <a:xfrm>
            <a:off x="0" y="0"/>
            <a:ext cx="2794000" cy="101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A0DC015-7593-E5EA-163B-F695D6E8DB06}"/>
              </a:ext>
            </a:extLst>
          </p:cNvPr>
          <p:cNvSpPr txBox="1"/>
          <p:nvPr/>
        </p:nvSpPr>
        <p:spPr>
          <a:xfrm>
            <a:off x="609600" y="381000"/>
            <a:ext cx="8890000" cy="203200"/>
          </a:xfrm>
          <a:prstGeom prst="rect">
            <a:avLst/>
          </a:prstGeom>
          <a:noFill/>
        </p:spPr>
        <p:txBody>
          <a:bodyPr vert="horz" wrap="square" lIns="0" tIns="0" rIns="0" bIns="0" rtlCol="0" anchor="t">
            <a:noAutofit/>
          </a:bodyPr>
          <a:lstStyle/>
          <a:p>
            <a:r>
              <a:rPr lang="en-US" sz="1050" b="1" spc="250">
                <a:solidFill>
                  <a:srgbClr val="00B4D8"/>
                </a:solidFill>
                <a:latin typeface="Segoe UI Semibold" panose="020B0702040204020203" pitchFamily="34" charset="0"/>
              </a:rPr>
              <a:t>01  —  WHO WE ARE</a:t>
            </a:r>
          </a:p>
        </p:txBody>
      </p:sp>
      <p:sp>
        <p:nvSpPr>
          <p:cNvPr id="5" name="TextBox 4">
            <a:extLst>
              <a:ext uri="{FF2B5EF4-FFF2-40B4-BE49-F238E27FC236}">
                <a16:creationId xmlns:a16="http://schemas.microsoft.com/office/drawing/2014/main" id="{EE49078B-C3E9-D8FA-40D8-A2AFD8E8F132}"/>
              </a:ext>
            </a:extLst>
          </p:cNvPr>
          <p:cNvSpPr txBox="1"/>
          <p:nvPr/>
        </p:nvSpPr>
        <p:spPr>
          <a:xfrm>
            <a:off x="609600" y="609600"/>
            <a:ext cx="9652000" cy="558800"/>
          </a:xfrm>
          <a:prstGeom prst="rect">
            <a:avLst/>
          </a:prstGeom>
          <a:noFill/>
        </p:spPr>
        <p:txBody>
          <a:bodyPr vert="horz" wrap="square" lIns="0" tIns="0" rIns="0" bIns="0" rtlCol="0" anchor="t">
            <a:noAutofit/>
          </a:bodyPr>
          <a:lstStyle/>
          <a:p>
            <a:r>
              <a:rPr lang="en-US" sz="2800" b="1">
                <a:solidFill>
                  <a:srgbClr val="0B1F3A"/>
                </a:solidFill>
                <a:latin typeface="Segoe UI Semibold" panose="020B0702040204020203" pitchFamily="34" charset="0"/>
              </a:rPr>
              <a:t>Engineering the Future of Industrial Automation</a:t>
            </a:r>
          </a:p>
        </p:txBody>
      </p:sp>
      <p:sp>
        <p:nvSpPr>
          <p:cNvPr id="6" name="Rectangle 5">
            <a:extLst>
              <a:ext uri="{FF2B5EF4-FFF2-40B4-BE49-F238E27FC236}">
                <a16:creationId xmlns:a16="http://schemas.microsoft.com/office/drawing/2014/main" id="{2ACC3688-5A5C-5FA0-64EC-5E57BE87A583}"/>
              </a:ext>
            </a:extLst>
          </p:cNvPr>
          <p:cNvSpPr/>
          <p:nvPr/>
        </p:nvSpPr>
        <p:spPr>
          <a:xfrm>
            <a:off x="609600" y="1244600"/>
            <a:ext cx="711200" cy="50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AF870D9D-3E45-6379-8A16-D68B3B2F7EC0}"/>
              </a:ext>
            </a:extLst>
          </p:cNvPr>
          <p:cNvPicPr>
            <a:picLocks/>
          </p:cNvPicPr>
          <p:nvPr/>
        </p:nvPicPr>
        <p:blipFill>
          <a:blip>
            <a:extLst>
              <a:ext uri="{96DAC541-7B7A-43D3-8B79-37D633B846F1}">
                <asvg:svgBlip xmlns:asvg="http://schemas.microsoft.com/office/drawing/2016/SVG/main" r:embed="rId2"/>
              </a:ext>
            </a:extLst>
          </a:blip>
          <a:srcRect l="11000" t="19000" r="11000" b="28000"/>
          <a:stretch>
            <a:fillRect/>
          </a:stretch>
        </p:blipFill>
        <p:spPr>
          <a:xfrm>
            <a:off x="10439400" y="381000"/>
            <a:ext cx="1143001" cy="776655"/>
          </a:xfrm>
          <a:prstGeom prst="rect">
            <a:avLst/>
          </a:prstGeom>
        </p:spPr>
      </p:pic>
      <p:sp>
        <p:nvSpPr>
          <p:cNvPr id="9" name="TextBox 8">
            <a:extLst>
              <a:ext uri="{FF2B5EF4-FFF2-40B4-BE49-F238E27FC236}">
                <a16:creationId xmlns:a16="http://schemas.microsoft.com/office/drawing/2014/main" id="{C59C2422-AA16-9A6A-0BCF-4C34491BC1DF}"/>
              </a:ext>
            </a:extLst>
          </p:cNvPr>
          <p:cNvSpPr txBox="1"/>
          <p:nvPr/>
        </p:nvSpPr>
        <p:spPr>
          <a:xfrm>
            <a:off x="609600" y="1498600"/>
            <a:ext cx="10972800" cy="787400"/>
          </a:xfrm>
          <a:prstGeom prst="rect">
            <a:avLst/>
          </a:prstGeom>
          <a:noFill/>
        </p:spPr>
        <p:txBody>
          <a:bodyPr vert="horz" wrap="square" lIns="0" tIns="0" rIns="0" bIns="0" rtlCol="0" anchor="t">
            <a:noAutofit/>
          </a:bodyPr>
          <a:lstStyle/>
          <a:p>
            <a:pPr>
              <a:lnSpc>
                <a:spcPct val="120000"/>
              </a:lnSpc>
            </a:pPr>
            <a:r>
              <a:rPr lang="en-US" sz="1300">
                <a:solidFill>
                  <a:srgbClr val="5B6B80"/>
                </a:solidFill>
                <a:latin typeface="Segoe UI" panose="020B0502040204020203" pitchFamily="34" charset="0"/>
              </a:rPr>
              <a:t>MECHWARE is a Bangladesh-based Industrial Automation &amp; Smart Manufacturing company, focused on control system design, automation integration, instrumentation, SCADA, IIoT, custom machinery and industrial engineering solutions. We help industries improve productivity, reduce downtime, increase operational visibility and adopt smarter manufacturing.</a:t>
            </a:r>
          </a:p>
        </p:txBody>
      </p:sp>
      <p:sp>
        <p:nvSpPr>
          <p:cNvPr id="10" name="Rectangle: Rounded Corners 9">
            <a:extLst>
              <a:ext uri="{FF2B5EF4-FFF2-40B4-BE49-F238E27FC236}">
                <a16:creationId xmlns:a16="http://schemas.microsoft.com/office/drawing/2014/main" id="{400BE759-5932-65E8-5E35-71B8B342683D}"/>
              </a:ext>
            </a:extLst>
          </p:cNvPr>
          <p:cNvSpPr/>
          <p:nvPr/>
        </p:nvSpPr>
        <p:spPr>
          <a:xfrm>
            <a:off x="609600" y="2489200"/>
            <a:ext cx="3454400" cy="13716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F26BE54-C7BE-2D83-B125-5F9AFC3FB254}"/>
              </a:ext>
            </a:extLst>
          </p:cNvPr>
          <p:cNvSpPr/>
          <p:nvPr/>
        </p:nvSpPr>
        <p:spPr>
          <a:xfrm>
            <a:off x="609600" y="2717800"/>
            <a:ext cx="50800" cy="355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F5059BB-2BDF-7563-F4EC-3868D085EE32}"/>
              </a:ext>
            </a:extLst>
          </p:cNvPr>
          <p:cNvSpPr txBox="1"/>
          <p:nvPr/>
        </p:nvSpPr>
        <p:spPr>
          <a:xfrm>
            <a:off x="863600" y="2692400"/>
            <a:ext cx="2997200" cy="279400"/>
          </a:xfrm>
          <a:prstGeom prst="rect">
            <a:avLst/>
          </a:prstGeom>
          <a:noFill/>
        </p:spPr>
        <p:txBody>
          <a:bodyPr vert="horz" wrap="square" lIns="0" tIns="0" rIns="0" bIns="0" rtlCol="0" anchor="ctr">
            <a:noAutofit/>
          </a:bodyPr>
          <a:lstStyle/>
          <a:p>
            <a:r>
              <a:rPr lang="en-US" sz="1400" b="1">
                <a:solidFill>
                  <a:srgbClr val="0B1F3A"/>
                </a:solidFill>
                <a:latin typeface="Segoe UI Semibold" panose="020B0702040204020203" pitchFamily="34" charset="0"/>
              </a:rPr>
              <a:t>Custom Automation</a:t>
            </a:r>
          </a:p>
        </p:txBody>
      </p:sp>
      <p:sp>
        <p:nvSpPr>
          <p:cNvPr id="13" name="TextBox 12">
            <a:extLst>
              <a:ext uri="{FF2B5EF4-FFF2-40B4-BE49-F238E27FC236}">
                <a16:creationId xmlns:a16="http://schemas.microsoft.com/office/drawing/2014/main" id="{81179AE0-5261-DA74-C55C-D5F4AABC272F}"/>
              </a:ext>
            </a:extLst>
          </p:cNvPr>
          <p:cNvSpPr txBox="1"/>
          <p:nvPr/>
        </p:nvSpPr>
        <p:spPr>
          <a:xfrm>
            <a:off x="863600" y="3124200"/>
            <a:ext cx="2997200" cy="635000"/>
          </a:xfrm>
          <a:prstGeom prst="rect">
            <a:avLst/>
          </a:prstGeom>
          <a:noFill/>
        </p:spPr>
        <p:txBody>
          <a:bodyPr vert="horz" wrap="square" lIns="0" tIns="0" rIns="0" bIns="0" rtlCol="0" anchor="t">
            <a:noAutofit/>
          </a:bodyPr>
          <a:lstStyle/>
          <a:p>
            <a:pPr>
              <a:lnSpc>
                <a:spcPct val="110000"/>
              </a:lnSpc>
            </a:pPr>
            <a:r>
              <a:rPr lang="en-US" sz="1200">
                <a:solidFill>
                  <a:srgbClr val="5B6B80"/>
                </a:solidFill>
                <a:latin typeface="Segoe UI" panose="020B0502040204020203" pitchFamily="34" charset="0"/>
              </a:rPr>
              <a:t>Purpose-built automation &amp; control solutions aligned with machine and process requirements.</a:t>
            </a:r>
          </a:p>
        </p:txBody>
      </p:sp>
      <p:sp>
        <p:nvSpPr>
          <p:cNvPr id="14" name="Rectangle: Rounded Corners 13">
            <a:extLst>
              <a:ext uri="{FF2B5EF4-FFF2-40B4-BE49-F238E27FC236}">
                <a16:creationId xmlns:a16="http://schemas.microsoft.com/office/drawing/2014/main" id="{646BAFD1-4400-9D58-8047-CAE90B29A1A3}"/>
              </a:ext>
            </a:extLst>
          </p:cNvPr>
          <p:cNvSpPr/>
          <p:nvPr/>
        </p:nvSpPr>
        <p:spPr>
          <a:xfrm>
            <a:off x="4368800" y="2489200"/>
            <a:ext cx="3454400" cy="13716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295F146-7369-9591-E11A-9CBC21C62139}"/>
              </a:ext>
            </a:extLst>
          </p:cNvPr>
          <p:cNvSpPr/>
          <p:nvPr/>
        </p:nvSpPr>
        <p:spPr>
          <a:xfrm>
            <a:off x="4368800" y="2717800"/>
            <a:ext cx="50800" cy="355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682E117-F064-619D-67D2-CC24F95F21A8}"/>
              </a:ext>
            </a:extLst>
          </p:cNvPr>
          <p:cNvSpPr txBox="1"/>
          <p:nvPr/>
        </p:nvSpPr>
        <p:spPr>
          <a:xfrm>
            <a:off x="4622800" y="2692400"/>
            <a:ext cx="2997200" cy="279400"/>
          </a:xfrm>
          <a:prstGeom prst="rect">
            <a:avLst/>
          </a:prstGeom>
          <a:noFill/>
        </p:spPr>
        <p:txBody>
          <a:bodyPr vert="horz" wrap="square" lIns="0" tIns="0" rIns="0" bIns="0" rtlCol="0" anchor="ctr">
            <a:noAutofit/>
          </a:bodyPr>
          <a:lstStyle/>
          <a:p>
            <a:r>
              <a:rPr lang="en-US" sz="1400" b="1">
                <a:solidFill>
                  <a:srgbClr val="0B1F3A"/>
                </a:solidFill>
                <a:latin typeface="Segoe UI Semibold" panose="020B0702040204020203" pitchFamily="34" charset="0"/>
              </a:rPr>
              <a:t>PLC &amp; HMI</a:t>
            </a:r>
          </a:p>
        </p:txBody>
      </p:sp>
      <p:sp>
        <p:nvSpPr>
          <p:cNvPr id="17" name="TextBox 16">
            <a:extLst>
              <a:ext uri="{FF2B5EF4-FFF2-40B4-BE49-F238E27FC236}">
                <a16:creationId xmlns:a16="http://schemas.microsoft.com/office/drawing/2014/main" id="{8D9AEDC2-53DA-A352-0CBE-D3D17A39F926}"/>
              </a:ext>
            </a:extLst>
          </p:cNvPr>
          <p:cNvSpPr txBox="1"/>
          <p:nvPr/>
        </p:nvSpPr>
        <p:spPr>
          <a:xfrm>
            <a:off x="4622800" y="3124200"/>
            <a:ext cx="2997200" cy="635000"/>
          </a:xfrm>
          <a:prstGeom prst="rect">
            <a:avLst/>
          </a:prstGeom>
          <a:noFill/>
        </p:spPr>
        <p:txBody>
          <a:bodyPr vert="horz" wrap="square" lIns="0" tIns="0" rIns="0" bIns="0" rtlCol="0" anchor="t">
            <a:noAutofit/>
          </a:bodyPr>
          <a:lstStyle/>
          <a:p>
            <a:pPr>
              <a:lnSpc>
                <a:spcPct val="110000"/>
              </a:lnSpc>
            </a:pPr>
            <a:r>
              <a:rPr lang="en-US" sz="1200">
                <a:solidFill>
                  <a:srgbClr val="5B6B80"/>
                </a:solidFill>
                <a:latin typeface="Segoe UI" panose="020B0502040204020203" pitchFamily="34" charset="0"/>
              </a:rPr>
              <a:t>Programming, operator interfaces, machine control, sequencing &amp; system integration.</a:t>
            </a:r>
          </a:p>
        </p:txBody>
      </p:sp>
      <p:sp>
        <p:nvSpPr>
          <p:cNvPr id="18" name="Rectangle: Rounded Corners 17">
            <a:extLst>
              <a:ext uri="{FF2B5EF4-FFF2-40B4-BE49-F238E27FC236}">
                <a16:creationId xmlns:a16="http://schemas.microsoft.com/office/drawing/2014/main" id="{7ED2C84C-0560-4124-C043-4BC8A0A00B65}"/>
              </a:ext>
            </a:extLst>
          </p:cNvPr>
          <p:cNvSpPr/>
          <p:nvPr/>
        </p:nvSpPr>
        <p:spPr>
          <a:xfrm>
            <a:off x="8128000" y="2489200"/>
            <a:ext cx="3454400" cy="13716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7F36C50-84ED-C87D-369A-82F7AF51F183}"/>
              </a:ext>
            </a:extLst>
          </p:cNvPr>
          <p:cNvSpPr/>
          <p:nvPr/>
        </p:nvSpPr>
        <p:spPr>
          <a:xfrm>
            <a:off x="8128000" y="2717800"/>
            <a:ext cx="50800" cy="355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FA52EBB-36BF-5B26-AABE-5D74349E21AB}"/>
              </a:ext>
            </a:extLst>
          </p:cNvPr>
          <p:cNvSpPr txBox="1"/>
          <p:nvPr/>
        </p:nvSpPr>
        <p:spPr>
          <a:xfrm>
            <a:off x="8382000" y="2692400"/>
            <a:ext cx="2997200" cy="279400"/>
          </a:xfrm>
          <a:prstGeom prst="rect">
            <a:avLst/>
          </a:prstGeom>
          <a:noFill/>
        </p:spPr>
        <p:txBody>
          <a:bodyPr vert="horz" wrap="square" lIns="0" tIns="0" rIns="0" bIns="0" rtlCol="0" anchor="ctr">
            <a:noAutofit/>
          </a:bodyPr>
          <a:lstStyle/>
          <a:p>
            <a:r>
              <a:rPr lang="en-US" sz="1400" b="1">
                <a:solidFill>
                  <a:srgbClr val="0B1F3A"/>
                </a:solidFill>
                <a:latin typeface="Segoe UI Semibold" panose="020B0702040204020203" pitchFamily="34" charset="0"/>
              </a:rPr>
              <a:t>SCADA &amp; IIoT</a:t>
            </a:r>
          </a:p>
        </p:txBody>
      </p:sp>
      <p:sp>
        <p:nvSpPr>
          <p:cNvPr id="21" name="TextBox 20">
            <a:extLst>
              <a:ext uri="{FF2B5EF4-FFF2-40B4-BE49-F238E27FC236}">
                <a16:creationId xmlns:a16="http://schemas.microsoft.com/office/drawing/2014/main" id="{960D74A1-B015-854E-6673-A39B03E05D87}"/>
              </a:ext>
            </a:extLst>
          </p:cNvPr>
          <p:cNvSpPr txBox="1"/>
          <p:nvPr/>
        </p:nvSpPr>
        <p:spPr>
          <a:xfrm>
            <a:off x="8382000" y="3124200"/>
            <a:ext cx="2997200" cy="635000"/>
          </a:xfrm>
          <a:prstGeom prst="rect">
            <a:avLst/>
          </a:prstGeom>
          <a:noFill/>
        </p:spPr>
        <p:txBody>
          <a:bodyPr vert="horz" wrap="square" lIns="0" tIns="0" rIns="0" bIns="0" rtlCol="0" anchor="t">
            <a:noAutofit/>
          </a:bodyPr>
          <a:lstStyle/>
          <a:p>
            <a:pPr>
              <a:lnSpc>
                <a:spcPct val="110000"/>
              </a:lnSpc>
            </a:pPr>
            <a:r>
              <a:rPr lang="en-US" sz="1200">
                <a:solidFill>
                  <a:srgbClr val="5B6B80"/>
                </a:solidFill>
                <a:latin typeface="Segoe UI" panose="020B0502040204020203" pitchFamily="34" charset="0"/>
              </a:rPr>
              <a:t>Monitoring, visualization, data acquisition &amp; connected industrial systems.</a:t>
            </a:r>
          </a:p>
        </p:txBody>
      </p:sp>
      <p:sp>
        <p:nvSpPr>
          <p:cNvPr id="22" name="Rectangle: Rounded Corners 21">
            <a:extLst>
              <a:ext uri="{FF2B5EF4-FFF2-40B4-BE49-F238E27FC236}">
                <a16:creationId xmlns:a16="http://schemas.microsoft.com/office/drawing/2014/main" id="{E8A6284C-C14D-2143-BC9E-BFFC8CE4BAB4}"/>
              </a:ext>
            </a:extLst>
          </p:cNvPr>
          <p:cNvSpPr/>
          <p:nvPr/>
        </p:nvSpPr>
        <p:spPr>
          <a:xfrm>
            <a:off x="609600" y="4089400"/>
            <a:ext cx="3454400" cy="13716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B5ADE21-8CD0-5B24-E1BD-616F02201E27}"/>
              </a:ext>
            </a:extLst>
          </p:cNvPr>
          <p:cNvSpPr/>
          <p:nvPr/>
        </p:nvSpPr>
        <p:spPr>
          <a:xfrm>
            <a:off x="609600" y="4318000"/>
            <a:ext cx="50800" cy="355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8BD73F8-7CCB-32BA-155D-732900E0ECF4}"/>
              </a:ext>
            </a:extLst>
          </p:cNvPr>
          <p:cNvSpPr txBox="1"/>
          <p:nvPr/>
        </p:nvSpPr>
        <p:spPr>
          <a:xfrm>
            <a:off x="863600" y="4292600"/>
            <a:ext cx="2997200" cy="279400"/>
          </a:xfrm>
          <a:prstGeom prst="rect">
            <a:avLst/>
          </a:prstGeom>
          <a:noFill/>
        </p:spPr>
        <p:txBody>
          <a:bodyPr vert="horz" wrap="square" lIns="0" tIns="0" rIns="0" bIns="0" rtlCol="0" anchor="ctr">
            <a:noAutofit/>
          </a:bodyPr>
          <a:lstStyle/>
          <a:p>
            <a:r>
              <a:rPr lang="en-US" sz="1400" b="1">
                <a:solidFill>
                  <a:srgbClr val="0B1F3A"/>
                </a:solidFill>
                <a:latin typeface="Segoe UI Semibold" panose="020B0702040204020203" pitchFamily="34" charset="0"/>
              </a:rPr>
              <a:t>Industrial Networking</a:t>
            </a:r>
          </a:p>
        </p:txBody>
      </p:sp>
      <p:sp>
        <p:nvSpPr>
          <p:cNvPr id="25" name="TextBox 24">
            <a:extLst>
              <a:ext uri="{FF2B5EF4-FFF2-40B4-BE49-F238E27FC236}">
                <a16:creationId xmlns:a16="http://schemas.microsoft.com/office/drawing/2014/main" id="{081F0CDC-6BCF-0992-0752-67548E7FDB7F}"/>
              </a:ext>
            </a:extLst>
          </p:cNvPr>
          <p:cNvSpPr txBox="1"/>
          <p:nvPr/>
        </p:nvSpPr>
        <p:spPr>
          <a:xfrm>
            <a:off x="863600" y="4724400"/>
            <a:ext cx="2997200" cy="635000"/>
          </a:xfrm>
          <a:prstGeom prst="rect">
            <a:avLst/>
          </a:prstGeom>
          <a:noFill/>
        </p:spPr>
        <p:txBody>
          <a:bodyPr vert="horz" wrap="square" lIns="0" tIns="0" rIns="0" bIns="0" rtlCol="0" anchor="t">
            <a:noAutofit/>
          </a:bodyPr>
          <a:lstStyle/>
          <a:p>
            <a:pPr>
              <a:lnSpc>
                <a:spcPct val="110000"/>
              </a:lnSpc>
            </a:pPr>
            <a:r>
              <a:rPr lang="en-US" sz="1200">
                <a:solidFill>
                  <a:srgbClr val="5B6B80"/>
                </a:solidFill>
                <a:latin typeface="Segoe UI" panose="020B0502040204020203" pitchFamily="34" charset="0"/>
              </a:rPr>
              <a:t>Reliable communication &amp; connectivity between automation devices and systems.</a:t>
            </a:r>
          </a:p>
        </p:txBody>
      </p:sp>
      <p:sp>
        <p:nvSpPr>
          <p:cNvPr id="26" name="Rectangle: Rounded Corners 25">
            <a:extLst>
              <a:ext uri="{FF2B5EF4-FFF2-40B4-BE49-F238E27FC236}">
                <a16:creationId xmlns:a16="http://schemas.microsoft.com/office/drawing/2014/main" id="{2F75D180-E569-D9D1-E4BC-337B8DBD0892}"/>
              </a:ext>
            </a:extLst>
          </p:cNvPr>
          <p:cNvSpPr/>
          <p:nvPr/>
        </p:nvSpPr>
        <p:spPr>
          <a:xfrm>
            <a:off x="4368800" y="4089400"/>
            <a:ext cx="3454400" cy="13716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873CA5A-F692-8C10-441D-17F3665CD088}"/>
              </a:ext>
            </a:extLst>
          </p:cNvPr>
          <p:cNvSpPr/>
          <p:nvPr/>
        </p:nvSpPr>
        <p:spPr>
          <a:xfrm>
            <a:off x="4368800" y="4318000"/>
            <a:ext cx="50800" cy="355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997BA2A5-6850-905D-F2E6-98023FA0088F}"/>
              </a:ext>
            </a:extLst>
          </p:cNvPr>
          <p:cNvSpPr txBox="1"/>
          <p:nvPr/>
        </p:nvSpPr>
        <p:spPr>
          <a:xfrm>
            <a:off x="4622800" y="4292600"/>
            <a:ext cx="2997200" cy="279400"/>
          </a:xfrm>
          <a:prstGeom prst="rect">
            <a:avLst/>
          </a:prstGeom>
          <a:noFill/>
        </p:spPr>
        <p:txBody>
          <a:bodyPr vert="horz" wrap="square" lIns="0" tIns="0" rIns="0" bIns="0" rtlCol="0" anchor="ctr">
            <a:noAutofit/>
          </a:bodyPr>
          <a:lstStyle/>
          <a:p>
            <a:r>
              <a:rPr lang="en-US" sz="1400" b="1">
                <a:solidFill>
                  <a:srgbClr val="0B1F3A"/>
                </a:solidFill>
                <a:latin typeface="Segoe UI Semibold" panose="020B0702040204020203" pitchFamily="34" charset="0"/>
              </a:rPr>
              <a:t>Instrumentation</a:t>
            </a:r>
          </a:p>
        </p:txBody>
      </p:sp>
      <p:sp>
        <p:nvSpPr>
          <p:cNvPr id="29" name="TextBox 28">
            <a:extLst>
              <a:ext uri="{FF2B5EF4-FFF2-40B4-BE49-F238E27FC236}">
                <a16:creationId xmlns:a16="http://schemas.microsoft.com/office/drawing/2014/main" id="{01D73A7F-DBAF-DD38-39C4-91D1B8E6F661}"/>
              </a:ext>
            </a:extLst>
          </p:cNvPr>
          <p:cNvSpPr txBox="1"/>
          <p:nvPr/>
        </p:nvSpPr>
        <p:spPr>
          <a:xfrm>
            <a:off x="4622800" y="4724400"/>
            <a:ext cx="2997200" cy="635000"/>
          </a:xfrm>
          <a:prstGeom prst="rect">
            <a:avLst/>
          </a:prstGeom>
          <a:noFill/>
        </p:spPr>
        <p:txBody>
          <a:bodyPr vert="horz" wrap="square" lIns="0" tIns="0" rIns="0" bIns="0" rtlCol="0" anchor="t">
            <a:noAutofit/>
          </a:bodyPr>
          <a:lstStyle/>
          <a:p>
            <a:pPr>
              <a:lnSpc>
                <a:spcPct val="110000"/>
              </a:lnSpc>
            </a:pPr>
            <a:r>
              <a:rPr lang="en-US" sz="1200">
                <a:solidFill>
                  <a:srgbClr val="5B6B80"/>
                </a:solidFill>
                <a:latin typeface="Segoe UI" panose="020B0502040204020203" pitchFamily="34" charset="0"/>
              </a:rPr>
              <a:t>Measurement, process control, sensors &amp; field-device integration.</a:t>
            </a:r>
          </a:p>
        </p:txBody>
      </p:sp>
      <p:sp>
        <p:nvSpPr>
          <p:cNvPr id="30" name="Rectangle: Rounded Corners 29">
            <a:extLst>
              <a:ext uri="{FF2B5EF4-FFF2-40B4-BE49-F238E27FC236}">
                <a16:creationId xmlns:a16="http://schemas.microsoft.com/office/drawing/2014/main" id="{ADF12E3F-AF34-EF1E-C533-3091A2267ED5}"/>
              </a:ext>
            </a:extLst>
          </p:cNvPr>
          <p:cNvSpPr/>
          <p:nvPr/>
        </p:nvSpPr>
        <p:spPr>
          <a:xfrm>
            <a:off x="8128000" y="4089400"/>
            <a:ext cx="3454400" cy="13716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074C470-8222-143A-B1D3-BC7379413257}"/>
              </a:ext>
            </a:extLst>
          </p:cNvPr>
          <p:cNvSpPr/>
          <p:nvPr/>
        </p:nvSpPr>
        <p:spPr>
          <a:xfrm>
            <a:off x="8128000" y="4318000"/>
            <a:ext cx="50800" cy="355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94A6C12D-6872-337B-1724-C31A8E67542A}"/>
              </a:ext>
            </a:extLst>
          </p:cNvPr>
          <p:cNvSpPr txBox="1"/>
          <p:nvPr/>
        </p:nvSpPr>
        <p:spPr>
          <a:xfrm>
            <a:off x="8382000" y="4292600"/>
            <a:ext cx="2997200" cy="279400"/>
          </a:xfrm>
          <a:prstGeom prst="rect">
            <a:avLst/>
          </a:prstGeom>
          <a:noFill/>
        </p:spPr>
        <p:txBody>
          <a:bodyPr vert="horz" wrap="square" lIns="0" tIns="0" rIns="0" bIns="0" rtlCol="0" anchor="ctr">
            <a:noAutofit/>
          </a:bodyPr>
          <a:lstStyle/>
          <a:p>
            <a:r>
              <a:rPr lang="en-US" sz="1400" b="1">
                <a:solidFill>
                  <a:srgbClr val="0B1F3A"/>
                </a:solidFill>
                <a:latin typeface="Segoe UI Semibold" panose="020B0702040204020203" pitchFamily="34" charset="0"/>
              </a:rPr>
              <a:t>Smart Manufacturing</a:t>
            </a:r>
          </a:p>
        </p:txBody>
      </p:sp>
      <p:sp>
        <p:nvSpPr>
          <p:cNvPr id="33" name="TextBox 32">
            <a:extLst>
              <a:ext uri="{FF2B5EF4-FFF2-40B4-BE49-F238E27FC236}">
                <a16:creationId xmlns:a16="http://schemas.microsoft.com/office/drawing/2014/main" id="{B785C253-21B3-006C-60A2-EF1E1E6937FD}"/>
              </a:ext>
            </a:extLst>
          </p:cNvPr>
          <p:cNvSpPr txBox="1"/>
          <p:nvPr/>
        </p:nvSpPr>
        <p:spPr>
          <a:xfrm>
            <a:off x="8382000" y="4724400"/>
            <a:ext cx="2997200" cy="635000"/>
          </a:xfrm>
          <a:prstGeom prst="rect">
            <a:avLst/>
          </a:prstGeom>
          <a:noFill/>
        </p:spPr>
        <p:txBody>
          <a:bodyPr vert="horz" wrap="square" lIns="0" tIns="0" rIns="0" bIns="0" rtlCol="0" anchor="t">
            <a:noAutofit/>
          </a:bodyPr>
          <a:lstStyle/>
          <a:p>
            <a:pPr>
              <a:lnSpc>
                <a:spcPct val="110000"/>
              </a:lnSpc>
            </a:pPr>
            <a:r>
              <a:rPr lang="en-US" sz="1200">
                <a:solidFill>
                  <a:srgbClr val="5B6B80"/>
                </a:solidFill>
                <a:latin typeface="Segoe UI" panose="020B0502040204020203" pitchFamily="34" charset="0"/>
              </a:rPr>
              <a:t>Practical Industry 4.0 pathways using connected machines &amp; intelligent sensing.</a:t>
            </a:r>
          </a:p>
        </p:txBody>
      </p:sp>
      <p:sp>
        <p:nvSpPr>
          <p:cNvPr id="34" name="Rectangle: Rounded Corners 33">
            <a:extLst>
              <a:ext uri="{FF2B5EF4-FFF2-40B4-BE49-F238E27FC236}">
                <a16:creationId xmlns:a16="http://schemas.microsoft.com/office/drawing/2014/main" id="{CAB83E5D-697A-94F3-DD15-803A89DA68D5}"/>
              </a:ext>
            </a:extLst>
          </p:cNvPr>
          <p:cNvSpPr/>
          <p:nvPr/>
        </p:nvSpPr>
        <p:spPr>
          <a:xfrm>
            <a:off x="609600" y="5689600"/>
            <a:ext cx="10972800" cy="482600"/>
          </a:xfrm>
          <a:prstGeom prst="roundRect">
            <a:avLst>
              <a:gd name="adj" fmla="val 50000"/>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1BF2A5CE-06A9-DA00-1393-21F0F56EBCED}"/>
              </a:ext>
            </a:extLst>
          </p:cNvPr>
          <p:cNvSpPr txBox="1"/>
          <p:nvPr/>
        </p:nvSpPr>
        <p:spPr>
          <a:xfrm>
            <a:off x="609600" y="5689600"/>
            <a:ext cx="10972800" cy="482600"/>
          </a:xfrm>
          <a:prstGeom prst="rect">
            <a:avLst/>
          </a:prstGeom>
          <a:noFill/>
        </p:spPr>
        <p:txBody>
          <a:bodyPr vert="horz" wrap="square" lIns="0" tIns="0" rIns="0" bIns="0" rtlCol="0" anchor="ctr">
            <a:noAutofit/>
          </a:bodyPr>
          <a:lstStyle/>
          <a:p>
            <a:pPr algn="ctr"/>
            <a:r>
              <a:rPr lang="en-US" sz="1100" b="1" spc="50">
                <a:solidFill>
                  <a:srgbClr val="00E5FF"/>
                </a:solidFill>
                <a:latin typeface="Segoe UI Semibold" panose="020B0702040204020203" pitchFamily="34" charset="0"/>
              </a:rPr>
              <a:t>UNDERSTAND THE PROCESS   →   ENGINEER THE SOLUTION   →   AUTOMATE THE OPERATION   →   OPTIMIZE THE OUTPUT</a:t>
            </a:r>
          </a:p>
        </p:txBody>
      </p:sp>
      <p:sp>
        <p:nvSpPr>
          <p:cNvPr id="36" name="Rectangle 35">
            <a:extLst>
              <a:ext uri="{FF2B5EF4-FFF2-40B4-BE49-F238E27FC236}">
                <a16:creationId xmlns:a16="http://schemas.microsoft.com/office/drawing/2014/main" id="{4471C80C-8F41-CA1B-5C58-1EFA7D639B77}"/>
              </a:ext>
            </a:extLst>
          </p:cNvPr>
          <p:cNvSpPr/>
          <p:nvPr/>
        </p:nvSpPr>
        <p:spPr>
          <a:xfrm>
            <a:off x="609600" y="6388100"/>
            <a:ext cx="109728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C38B3BB-FA5D-1070-A015-009D979EB734}"/>
              </a:ext>
            </a:extLst>
          </p:cNvPr>
          <p:cNvSpPr txBox="1"/>
          <p:nvPr/>
        </p:nvSpPr>
        <p:spPr>
          <a:xfrm>
            <a:off x="609600" y="6489700"/>
            <a:ext cx="6350000" cy="177800"/>
          </a:xfrm>
          <a:prstGeom prst="rect">
            <a:avLst/>
          </a:prstGeom>
          <a:noFill/>
        </p:spPr>
        <p:txBody>
          <a:bodyPr vert="horz" wrap="square" lIns="0" tIns="0" rIns="0" bIns="0" rtlCol="0" anchor="t">
            <a:noAutofit/>
          </a:bodyPr>
          <a:lstStyle/>
          <a:p>
            <a:r>
              <a:rPr lang="en-US" sz="850" spc="100">
                <a:solidFill>
                  <a:srgbClr val="5B6B80"/>
                </a:solidFill>
                <a:latin typeface="Segoe UI" panose="020B0502040204020203" pitchFamily="34" charset="0"/>
              </a:rPr>
              <a:t>MECHWARE  |  TECHNOLOGY FOR SMARTER SYSTEMS</a:t>
            </a:r>
          </a:p>
        </p:txBody>
      </p:sp>
      <p:sp>
        <p:nvSpPr>
          <p:cNvPr id="38" name="TextBox 37">
            <a:extLst>
              <a:ext uri="{FF2B5EF4-FFF2-40B4-BE49-F238E27FC236}">
                <a16:creationId xmlns:a16="http://schemas.microsoft.com/office/drawing/2014/main" id="{6561395B-735C-5DA4-C6C1-730BBB833BA2}"/>
              </a:ext>
            </a:extLst>
          </p:cNvPr>
          <p:cNvSpPr txBox="1"/>
          <p:nvPr/>
        </p:nvSpPr>
        <p:spPr>
          <a:xfrm>
            <a:off x="7772400" y="6489700"/>
            <a:ext cx="3810000" cy="177800"/>
          </a:xfrm>
          <a:prstGeom prst="rect">
            <a:avLst/>
          </a:prstGeom>
          <a:noFill/>
        </p:spPr>
        <p:txBody>
          <a:bodyPr vert="horz" wrap="square" lIns="0" tIns="0" rIns="0" bIns="0" rtlCol="0" anchor="t">
            <a:noAutofit/>
          </a:bodyPr>
          <a:lstStyle/>
          <a:p>
            <a:pPr algn="r"/>
            <a:r>
              <a:rPr lang="en-US" sz="950" b="1">
                <a:solidFill>
                  <a:srgbClr val="0B1F3A"/>
                </a:solidFill>
                <a:latin typeface="Segoe UI Semibold" panose="020B0702040204020203" pitchFamily="34" charset="0"/>
              </a:rPr>
              <a:t>02</a:t>
            </a:r>
          </a:p>
        </p:txBody>
      </p:sp>
    </p:spTree>
    <p:extLst>
      <p:ext uri="{BB962C8B-B14F-4D97-AF65-F5344CB8AC3E}">
        <p14:creationId xmlns:p14="http://schemas.microsoft.com/office/powerpoint/2010/main" val="2262804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C356AB-14EC-26E6-5FA9-3835677AECD2}"/>
              </a:ext>
            </a:extLst>
          </p:cNvPr>
          <p:cNvSpPr/>
          <p:nvPr/>
        </p:nvSpPr>
        <p:spPr>
          <a:xfrm>
            <a:off x="0" y="0"/>
            <a:ext cx="12192000" cy="1016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84AE961-7A15-87D8-312B-C5670B01C2A2}"/>
              </a:ext>
            </a:extLst>
          </p:cNvPr>
          <p:cNvSpPr/>
          <p:nvPr/>
        </p:nvSpPr>
        <p:spPr>
          <a:xfrm>
            <a:off x="0" y="0"/>
            <a:ext cx="2794000" cy="101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A5DED5D-FA2A-B7C7-A49C-9AE31ABA85F4}"/>
              </a:ext>
            </a:extLst>
          </p:cNvPr>
          <p:cNvSpPr txBox="1"/>
          <p:nvPr/>
        </p:nvSpPr>
        <p:spPr>
          <a:xfrm>
            <a:off x="609600" y="381000"/>
            <a:ext cx="8890000" cy="203200"/>
          </a:xfrm>
          <a:prstGeom prst="rect">
            <a:avLst/>
          </a:prstGeom>
          <a:noFill/>
        </p:spPr>
        <p:txBody>
          <a:bodyPr vert="horz" wrap="square" lIns="0" tIns="0" rIns="0" bIns="0" rtlCol="0" anchor="t">
            <a:noAutofit/>
          </a:bodyPr>
          <a:lstStyle/>
          <a:p>
            <a:r>
              <a:rPr lang="en-US" sz="1050" b="1" spc="250">
                <a:solidFill>
                  <a:srgbClr val="00B4D8"/>
                </a:solidFill>
                <a:latin typeface="Segoe UI Semibold" panose="020B0702040204020203" pitchFamily="34" charset="0"/>
              </a:rPr>
              <a:t>AT A GLANCE</a:t>
            </a:r>
          </a:p>
        </p:txBody>
      </p:sp>
      <p:sp>
        <p:nvSpPr>
          <p:cNvPr id="5" name="TextBox 4">
            <a:extLst>
              <a:ext uri="{FF2B5EF4-FFF2-40B4-BE49-F238E27FC236}">
                <a16:creationId xmlns:a16="http://schemas.microsoft.com/office/drawing/2014/main" id="{83E439D4-EA55-59D0-09C8-099EF6B2B52A}"/>
              </a:ext>
            </a:extLst>
          </p:cNvPr>
          <p:cNvSpPr txBox="1"/>
          <p:nvPr/>
        </p:nvSpPr>
        <p:spPr>
          <a:xfrm>
            <a:off x="609600" y="609600"/>
            <a:ext cx="9652000" cy="558800"/>
          </a:xfrm>
          <a:prstGeom prst="rect">
            <a:avLst/>
          </a:prstGeom>
          <a:noFill/>
        </p:spPr>
        <p:txBody>
          <a:bodyPr vert="horz" wrap="square" lIns="0" tIns="0" rIns="0" bIns="0" rtlCol="0" anchor="t">
            <a:noAutofit/>
          </a:bodyPr>
          <a:lstStyle/>
          <a:p>
            <a:r>
              <a:rPr lang="en-US" sz="2800" b="1">
                <a:solidFill>
                  <a:srgbClr val="0B1F3A"/>
                </a:solidFill>
                <a:latin typeface="Segoe UI Semibold" panose="020B0702040204020203" pitchFamily="34" charset="0"/>
              </a:rPr>
              <a:t>MechWare in Numbers</a:t>
            </a:r>
          </a:p>
        </p:txBody>
      </p:sp>
      <p:sp>
        <p:nvSpPr>
          <p:cNvPr id="6" name="Rectangle 5">
            <a:extLst>
              <a:ext uri="{FF2B5EF4-FFF2-40B4-BE49-F238E27FC236}">
                <a16:creationId xmlns:a16="http://schemas.microsoft.com/office/drawing/2014/main" id="{6398589D-38E2-956A-22CB-B1E19BC27DA2}"/>
              </a:ext>
            </a:extLst>
          </p:cNvPr>
          <p:cNvSpPr/>
          <p:nvPr/>
        </p:nvSpPr>
        <p:spPr>
          <a:xfrm>
            <a:off x="609600" y="1244600"/>
            <a:ext cx="711200" cy="50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8FDB377E-1613-4419-80A2-9FA90A5A54B4}"/>
              </a:ext>
            </a:extLst>
          </p:cNvPr>
          <p:cNvPicPr>
            <a:picLocks/>
          </p:cNvPicPr>
          <p:nvPr/>
        </p:nvPicPr>
        <p:blipFill>
          <a:blip>
            <a:extLst>
              <a:ext uri="{96DAC541-7B7A-43D3-8B79-37D633B846F1}">
                <asvg:svgBlip xmlns:asvg="http://schemas.microsoft.com/office/drawing/2016/SVG/main" r:embed="rId2"/>
              </a:ext>
            </a:extLst>
          </a:blip>
          <a:srcRect l="11000" t="19000" r="11000" b="28000"/>
          <a:stretch>
            <a:fillRect/>
          </a:stretch>
        </p:blipFill>
        <p:spPr>
          <a:xfrm>
            <a:off x="10439400" y="381000"/>
            <a:ext cx="1143001" cy="776655"/>
          </a:xfrm>
          <a:prstGeom prst="rect">
            <a:avLst/>
          </a:prstGeom>
        </p:spPr>
      </p:pic>
      <p:sp>
        <p:nvSpPr>
          <p:cNvPr id="9" name="Rectangle: Rounded Corners 8">
            <a:extLst>
              <a:ext uri="{FF2B5EF4-FFF2-40B4-BE49-F238E27FC236}">
                <a16:creationId xmlns:a16="http://schemas.microsoft.com/office/drawing/2014/main" id="{B6399175-CDF0-0818-7908-8D5C76284448}"/>
              </a:ext>
            </a:extLst>
          </p:cNvPr>
          <p:cNvSpPr/>
          <p:nvPr/>
        </p:nvSpPr>
        <p:spPr>
          <a:xfrm>
            <a:off x="609600" y="1651000"/>
            <a:ext cx="2590800" cy="24130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C80DB09-0548-08B5-310D-EB6E4DBC2687}"/>
              </a:ext>
            </a:extLst>
          </p:cNvPr>
          <p:cNvSpPr txBox="1"/>
          <p:nvPr/>
        </p:nvSpPr>
        <p:spPr>
          <a:xfrm>
            <a:off x="609600" y="1905000"/>
            <a:ext cx="2590800" cy="889000"/>
          </a:xfrm>
          <a:prstGeom prst="rect">
            <a:avLst/>
          </a:prstGeom>
          <a:noFill/>
        </p:spPr>
        <p:txBody>
          <a:bodyPr vert="horz" wrap="square" lIns="0" tIns="0" rIns="0" bIns="0" rtlCol="0" anchor="ctr">
            <a:noAutofit/>
          </a:bodyPr>
          <a:lstStyle/>
          <a:p>
            <a:pPr algn="ctr"/>
            <a:r>
              <a:rPr lang="en-US" sz="5400" b="1" dirty="0">
                <a:solidFill>
                  <a:srgbClr val="0B1F3A"/>
                </a:solidFill>
                <a:latin typeface="Segoe UI Semibold" panose="020B0702040204020203" pitchFamily="34" charset="0"/>
              </a:rPr>
              <a:t>100+</a:t>
            </a:r>
          </a:p>
        </p:txBody>
      </p:sp>
      <p:sp>
        <p:nvSpPr>
          <p:cNvPr id="11" name="Rectangle 10">
            <a:extLst>
              <a:ext uri="{FF2B5EF4-FFF2-40B4-BE49-F238E27FC236}">
                <a16:creationId xmlns:a16="http://schemas.microsoft.com/office/drawing/2014/main" id="{A7E119CE-80BD-1C9E-85F8-BD586147E7D4}"/>
              </a:ext>
            </a:extLst>
          </p:cNvPr>
          <p:cNvSpPr/>
          <p:nvPr/>
        </p:nvSpPr>
        <p:spPr>
          <a:xfrm>
            <a:off x="1651000" y="2895600"/>
            <a:ext cx="508000" cy="381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36AF0DA-934C-0DE8-9304-BB39DFFC4013}"/>
              </a:ext>
            </a:extLst>
          </p:cNvPr>
          <p:cNvSpPr txBox="1"/>
          <p:nvPr/>
        </p:nvSpPr>
        <p:spPr>
          <a:xfrm>
            <a:off x="787400" y="3098800"/>
            <a:ext cx="2235200" cy="279400"/>
          </a:xfrm>
          <a:prstGeom prst="rect">
            <a:avLst/>
          </a:prstGeom>
          <a:noFill/>
        </p:spPr>
        <p:txBody>
          <a:bodyPr vert="horz" wrap="square" lIns="0" tIns="0" rIns="0" bIns="0" rtlCol="0" anchor="t">
            <a:noAutofit/>
          </a:bodyPr>
          <a:lstStyle/>
          <a:p>
            <a:pPr algn="ctr"/>
            <a:r>
              <a:rPr lang="en-US" sz="1400" b="1">
                <a:solidFill>
                  <a:srgbClr val="0B1F3A"/>
                </a:solidFill>
                <a:latin typeface="Segoe UI Semibold" panose="020B0702040204020203" pitchFamily="34" charset="0"/>
              </a:rPr>
              <a:t>Projects Delivered</a:t>
            </a:r>
          </a:p>
        </p:txBody>
      </p:sp>
      <p:sp>
        <p:nvSpPr>
          <p:cNvPr id="13" name="TextBox 12">
            <a:extLst>
              <a:ext uri="{FF2B5EF4-FFF2-40B4-BE49-F238E27FC236}">
                <a16:creationId xmlns:a16="http://schemas.microsoft.com/office/drawing/2014/main" id="{F1E1FD15-0E99-C9F5-963B-BA1D7F7C9AEF}"/>
              </a:ext>
            </a:extLst>
          </p:cNvPr>
          <p:cNvSpPr txBox="1"/>
          <p:nvPr/>
        </p:nvSpPr>
        <p:spPr>
          <a:xfrm>
            <a:off x="838200" y="3429000"/>
            <a:ext cx="2133600" cy="508000"/>
          </a:xfrm>
          <a:prstGeom prst="rect">
            <a:avLst/>
          </a:prstGeom>
          <a:noFill/>
        </p:spPr>
        <p:txBody>
          <a:bodyPr vert="horz" wrap="square" lIns="0" tIns="0" rIns="0" bIns="0" rtlCol="0" anchor="t">
            <a:noAutofit/>
          </a:bodyPr>
          <a:lstStyle/>
          <a:p>
            <a:pPr algn="ctr">
              <a:lnSpc>
                <a:spcPct val="110000"/>
              </a:lnSpc>
            </a:pPr>
            <a:r>
              <a:rPr lang="en-US" sz="1050">
                <a:solidFill>
                  <a:srgbClr val="5B6B80"/>
                </a:solidFill>
                <a:latin typeface="Segoe UI" panose="020B0502040204020203" pitchFamily="34" charset="0"/>
              </a:rPr>
              <a:t>Automation, retrofit &amp; custom machine projects.</a:t>
            </a:r>
          </a:p>
        </p:txBody>
      </p:sp>
      <p:sp>
        <p:nvSpPr>
          <p:cNvPr id="14" name="Rectangle: Rounded Corners 13">
            <a:extLst>
              <a:ext uri="{FF2B5EF4-FFF2-40B4-BE49-F238E27FC236}">
                <a16:creationId xmlns:a16="http://schemas.microsoft.com/office/drawing/2014/main" id="{293B96F9-8AE7-C7A5-1538-3C1EA78CAFA8}"/>
              </a:ext>
            </a:extLst>
          </p:cNvPr>
          <p:cNvSpPr/>
          <p:nvPr/>
        </p:nvSpPr>
        <p:spPr>
          <a:xfrm>
            <a:off x="3403600" y="1651000"/>
            <a:ext cx="2590800" cy="24130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16D102C-AFB9-706D-BEDE-D212D298F432}"/>
              </a:ext>
            </a:extLst>
          </p:cNvPr>
          <p:cNvSpPr txBox="1"/>
          <p:nvPr/>
        </p:nvSpPr>
        <p:spPr>
          <a:xfrm>
            <a:off x="3403600" y="1905000"/>
            <a:ext cx="2590800" cy="889000"/>
          </a:xfrm>
          <a:prstGeom prst="rect">
            <a:avLst/>
          </a:prstGeom>
          <a:noFill/>
        </p:spPr>
        <p:txBody>
          <a:bodyPr vert="horz" wrap="square" lIns="0" tIns="0" rIns="0" bIns="0" rtlCol="0" anchor="ctr">
            <a:noAutofit/>
          </a:bodyPr>
          <a:lstStyle/>
          <a:p>
            <a:pPr algn="ctr"/>
            <a:r>
              <a:rPr lang="en-US" sz="5400" b="1" dirty="0">
                <a:solidFill>
                  <a:srgbClr val="0B1F3A"/>
                </a:solidFill>
                <a:latin typeface="Segoe UI Semibold" panose="020B0702040204020203" pitchFamily="34" charset="0"/>
              </a:rPr>
              <a:t>30+</a:t>
            </a:r>
          </a:p>
        </p:txBody>
      </p:sp>
      <p:sp>
        <p:nvSpPr>
          <p:cNvPr id="16" name="Rectangle 15">
            <a:extLst>
              <a:ext uri="{FF2B5EF4-FFF2-40B4-BE49-F238E27FC236}">
                <a16:creationId xmlns:a16="http://schemas.microsoft.com/office/drawing/2014/main" id="{1E3B91BF-72A9-4CAB-3644-6B3EE46C325F}"/>
              </a:ext>
            </a:extLst>
          </p:cNvPr>
          <p:cNvSpPr/>
          <p:nvPr/>
        </p:nvSpPr>
        <p:spPr>
          <a:xfrm>
            <a:off x="4445000" y="2895600"/>
            <a:ext cx="508000" cy="381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F44A5697-1BAA-3517-452F-95B68F4EAC05}"/>
              </a:ext>
            </a:extLst>
          </p:cNvPr>
          <p:cNvSpPr txBox="1"/>
          <p:nvPr/>
        </p:nvSpPr>
        <p:spPr>
          <a:xfrm>
            <a:off x="3581400" y="3098800"/>
            <a:ext cx="2235200" cy="279400"/>
          </a:xfrm>
          <a:prstGeom prst="rect">
            <a:avLst/>
          </a:prstGeom>
          <a:noFill/>
        </p:spPr>
        <p:txBody>
          <a:bodyPr vert="horz" wrap="square" lIns="0" tIns="0" rIns="0" bIns="0" rtlCol="0" anchor="t">
            <a:noAutofit/>
          </a:bodyPr>
          <a:lstStyle/>
          <a:p>
            <a:pPr algn="ctr"/>
            <a:r>
              <a:rPr lang="en-US" sz="1400" b="1">
                <a:solidFill>
                  <a:srgbClr val="0B1F3A"/>
                </a:solidFill>
                <a:latin typeface="Segoe UI Semibold" panose="020B0702040204020203" pitchFamily="34" charset="0"/>
              </a:rPr>
              <a:t>Clients Served</a:t>
            </a:r>
          </a:p>
        </p:txBody>
      </p:sp>
      <p:sp>
        <p:nvSpPr>
          <p:cNvPr id="18" name="TextBox 17">
            <a:extLst>
              <a:ext uri="{FF2B5EF4-FFF2-40B4-BE49-F238E27FC236}">
                <a16:creationId xmlns:a16="http://schemas.microsoft.com/office/drawing/2014/main" id="{2C8EB130-11CF-5652-8EFE-7B53061192EF}"/>
              </a:ext>
            </a:extLst>
          </p:cNvPr>
          <p:cNvSpPr txBox="1"/>
          <p:nvPr/>
        </p:nvSpPr>
        <p:spPr>
          <a:xfrm>
            <a:off x="3632200" y="3429000"/>
            <a:ext cx="2133600" cy="508000"/>
          </a:xfrm>
          <a:prstGeom prst="rect">
            <a:avLst/>
          </a:prstGeom>
          <a:noFill/>
        </p:spPr>
        <p:txBody>
          <a:bodyPr vert="horz" wrap="square" lIns="0" tIns="0" rIns="0" bIns="0" rtlCol="0" anchor="t">
            <a:noAutofit/>
          </a:bodyPr>
          <a:lstStyle/>
          <a:p>
            <a:pPr algn="ctr">
              <a:lnSpc>
                <a:spcPct val="110000"/>
              </a:lnSpc>
            </a:pPr>
            <a:r>
              <a:rPr lang="en-US" sz="1050">
                <a:solidFill>
                  <a:srgbClr val="5B6B80"/>
                </a:solidFill>
                <a:latin typeface="Segoe UI" panose="020B0502040204020203" pitchFamily="34" charset="0"/>
              </a:rPr>
              <a:t>Industrial groups, exporters &amp; manufacturers.</a:t>
            </a:r>
          </a:p>
        </p:txBody>
      </p:sp>
      <p:sp>
        <p:nvSpPr>
          <p:cNvPr id="19" name="Rectangle: Rounded Corners 18">
            <a:extLst>
              <a:ext uri="{FF2B5EF4-FFF2-40B4-BE49-F238E27FC236}">
                <a16:creationId xmlns:a16="http://schemas.microsoft.com/office/drawing/2014/main" id="{D110A8C8-A54A-D626-4F18-B93DAA39AFE0}"/>
              </a:ext>
            </a:extLst>
          </p:cNvPr>
          <p:cNvSpPr/>
          <p:nvPr/>
        </p:nvSpPr>
        <p:spPr>
          <a:xfrm>
            <a:off x="6197600" y="1651000"/>
            <a:ext cx="2590800" cy="24130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A1DD91A-2F12-FA57-54AF-BE52C8371D55}"/>
              </a:ext>
            </a:extLst>
          </p:cNvPr>
          <p:cNvSpPr txBox="1"/>
          <p:nvPr/>
        </p:nvSpPr>
        <p:spPr>
          <a:xfrm>
            <a:off x="6197600" y="1905000"/>
            <a:ext cx="2590800" cy="889000"/>
          </a:xfrm>
          <a:prstGeom prst="rect">
            <a:avLst/>
          </a:prstGeom>
          <a:noFill/>
        </p:spPr>
        <p:txBody>
          <a:bodyPr vert="horz" wrap="square" lIns="0" tIns="0" rIns="0" bIns="0" rtlCol="0" anchor="ctr">
            <a:noAutofit/>
          </a:bodyPr>
          <a:lstStyle/>
          <a:p>
            <a:pPr algn="ctr"/>
            <a:r>
              <a:rPr lang="en-US" sz="5400" b="1">
                <a:solidFill>
                  <a:srgbClr val="0B1F3A"/>
                </a:solidFill>
                <a:latin typeface="Segoe UI Semibold" panose="020B0702040204020203" pitchFamily="34" charset="0"/>
              </a:rPr>
              <a:t>12</a:t>
            </a:r>
          </a:p>
        </p:txBody>
      </p:sp>
      <p:sp>
        <p:nvSpPr>
          <p:cNvPr id="21" name="Rectangle 20">
            <a:extLst>
              <a:ext uri="{FF2B5EF4-FFF2-40B4-BE49-F238E27FC236}">
                <a16:creationId xmlns:a16="http://schemas.microsoft.com/office/drawing/2014/main" id="{8B65235B-FB03-F187-8212-23AA212FEAC7}"/>
              </a:ext>
            </a:extLst>
          </p:cNvPr>
          <p:cNvSpPr/>
          <p:nvPr/>
        </p:nvSpPr>
        <p:spPr>
          <a:xfrm>
            <a:off x="7239000" y="2895600"/>
            <a:ext cx="508000" cy="381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D92A297-2D7D-C906-245D-738A8C5FE5ED}"/>
              </a:ext>
            </a:extLst>
          </p:cNvPr>
          <p:cNvSpPr txBox="1"/>
          <p:nvPr/>
        </p:nvSpPr>
        <p:spPr>
          <a:xfrm>
            <a:off x="6375400" y="3098800"/>
            <a:ext cx="2235200" cy="279400"/>
          </a:xfrm>
          <a:prstGeom prst="rect">
            <a:avLst/>
          </a:prstGeom>
          <a:noFill/>
        </p:spPr>
        <p:txBody>
          <a:bodyPr vert="horz" wrap="square" lIns="0" tIns="0" rIns="0" bIns="0" rtlCol="0" anchor="t">
            <a:noAutofit/>
          </a:bodyPr>
          <a:lstStyle/>
          <a:p>
            <a:pPr algn="ctr"/>
            <a:r>
              <a:rPr lang="en-US" sz="1400" b="1">
                <a:solidFill>
                  <a:srgbClr val="0B1F3A"/>
                </a:solidFill>
                <a:latin typeface="Segoe UI Semibold" panose="020B0702040204020203" pitchFamily="34" charset="0"/>
              </a:rPr>
              <a:t>Industries Served</a:t>
            </a:r>
          </a:p>
        </p:txBody>
      </p:sp>
      <p:sp>
        <p:nvSpPr>
          <p:cNvPr id="23" name="TextBox 22">
            <a:extLst>
              <a:ext uri="{FF2B5EF4-FFF2-40B4-BE49-F238E27FC236}">
                <a16:creationId xmlns:a16="http://schemas.microsoft.com/office/drawing/2014/main" id="{8393EF58-0ABC-06C1-27EC-CB39E176C23C}"/>
              </a:ext>
            </a:extLst>
          </p:cNvPr>
          <p:cNvSpPr txBox="1"/>
          <p:nvPr/>
        </p:nvSpPr>
        <p:spPr>
          <a:xfrm>
            <a:off x="6426200" y="3429000"/>
            <a:ext cx="2133600" cy="508000"/>
          </a:xfrm>
          <a:prstGeom prst="rect">
            <a:avLst/>
          </a:prstGeom>
          <a:noFill/>
        </p:spPr>
        <p:txBody>
          <a:bodyPr vert="horz" wrap="square" lIns="0" tIns="0" rIns="0" bIns="0" rtlCol="0" anchor="t">
            <a:noAutofit/>
          </a:bodyPr>
          <a:lstStyle/>
          <a:p>
            <a:pPr algn="ctr">
              <a:lnSpc>
                <a:spcPct val="110000"/>
              </a:lnSpc>
            </a:pPr>
            <a:r>
              <a:rPr lang="en-US" sz="1050">
                <a:solidFill>
                  <a:srgbClr val="5B6B80"/>
                </a:solidFill>
                <a:latin typeface="Segoe UI" panose="020B0502040204020203" pitchFamily="34" charset="0"/>
              </a:rPr>
              <a:t>From textile &amp; food to pharma, steel &amp; power.</a:t>
            </a:r>
          </a:p>
        </p:txBody>
      </p:sp>
      <p:sp>
        <p:nvSpPr>
          <p:cNvPr id="24" name="Rectangle: Rounded Corners 23">
            <a:extLst>
              <a:ext uri="{FF2B5EF4-FFF2-40B4-BE49-F238E27FC236}">
                <a16:creationId xmlns:a16="http://schemas.microsoft.com/office/drawing/2014/main" id="{BBAC9061-EEDD-FE49-A7CA-47C16AD702F1}"/>
              </a:ext>
            </a:extLst>
          </p:cNvPr>
          <p:cNvSpPr/>
          <p:nvPr/>
        </p:nvSpPr>
        <p:spPr>
          <a:xfrm>
            <a:off x="8991600" y="1651000"/>
            <a:ext cx="2590800" cy="24130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BAD4B0D-CBA2-43CE-4D47-16C27C9EFB24}"/>
              </a:ext>
            </a:extLst>
          </p:cNvPr>
          <p:cNvSpPr txBox="1"/>
          <p:nvPr/>
        </p:nvSpPr>
        <p:spPr>
          <a:xfrm>
            <a:off x="8991600" y="1905000"/>
            <a:ext cx="2590800" cy="889000"/>
          </a:xfrm>
          <a:prstGeom prst="rect">
            <a:avLst/>
          </a:prstGeom>
          <a:noFill/>
        </p:spPr>
        <p:txBody>
          <a:bodyPr vert="horz" wrap="square" lIns="0" tIns="0" rIns="0" bIns="0" rtlCol="0" anchor="ctr">
            <a:noAutofit/>
          </a:bodyPr>
          <a:lstStyle/>
          <a:p>
            <a:pPr algn="ctr"/>
            <a:r>
              <a:rPr lang="en-US" sz="5400" b="1" dirty="0">
                <a:solidFill>
                  <a:srgbClr val="0B1F3A"/>
                </a:solidFill>
                <a:latin typeface="Segoe UI Semibold" panose="020B0702040204020203" pitchFamily="34" charset="0"/>
              </a:rPr>
              <a:t>4+</a:t>
            </a:r>
          </a:p>
        </p:txBody>
      </p:sp>
      <p:sp>
        <p:nvSpPr>
          <p:cNvPr id="26" name="Rectangle 25">
            <a:extLst>
              <a:ext uri="{FF2B5EF4-FFF2-40B4-BE49-F238E27FC236}">
                <a16:creationId xmlns:a16="http://schemas.microsoft.com/office/drawing/2014/main" id="{7F9785A6-CCC1-36DA-67EC-F12475B9449C}"/>
              </a:ext>
            </a:extLst>
          </p:cNvPr>
          <p:cNvSpPr/>
          <p:nvPr/>
        </p:nvSpPr>
        <p:spPr>
          <a:xfrm>
            <a:off x="10033000" y="2895600"/>
            <a:ext cx="508000" cy="381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FB8F2728-153F-C705-7C8C-084C0B5AF58C}"/>
              </a:ext>
            </a:extLst>
          </p:cNvPr>
          <p:cNvSpPr txBox="1"/>
          <p:nvPr/>
        </p:nvSpPr>
        <p:spPr>
          <a:xfrm>
            <a:off x="9169400" y="3098800"/>
            <a:ext cx="2235200" cy="279400"/>
          </a:xfrm>
          <a:prstGeom prst="rect">
            <a:avLst/>
          </a:prstGeom>
          <a:noFill/>
        </p:spPr>
        <p:txBody>
          <a:bodyPr vert="horz" wrap="square" lIns="0" tIns="0" rIns="0" bIns="0" rtlCol="0" anchor="t">
            <a:noAutofit/>
          </a:bodyPr>
          <a:lstStyle/>
          <a:p>
            <a:pPr algn="ctr"/>
            <a:r>
              <a:rPr lang="en-US" sz="1400" b="1">
                <a:solidFill>
                  <a:srgbClr val="0B1F3A"/>
                </a:solidFill>
                <a:latin typeface="Segoe UI Semibold" panose="020B0702040204020203" pitchFamily="34" charset="0"/>
              </a:rPr>
              <a:t>Automation Platforms</a:t>
            </a:r>
          </a:p>
        </p:txBody>
      </p:sp>
      <p:sp>
        <p:nvSpPr>
          <p:cNvPr id="28" name="TextBox 27">
            <a:extLst>
              <a:ext uri="{FF2B5EF4-FFF2-40B4-BE49-F238E27FC236}">
                <a16:creationId xmlns:a16="http://schemas.microsoft.com/office/drawing/2014/main" id="{1BD693B6-C71B-1500-27BB-77BC2045339B}"/>
              </a:ext>
            </a:extLst>
          </p:cNvPr>
          <p:cNvSpPr txBox="1"/>
          <p:nvPr/>
        </p:nvSpPr>
        <p:spPr>
          <a:xfrm>
            <a:off x="9220200" y="3429000"/>
            <a:ext cx="2133600" cy="508000"/>
          </a:xfrm>
          <a:prstGeom prst="rect">
            <a:avLst/>
          </a:prstGeom>
          <a:noFill/>
        </p:spPr>
        <p:txBody>
          <a:bodyPr vert="horz" wrap="square" lIns="0" tIns="0" rIns="0" bIns="0" rtlCol="0" anchor="t">
            <a:noAutofit/>
          </a:bodyPr>
          <a:lstStyle/>
          <a:p>
            <a:pPr algn="ctr">
              <a:lnSpc>
                <a:spcPct val="110000"/>
              </a:lnSpc>
            </a:pPr>
            <a:r>
              <a:rPr lang="en-US" sz="1050">
                <a:solidFill>
                  <a:srgbClr val="5B6B80"/>
                </a:solidFill>
                <a:latin typeface="Segoe UI" panose="020B0502040204020203" pitchFamily="34" charset="0"/>
              </a:rPr>
              <a:t>Siemens, Mitsubishi Electric, Delta, Yaskawa.</a:t>
            </a:r>
          </a:p>
        </p:txBody>
      </p:sp>
      <p:sp>
        <p:nvSpPr>
          <p:cNvPr id="29" name="Rectangle: Rounded Corners 28">
            <a:extLst>
              <a:ext uri="{FF2B5EF4-FFF2-40B4-BE49-F238E27FC236}">
                <a16:creationId xmlns:a16="http://schemas.microsoft.com/office/drawing/2014/main" id="{95AD0957-812F-9BD4-AFBC-A81BD0B391C3}"/>
              </a:ext>
            </a:extLst>
          </p:cNvPr>
          <p:cNvSpPr/>
          <p:nvPr/>
        </p:nvSpPr>
        <p:spPr>
          <a:xfrm>
            <a:off x="609600" y="4394200"/>
            <a:ext cx="10972800" cy="1524000"/>
          </a:xfrm>
          <a:prstGeom prst="roundRect">
            <a:avLst>
              <a:gd name="adj" fmla="val 7000"/>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93CDDC4-A0C5-7A9E-DFFA-8713B51FA82F}"/>
              </a:ext>
            </a:extLst>
          </p:cNvPr>
          <p:cNvSpPr/>
          <p:nvPr/>
        </p:nvSpPr>
        <p:spPr>
          <a:xfrm>
            <a:off x="609600" y="4394200"/>
            <a:ext cx="101600" cy="15240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13BDED57-4378-DAC0-958A-BCFEAD71CAC9}"/>
              </a:ext>
            </a:extLst>
          </p:cNvPr>
          <p:cNvSpPr txBox="1"/>
          <p:nvPr/>
        </p:nvSpPr>
        <p:spPr>
          <a:xfrm>
            <a:off x="1066800" y="4648200"/>
            <a:ext cx="7112000" cy="381000"/>
          </a:xfrm>
          <a:prstGeom prst="rect">
            <a:avLst/>
          </a:prstGeom>
          <a:noFill/>
        </p:spPr>
        <p:txBody>
          <a:bodyPr vert="horz" wrap="square" lIns="0" tIns="0" rIns="0" bIns="0" rtlCol="0" anchor="t">
            <a:noAutofit/>
          </a:bodyPr>
          <a:lstStyle/>
          <a:p>
            <a:r>
              <a:rPr lang="en-US" sz="2400" b="1">
                <a:solidFill>
                  <a:srgbClr val="FFFFFF"/>
                </a:solidFill>
                <a:latin typeface="Segoe UI Semibold" panose="020B0702040204020203" pitchFamily="34" charset="0"/>
              </a:rPr>
              <a:t>Made in Bangladesh</a:t>
            </a:r>
          </a:p>
        </p:txBody>
      </p:sp>
      <p:sp>
        <p:nvSpPr>
          <p:cNvPr id="32" name="TextBox 31">
            <a:extLst>
              <a:ext uri="{FF2B5EF4-FFF2-40B4-BE49-F238E27FC236}">
                <a16:creationId xmlns:a16="http://schemas.microsoft.com/office/drawing/2014/main" id="{F728E21A-FD3C-A343-BFA0-9316A0D024B9}"/>
              </a:ext>
            </a:extLst>
          </p:cNvPr>
          <p:cNvSpPr txBox="1"/>
          <p:nvPr/>
        </p:nvSpPr>
        <p:spPr>
          <a:xfrm>
            <a:off x="1066800" y="5105400"/>
            <a:ext cx="7112000" cy="635000"/>
          </a:xfrm>
          <a:prstGeom prst="rect">
            <a:avLst/>
          </a:prstGeom>
          <a:noFill/>
        </p:spPr>
        <p:txBody>
          <a:bodyPr vert="horz" wrap="square" lIns="0" tIns="0" rIns="0" bIns="0" rtlCol="0" anchor="t">
            <a:noAutofit/>
          </a:bodyPr>
          <a:lstStyle/>
          <a:p>
            <a:pPr>
              <a:lnSpc>
                <a:spcPct val="115000"/>
              </a:lnSpc>
            </a:pPr>
            <a:r>
              <a:rPr lang="en-US" sz="1200">
                <a:solidFill>
                  <a:srgbClr val="C8D6E8"/>
                </a:solidFill>
                <a:latin typeface="Segoe UI" panose="020B0502040204020203" pitchFamily="34" charset="0"/>
              </a:rPr>
              <a:t>Local Machines, Global Standards — Empowering Bangladesh Industry. We design, build, retrofit and commission automation that keeps local industry competitive.</a:t>
            </a:r>
          </a:p>
        </p:txBody>
      </p:sp>
      <p:sp>
        <p:nvSpPr>
          <p:cNvPr id="34" name="Rectangle 33">
            <a:extLst>
              <a:ext uri="{FF2B5EF4-FFF2-40B4-BE49-F238E27FC236}">
                <a16:creationId xmlns:a16="http://schemas.microsoft.com/office/drawing/2014/main" id="{CE57958A-5C1A-737B-B94C-D2432E2605E7}"/>
              </a:ext>
            </a:extLst>
          </p:cNvPr>
          <p:cNvSpPr/>
          <p:nvPr/>
        </p:nvSpPr>
        <p:spPr>
          <a:xfrm>
            <a:off x="609600" y="6388100"/>
            <a:ext cx="109728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BFA1786C-66FD-A3E1-8D42-536B4CB766F0}"/>
              </a:ext>
            </a:extLst>
          </p:cNvPr>
          <p:cNvSpPr txBox="1"/>
          <p:nvPr/>
        </p:nvSpPr>
        <p:spPr>
          <a:xfrm>
            <a:off x="609600" y="6489700"/>
            <a:ext cx="6350000" cy="177800"/>
          </a:xfrm>
          <a:prstGeom prst="rect">
            <a:avLst/>
          </a:prstGeom>
          <a:noFill/>
        </p:spPr>
        <p:txBody>
          <a:bodyPr vert="horz" wrap="square" lIns="0" tIns="0" rIns="0" bIns="0" rtlCol="0" anchor="t">
            <a:noAutofit/>
          </a:bodyPr>
          <a:lstStyle/>
          <a:p>
            <a:r>
              <a:rPr lang="en-US" sz="850" spc="100">
                <a:solidFill>
                  <a:srgbClr val="5B6B80"/>
                </a:solidFill>
                <a:latin typeface="Segoe UI" panose="020B0502040204020203" pitchFamily="34" charset="0"/>
              </a:rPr>
              <a:t>MECHWARE  |  TECHNOLOGY FOR SMARTER SYSTEMS</a:t>
            </a:r>
          </a:p>
        </p:txBody>
      </p:sp>
      <p:sp>
        <p:nvSpPr>
          <p:cNvPr id="36" name="TextBox 35">
            <a:extLst>
              <a:ext uri="{FF2B5EF4-FFF2-40B4-BE49-F238E27FC236}">
                <a16:creationId xmlns:a16="http://schemas.microsoft.com/office/drawing/2014/main" id="{505D8D24-8632-5EAD-943F-2D5768DDDE58}"/>
              </a:ext>
            </a:extLst>
          </p:cNvPr>
          <p:cNvSpPr txBox="1"/>
          <p:nvPr/>
        </p:nvSpPr>
        <p:spPr>
          <a:xfrm>
            <a:off x="7772400" y="6489700"/>
            <a:ext cx="3810000" cy="177800"/>
          </a:xfrm>
          <a:prstGeom prst="rect">
            <a:avLst/>
          </a:prstGeom>
          <a:noFill/>
        </p:spPr>
        <p:txBody>
          <a:bodyPr vert="horz" wrap="square" lIns="0" tIns="0" rIns="0" bIns="0" rtlCol="0" anchor="t">
            <a:noAutofit/>
          </a:bodyPr>
          <a:lstStyle/>
          <a:p>
            <a:pPr algn="r"/>
            <a:r>
              <a:rPr lang="en-US" sz="950" b="1">
                <a:solidFill>
                  <a:srgbClr val="0B1F3A"/>
                </a:solidFill>
                <a:latin typeface="Segoe UI Semibold" panose="020B0702040204020203" pitchFamily="34" charset="0"/>
              </a:rPr>
              <a:t>03</a:t>
            </a:r>
          </a:p>
        </p:txBody>
      </p:sp>
    </p:spTree>
    <p:extLst>
      <p:ext uri="{BB962C8B-B14F-4D97-AF65-F5344CB8AC3E}">
        <p14:creationId xmlns:p14="http://schemas.microsoft.com/office/powerpoint/2010/main" val="3390794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E09B34-5B02-8572-5861-96E829A0F2A9}"/>
              </a:ext>
            </a:extLst>
          </p:cNvPr>
          <p:cNvSpPr/>
          <p:nvPr/>
        </p:nvSpPr>
        <p:spPr>
          <a:xfrm>
            <a:off x="0" y="0"/>
            <a:ext cx="12192000" cy="1016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B7906E9-827A-5B6D-EB66-6A344AE23C67}"/>
              </a:ext>
            </a:extLst>
          </p:cNvPr>
          <p:cNvSpPr/>
          <p:nvPr/>
        </p:nvSpPr>
        <p:spPr>
          <a:xfrm>
            <a:off x="0" y="0"/>
            <a:ext cx="2794000" cy="101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C914274-F194-A257-2179-7A8DD3CAE122}"/>
              </a:ext>
            </a:extLst>
          </p:cNvPr>
          <p:cNvSpPr txBox="1"/>
          <p:nvPr/>
        </p:nvSpPr>
        <p:spPr>
          <a:xfrm>
            <a:off x="609600" y="381000"/>
            <a:ext cx="8890000" cy="203200"/>
          </a:xfrm>
          <a:prstGeom prst="rect">
            <a:avLst/>
          </a:prstGeom>
          <a:noFill/>
        </p:spPr>
        <p:txBody>
          <a:bodyPr vert="horz" wrap="square" lIns="0" tIns="0" rIns="0" bIns="0" rtlCol="0" anchor="t">
            <a:noAutofit/>
          </a:bodyPr>
          <a:lstStyle/>
          <a:p>
            <a:r>
              <a:rPr lang="en-US" sz="1050" b="1" spc="250">
                <a:solidFill>
                  <a:srgbClr val="00B4D8"/>
                </a:solidFill>
                <a:latin typeface="Segoe UI Semibold" panose="020B0702040204020203" pitchFamily="34" charset="0"/>
              </a:rPr>
              <a:t>02  —  DIRECTION</a:t>
            </a:r>
          </a:p>
        </p:txBody>
      </p:sp>
      <p:sp>
        <p:nvSpPr>
          <p:cNvPr id="5" name="TextBox 4">
            <a:extLst>
              <a:ext uri="{FF2B5EF4-FFF2-40B4-BE49-F238E27FC236}">
                <a16:creationId xmlns:a16="http://schemas.microsoft.com/office/drawing/2014/main" id="{FF5700A5-64DA-BDD4-9C52-4328AA52F9D2}"/>
              </a:ext>
            </a:extLst>
          </p:cNvPr>
          <p:cNvSpPr txBox="1"/>
          <p:nvPr/>
        </p:nvSpPr>
        <p:spPr>
          <a:xfrm>
            <a:off x="609600" y="609600"/>
            <a:ext cx="9652000" cy="558800"/>
          </a:xfrm>
          <a:prstGeom prst="rect">
            <a:avLst/>
          </a:prstGeom>
          <a:noFill/>
        </p:spPr>
        <p:txBody>
          <a:bodyPr vert="horz" wrap="square" lIns="0" tIns="0" rIns="0" bIns="0" rtlCol="0" anchor="t">
            <a:noAutofit/>
          </a:bodyPr>
          <a:lstStyle/>
          <a:p>
            <a:r>
              <a:rPr lang="en-US" sz="2800" b="1">
                <a:solidFill>
                  <a:srgbClr val="0B1F3A"/>
                </a:solidFill>
                <a:latin typeface="Segoe UI Semibold" panose="020B0702040204020203" pitchFamily="34" charset="0"/>
              </a:rPr>
              <a:t>Vision, Mission &amp; Values</a:t>
            </a:r>
          </a:p>
        </p:txBody>
      </p:sp>
      <p:sp>
        <p:nvSpPr>
          <p:cNvPr id="6" name="Rectangle 5">
            <a:extLst>
              <a:ext uri="{FF2B5EF4-FFF2-40B4-BE49-F238E27FC236}">
                <a16:creationId xmlns:a16="http://schemas.microsoft.com/office/drawing/2014/main" id="{AFCA7DB7-DB38-2389-D18C-17A638F13115}"/>
              </a:ext>
            </a:extLst>
          </p:cNvPr>
          <p:cNvSpPr/>
          <p:nvPr/>
        </p:nvSpPr>
        <p:spPr>
          <a:xfrm>
            <a:off x="609600" y="1244600"/>
            <a:ext cx="711200" cy="50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AE6F0ED2-DC78-9DB9-2D5B-FA8A5A334DE5}"/>
              </a:ext>
            </a:extLst>
          </p:cNvPr>
          <p:cNvPicPr>
            <a:picLocks/>
          </p:cNvPicPr>
          <p:nvPr/>
        </p:nvPicPr>
        <p:blipFill>
          <a:blip>
            <a:extLst>
              <a:ext uri="{96DAC541-7B7A-43D3-8B79-37D633B846F1}">
                <asvg:svgBlip xmlns:asvg="http://schemas.microsoft.com/office/drawing/2016/SVG/main" r:embed="rId2"/>
              </a:ext>
            </a:extLst>
          </a:blip>
          <a:srcRect l="11000" t="19000" r="11000" b="28000"/>
          <a:stretch>
            <a:fillRect/>
          </a:stretch>
        </p:blipFill>
        <p:spPr>
          <a:xfrm>
            <a:off x="10439400" y="381000"/>
            <a:ext cx="1143001" cy="776655"/>
          </a:xfrm>
          <a:prstGeom prst="rect">
            <a:avLst/>
          </a:prstGeom>
        </p:spPr>
      </p:pic>
      <p:sp>
        <p:nvSpPr>
          <p:cNvPr id="9" name="Rectangle: Rounded Corners 8">
            <a:extLst>
              <a:ext uri="{FF2B5EF4-FFF2-40B4-BE49-F238E27FC236}">
                <a16:creationId xmlns:a16="http://schemas.microsoft.com/office/drawing/2014/main" id="{2DB8F936-D70A-D14C-203B-3D7E88AA6CBA}"/>
              </a:ext>
            </a:extLst>
          </p:cNvPr>
          <p:cNvSpPr/>
          <p:nvPr/>
        </p:nvSpPr>
        <p:spPr>
          <a:xfrm>
            <a:off x="609600" y="1549400"/>
            <a:ext cx="5334000" cy="1905000"/>
          </a:xfrm>
          <a:prstGeom prst="roundRect">
            <a:avLst>
              <a:gd name="adj" fmla="val 7000"/>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E53D5B3-ADCC-63F9-0331-F115C37876A1}"/>
              </a:ext>
            </a:extLst>
          </p:cNvPr>
          <p:cNvSpPr txBox="1"/>
          <p:nvPr/>
        </p:nvSpPr>
        <p:spPr>
          <a:xfrm>
            <a:off x="914400" y="1778000"/>
            <a:ext cx="4724400" cy="228600"/>
          </a:xfrm>
          <a:prstGeom prst="rect">
            <a:avLst/>
          </a:prstGeom>
          <a:noFill/>
        </p:spPr>
        <p:txBody>
          <a:bodyPr vert="horz" wrap="square" lIns="0" tIns="0" rIns="0" bIns="0" rtlCol="0" anchor="t">
            <a:noAutofit/>
          </a:bodyPr>
          <a:lstStyle/>
          <a:p>
            <a:r>
              <a:rPr lang="en-US" sz="1100" b="1" spc="300">
                <a:solidFill>
                  <a:srgbClr val="00E5FF"/>
                </a:solidFill>
                <a:latin typeface="Segoe UI Semibold" panose="020B0702040204020203" pitchFamily="34" charset="0"/>
              </a:rPr>
              <a:t>VISION</a:t>
            </a:r>
          </a:p>
        </p:txBody>
      </p:sp>
      <p:sp>
        <p:nvSpPr>
          <p:cNvPr id="11" name="TextBox 10">
            <a:extLst>
              <a:ext uri="{FF2B5EF4-FFF2-40B4-BE49-F238E27FC236}">
                <a16:creationId xmlns:a16="http://schemas.microsoft.com/office/drawing/2014/main" id="{E9C7A6F1-CA70-CBED-EF6D-29080B65E2FB}"/>
              </a:ext>
            </a:extLst>
          </p:cNvPr>
          <p:cNvSpPr txBox="1"/>
          <p:nvPr/>
        </p:nvSpPr>
        <p:spPr>
          <a:xfrm>
            <a:off x="914400" y="2108200"/>
            <a:ext cx="4724400" cy="1219200"/>
          </a:xfrm>
          <a:prstGeom prst="rect">
            <a:avLst/>
          </a:prstGeom>
          <a:noFill/>
        </p:spPr>
        <p:txBody>
          <a:bodyPr vert="horz" wrap="square" lIns="0" tIns="0" rIns="0" bIns="0" rtlCol="0" anchor="t">
            <a:noAutofit/>
          </a:bodyPr>
          <a:lstStyle/>
          <a:p>
            <a:pPr>
              <a:lnSpc>
                <a:spcPct val="120000"/>
              </a:lnSpc>
            </a:pPr>
            <a:r>
              <a:rPr lang="en-US" sz="1450">
                <a:solidFill>
                  <a:srgbClr val="FFFFFF"/>
                </a:solidFill>
                <a:latin typeface="Segoe UI" panose="020B0502040204020203" pitchFamily="34" charset="0"/>
              </a:rPr>
              <a:t>To establish Bangladesh's first advanced machine manufacturing plant to meet local industrial demand and reduce import dependency.</a:t>
            </a:r>
          </a:p>
        </p:txBody>
      </p:sp>
      <p:sp>
        <p:nvSpPr>
          <p:cNvPr id="12" name="Rectangle: Rounded Corners 11">
            <a:extLst>
              <a:ext uri="{FF2B5EF4-FFF2-40B4-BE49-F238E27FC236}">
                <a16:creationId xmlns:a16="http://schemas.microsoft.com/office/drawing/2014/main" id="{52F5A460-EE46-8A2A-3F02-DF428E65D119}"/>
              </a:ext>
            </a:extLst>
          </p:cNvPr>
          <p:cNvSpPr/>
          <p:nvPr/>
        </p:nvSpPr>
        <p:spPr>
          <a:xfrm>
            <a:off x="6248400" y="1549400"/>
            <a:ext cx="5334000" cy="1905000"/>
          </a:xfrm>
          <a:prstGeom prst="roundRect">
            <a:avLst>
              <a:gd name="adj" fmla="val 7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A6DAEC3A-8CBA-9622-39FD-C6BBDAF80BBB}"/>
              </a:ext>
            </a:extLst>
          </p:cNvPr>
          <p:cNvSpPr/>
          <p:nvPr/>
        </p:nvSpPr>
        <p:spPr>
          <a:xfrm>
            <a:off x="6248400" y="1549400"/>
            <a:ext cx="5334000" cy="1905000"/>
          </a:xfrm>
          <a:prstGeom prst="roundRect">
            <a:avLst>
              <a:gd name="adj" fmla="val 7000"/>
            </a:avLst>
          </a:prstGeom>
          <a:noFill/>
          <a:ln w="15875" cap="flat" cmpd="sng" algn="ctr">
            <a:solidFill>
              <a:srgbClr val="00B4D8"/>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7D96349-220D-E425-FEED-30DC7788B919}"/>
              </a:ext>
            </a:extLst>
          </p:cNvPr>
          <p:cNvSpPr txBox="1"/>
          <p:nvPr/>
        </p:nvSpPr>
        <p:spPr>
          <a:xfrm>
            <a:off x="6553200" y="1778000"/>
            <a:ext cx="4724400" cy="228600"/>
          </a:xfrm>
          <a:prstGeom prst="rect">
            <a:avLst/>
          </a:prstGeom>
          <a:noFill/>
        </p:spPr>
        <p:txBody>
          <a:bodyPr vert="horz" wrap="square" lIns="0" tIns="0" rIns="0" bIns="0" rtlCol="0" anchor="t">
            <a:noAutofit/>
          </a:bodyPr>
          <a:lstStyle/>
          <a:p>
            <a:r>
              <a:rPr lang="en-US" sz="1100" b="1" spc="300">
                <a:solidFill>
                  <a:srgbClr val="1F6F8B"/>
                </a:solidFill>
                <a:latin typeface="Segoe UI Semibold" panose="020B0702040204020203" pitchFamily="34" charset="0"/>
              </a:rPr>
              <a:t>MISSION</a:t>
            </a:r>
          </a:p>
        </p:txBody>
      </p:sp>
      <p:sp>
        <p:nvSpPr>
          <p:cNvPr id="15" name="TextBox 14">
            <a:extLst>
              <a:ext uri="{FF2B5EF4-FFF2-40B4-BE49-F238E27FC236}">
                <a16:creationId xmlns:a16="http://schemas.microsoft.com/office/drawing/2014/main" id="{19FF6D2B-4C6F-1560-F05D-28D13A004490}"/>
              </a:ext>
            </a:extLst>
          </p:cNvPr>
          <p:cNvSpPr txBox="1"/>
          <p:nvPr/>
        </p:nvSpPr>
        <p:spPr>
          <a:xfrm>
            <a:off x="6553200" y="2108200"/>
            <a:ext cx="4724400" cy="1219200"/>
          </a:xfrm>
          <a:prstGeom prst="rect">
            <a:avLst/>
          </a:prstGeom>
          <a:noFill/>
        </p:spPr>
        <p:txBody>
          <a:bodyPr vert="horz" wrap="square" lIns="0" tIns="0" rIns="0" bIns="0" rtlCol="0" anchor="t">
            <a:noAutofit/>
          </a:bodyPr>
          <a:lstStyle/>
          <a:p>
            <a:pPr>
              <a:lnSpc>
                <a:spcPct val="120000"/>
              </a:lnSpc>
            </a:pPr>
            <a:r>
              <a:rPr lang="en-US" sz="1450">
                <a:solidFill>
                  <a:srgbClr val="1B2B40"/>
                </a:solidFill>
                <a:latin typeface="Segoe UI" panose="020B0502040204020203" pitchFamily="34" charset="0"/>
              </a:rPr>
              <a:t>Develop and manufacture high-performance industrial machinery locally, ensuring affordability, reliability, and technological independence for Bangladesh.</a:t>
            </a:r>
          </a:p>
        </p:txBody>
      </p:sp>
      <p:sp>
        <p:nvSpPr>
          <p:cNvPr id="16" name="TextBox 15">
            <a:extLst>
              <a:ext uri="{FF2B5EF4-FFF2-40B4-BE49-F238E27FC236}">
                <a16:creationId xmlns:a16="http://schemas.microsoft.com/office/drawing/2014/main" id="{85818D37-C637-EB68-BC50-1788A508BE3A}"/>
              </a:ext>
            </a:extLst>
          </p:cNvPr>
          <p:cNvSpPr txBox="1"/>
          <p:nvPr/>
        </p:nvSpPr>
        <p:spPr>
          <a:xfrm>
            <a:off x="609600" y="3733800"/>
            <a:ext cx="5080000" cy="203200"/>
          </a:xfrm>
          <a:prstGeom prst="rect">
            <a:avLst/>
          </a:prstGeom>
          <a:noFill/>
        </p:spPr>
        <p:txBody>
          <a:bodyPr vert="horz" wrap="square" lIns="0" tIns="0" rIns="0" bIns="0" rtlCol="0" anchor="t">
            <a:noAutofit/>
          </a:bodyPr>
          <a:lstStyle/>
          <a:p>
            <a:r>
              <a:rPr lang="en-US" sz="1050" b="1" spc="250">
                <a:solidFill>
                  <a:srgbClr val="00B4D8"/>
                </a:solidFill>
                <a:latin typeface="Segoe UI Semibold" panose="020B0702040204020203" pitchFamily="34" charset="0"/>
              </a:rPr>
              <a:t>OUR VALUES</a:t>
            </a:r>
          </a:p>
        </p:txBody>
      </p:sp>
      <p:sp>
        <p:nvSpPr>
          <p:cNvPr id="17" name="Rectangle: Rounded Corners 16">
            <a:extLst>
              <a:ext uri="{FF2B5EF4-FFF2-40B4-BE49-F238E27FC236}">
                <a16:creationId xmlns:a16="http://schemas.microsoft.com/office/drawing/2014/main" id="{007BE5C7-862C-9972-BEC7-25C66E85DAC5}"/>
              </a:ext>
            </a:extLst>
          </p:cNvPr>
          <p:cNvSpPr/>
          <p:nvPr/>
        </p:nvSpPr>
        <p:spPr>
          <a:xfrm>
            <a:off x="609600" y="4038600"/>
            <a:ext cx="2032000" cy="1371600"/>
          </a:xfrm>
          <a:prstGeom prst="roundRect">
            <a:avLst>
              <a:gd name="adj" fmla="val 7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152FCCE-09B3-979E-2325-1C9E6490198C}"/>
              </a:ext>
            </a:extLst>
          </p:cNvPr>
          <p:cNvSpPr/>
          <p:nvPr/>
        </p:nvSpPr>
        <p:spPr>
          <a:xfrm>
            <a:off x="812800" y="4241800"/>
            <a:ext cx="355600" cy="381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65525BE-FECF-CE16-F2ED-42B56AAA5F97}"/>
              </a:ext>
            </a:extLst>
          </p:cNvPr>
          <p:cNvSpPr txBox="1"/>
          <p:nvPr/>
        </p:nvSpPr>
        <p:spPr>
          <a:xfrm>
            <a:off x="812800" y="4394200"/>
            <a:ext cx="1651000" cy="228600"/>
          </a:xfrm>
          <a:prstGeom prst="rect">
            <a:avLst/>
          </a:prstGeom>
          <a:noFill/>
        </p:spPr>
        <p:txBody>
          <a:bodyPr vert="horz" wrap="square" lIns="0" tIns="0" rIns="0" bIns="0" rtlCol="0" anchor="t">
            <a:noAutofit/>
          </a:bodyPr>
          <a:lstStyle/>
          <a:p>
            <a:r>
              <a:rPr lang="en-US" sz="1200" b="1">
                <a:solidFill>
                  <a:srgbClr val="0B1F3A"/>
                </a:solidFill>
                <a:latin typeface="Segoe UI Semibold" panose="020B0702040204020203" pitchFamily="34" charset="0"/>
              </a:rPr>
              <a:t>Innovation</a:t>
            </a:r>
          </a:p>
        </p:txBody>
      </p:sp>
      <p:sp>
        <p:nvSpPr>
          <p:cNvPr id="20" name="TextBox 19">
            <a:extLst>
              <a:ext uri="{FF2B5EF4-FFF2-40B4-BE49-F238E27FC236}">
                <a16:creationId xmlns:a16="http://schemas.microsoft.com/office/drawing/2014/main" id="{710126FC-58B6-5639-F120-E8E1897CEAB1}"/>
              </a:ext>
            </a:extLst>
          </p:cNvPr>
          <p:cNvSpPr txBox="1"/>
          <p:nvPr/>
        </p:nvSpPr>
        <p:spPr>
          <a:xfrm>
            <a:off x="812800" y="4673600"/>
            <a:ext cx="1651000" cy="660400"/>
          </a:xfrm>
          <a:prstGeom prst="rect">
            <a:avLst/>
          </a:prstGeom>
          <a:noFill/>
        </p:spPr>
        <p:txBody>
          <a:bodyPr vert="horz" wrap="square" lIns="0" tIns="0" rIns="0" bIns="0" rtlCol="0" anchor="t">
            <a:noAutofit/>
          </a:bodyPr>
          <a:lstStyle/>
          <a:p>
            <a:pPr>
              <a:lnSpc>
                <a:spcPct val="110000"/>
              </a:lnSpc>
            </a:pPr>
            <a:r>
              <a:rPr lang="en-US" sz="1000">
                <a:solidFill>
                  <a:srgbClr val="5B6B80"/>
                </a:solidFill>
                <a:latin typeface="Segoe UI" panose="020B0502040204020203" pitchFamily="34" charset="0"/>
              </a:rPr>
              <a:t>Explore modern technologies &amp; better engineering.</a:t>
            </a:r>
          </a:p>
        </p:txBody>
      </p:sp>
      <p:sp>
        <p:nvSpPr>
          <p:cNvPr id="21" name="Rectangle: Rounded Corners 20">
            <a:extLst>
              <a:ext uri="{FF2B5EF4-FFF2-40B4-BE49-F238E27FC236}">
                <a16:creationId xmlns:a16="http://schemas.microsoft.com/office/drawing/2014/main" id="{0794E1B1-9C34-9C97-38C8-040378FAD058}"/>
              </a:ext>
            </a:extLst>
          </p:cNvPr>
          <p:cNvSpPr/>
          <p:nvPr/>
        </p:nvSpPr>
        <p:spPr>
          <a:xfrm>
            <a:off x="2844800" y="4038600"/>
            <a:ext cx="2032000" cy="1371600"/>
          </a:xfrm>
          <a:prstGeom prst="roundRect">
            <a:avLst>
              <a:gd name="adj" fmla="val 7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5960F8C-0780-C567-FC1C-2EE93D66A484}"/>
              </a:ext>
            </a:extLst>
          </p:cNvPr>
          <p:cNvSpPr/>
          <p:nvPr/>
        </p:nvSpPr>
        <p:spPr>
          <a:xfrm>
            <a:off x="3048000" y="4241800"/>
            <a:ext cx="355600" cy="381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26C4178-1B39-E183-B3DD-85E20ED76995}"/>
              </a:ext>
            </a:extLst>
          </p:cNvPr>
          <p:cNvSpPr txBox="1"/>
          <p:nvPr/>
        </p:nvSpPr>
        <p:spPr>
          <a:xfrm>
            <a:off x="3048000" y="4394200"/>
            <a:ext cx="1651000" cy="228600"/>
          </a:xfrm>
          <a:prstGeom prst="rect">
            <a:avLst/>
          </a:prstGeom>
          <a:noFill/>
        </p:spPr>
        <p:txBody>
          <a:bodyPr vert="horz" wrap="square" lIns="0" tIns="0" rIns="0" bIns="0" rtlCol="0" anchor="t">
            <a:noAutofit/>
          </a:bodyPr>
          <a:lstStyle/>
          <a:p>
            <a:r>
              <a:rPr lang="en-US" sz="1200" b="1">
                <a:solidFill>
                  <a:srgbClr val="0B1F3A"/>
                </a:solidFill>
                <a:latin typeface="Segoe UI Semibold" panose="020B0702040204020203" pitchFamily="34" charset="0"/>
              </a:rPr>
              <a:t>Engineering Excellence</a:t>
            </a:r>
          </a:p>
        </p:txBody>
      </p:sp>
      <p:sp>
        <p:nvSpPr>
          <p:cNvPr id="24" name="TextBox 23">
            <a:extLst>
              <a:ext uri="{FF2B5EF4-FFF2-40B4-BE49-F238E27FC236}">
                <a16:creationId xmlns:a16="http://schemas.microsoft.com/office/drawing/2014/main" id="{ABF70856-666E-11EC-3D70-25C2F5F37632}"/>
              </a:ext>
            </a:extLst>
          </p:cNvPr>
          <p:cNvSpPr txBox="1"/>
          <p:nvPr/>
        </p:nvSpPr>
        <p:spPr>
          <a:xfrm>
            <a:off x="3048000" y="4673600"/>
            <a:ext cx="1651000" cy="660400"/>
          </a:xfrm>
          <a:prstGeom prst="rect">
            <a:avLst/>
          </a:prstGeom>
          <a:noFill/>
        </p:spPr>
        <p:txBody>
          <a:bodyPr vert="horz" wrap="square" lIns="0" tIns="0" rIns="0" bIns="0" rtlCol="0" anchor="t">
            <a:noAutofit/>
          </a:bodyPr>
          <a:lstStyle/>
          <a:p>
            <a:pPr>
              <a:lnSpc>
                <a:spcPct val="110000"/>
              </a:lnSpc>
            </a:pPr>
            <a:r>
              <a:rPr lang="en-US" sz="1000">
                <a:solidFill>
                  <a:srgbClr val="5B6B80"/>
                </a:solidFill>
                <a:latin typeface="Segoe UI" panose="020B0502040204020203" pitchFamily="34" charset="0"/>
              </a:rPr>
              <a:t>Disciplined engineering for dependable performance.</a:t>
            </a:r>
          </a:p>
        </p:txBody>
      </p:sp>
      <p:sp>
        <p:nvSpPr>
          <p:cNvPr id="25" name="Rectangle: Rounded Corners 24">
            <a:extLst>
              <a:ext uri="{FF2B5EF4-FFF2-40B4-BE49-F238E27FC236}">
                <a16:creationId xmlns:a16="http://schemas.microsoft.com/office/drawing/2014/main" id="{B6A5B012-2044-2829-82EE-53F387675EBB}"/>
              </a:ext>
            </a:extLst>
          </p:cNvPr>
          <p:cNvSpPr/>
          <p:nvPr/>
        </p:nvSpPr>
        <p:spPr>
          <a:xfrm>
            <a:off x="5080000" y="4038600"/>
            <a:ext cx="2032000" cy="1371600"/>
          </a:xfrm>
          <a:prstGeom prst="roundRect">
            <a:avLst>
              <a:gd name="adj" fmla="val 7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D4F57D9-881F-9C33-E565-77961738BAEE}"/>
              </a:ext>
            </a:extLst>
          </p:cNvPr>
          <p:cNvSpPr/>
          <p:nvPr/>
        </p:nvSpPr>
        <p:spPr>
          <a:xfrm>
            <a:off x="5283200" y="4241800"/>
            <a:ext cx="355600" cy="381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831B9864-AC2C-B239-9F9B-CAD005BCFEA7}"/>
              </a:ext>
            </a:extLst>
          </p:cNvPr>
          <p:cNvSpPr txBox="1"/>
          <p:nvPr/>
        </p:nvSpPr>
        <p:spPr>
          <a:xfrm>
            <a:off x="5283200" y="4394200"/>
            <a:ext cx="1651000" cy="228600"/>
          </a:xfrm>
          <a:prstGeom prst="rect">
            <a:avLst/>
          </a:prstGeom>
          <a:noFill/>
        </p:spPr>
        <p:txBody>
          <a:bodyPr vert="horz" wrap="square" lIns="0" tIns="0" rIns="0" bIns="0" rtlCol="0" anchor="t">
            <a:noAutofit/>
          </a:bodyPr>
          <a:lstStyle/>
          <a:p>
            <a:r>
              <a:rPr lang="en-US" sz="1200" b="1">
                <a:solidFill>
                  <a:srgbClr val="0B1F3A"/>
                </a:solidFill>
                <a:latin typeface="Segoe UI Semibold" panose="020B0702040204020203" pitchFamily="34" charset="0"/>
              </a:rPr>
              <a:t>Reliability</a:t>
            </a:r>
          </a:p>
        </p:txBody>
      </p:sp>
      <p:sp>
        <p:nvSpPr>
          <p:cNvPr id="28" name="TextBox 27">
            <a:extLst>
              <a:ext uri="{FF2B5EF4-FFF2-40B4-BE49-F238E27FC236}">
                <a16:creationId xmlns:a16="http://schemas.microsoft.com/office/drawing/2014/main" id="{146CD96B-E91E-5012-5545-FCEFB0B78BF0}"/>
              </a:ext>
            </a:extLst>
          </p:cNvPr>
          <p:cNvSpPr txBox="1"/>
          <p:nvPr/>
        </p:nvSpPr>
        <p:spPr>
          <a:xfrm>
            <a:off x="5283200" y="4673600"/>
            <a:ext cx="1651000" cy="660400"/>
          </a:xfrm>
          <a:prstGeom prst="rect">
            <a:avLst/>
          </a:prstGeom>
          <a:noFill/>
        </p:spPr>
        <p:txBody>
          <a:bodyPr vert="horz" wrap="square" lIns="0" tIns="0" rIns="0" bIns="0" rtlCol="0" anchor="t">
            <a:noAutofit/>
          </a:bodyPr>
          <a:lstStyle/>
          <a:p>
            <a:pPr>
              <a:lnSpc>
                <a:spcPct val="110000"/>
              </a:lnSpc>
            </a:pPr>
            <a:r>
              <a:rPr lang="en-US" sz="1000">
                <a:solidFill>
                  <a:srgbClr val="5B6B80"/>
                </a:solidFill>
                <a:latin typeface="Segoe UI" panose="020B0502040204020203" pitchFamily="34" charset="0"/>
              </a:rPr>
              <a:t>Systems built for long-term operational stability.</a:t>
            </a:r>
          </a:p>
        </p:txBody>
      </p:sp>
      <p:sp>
        <p:nvSpPr>
          <p:cNvPr id="29" name="Rectangle: Rounded Corners 28">
            <a:extLst>
              <a:ext uri="{FF2B5EF4-FFF2-40B4-BE49-F238E27FC236}">
                <a16:creationId xmlns:a16="http://schemas.microsoft.com/office/drawing/2014/main" id="{170A1C33-5885-DC7E-C160-3E6ED2D23706}"/>
              </a:ext>
            </a:extLst>
          </p:cNvPr>
          <p:cNvSpPr/>
          <p:nvPr/>
        </p:nvSpPr>
        <p:spPr>
          <a:xfrm>
            <a:off x="7315200" y="4038600"/>
            <a:ext cx="2032000" cy="1371600"/>
          </a:xfrm>
          <a:prstGeom prst="roundRect">
            <a:avLst>
              <a:gd name="adj" fmla="val 7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B25040D-D496-CE30-C64C-2982C0676B62}"/>
              </a:ext>
            </a:extLst>
          </p:cNvPr>
          <p:cNvSpPr/>
          <p:nvPr/>
        </p:nvSpPr>
        <p:spPr>
          <a:xfrm>
            <a:off x="7518400" y="4241800"/>
            <a:ext cx="355600" cy="381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0CAFBB89-B472-89E8-7141-0269F3950229}"/>
              </a:ext>
            </a:extLst>
          </p:cNvPr>
          <p:cNvSpPr txBox="1"/>
          <p:nvPr/>
        </p:nvSpPr>
        <p:spPr>
          <a:xfrm>
            <a:off x="7518400" y="4394200"/>
            <a:ext cx="1651000" cy="228600"/>
          </a:xfrm>
          <a:prstGeom prst="rect">
            <a:avLst/>
          </a:prstGeom>
          <a:noFill/>
        </p:spPr>
        <p:txBody>
          <a:bodyPr vert="horz" wrap="square" lIns="0" tIns="0" rIns="0" bIns="0" rtlCol="0" anchor="t">
            <a:noAutofit/>
          </a:bodyPr>
          <a:lstStyle/>
          <a:p>
            <a:r>
              <a:rPr lang="en-US" sz="1200" b="1">
                <a:solidFill>
                  <a:srgbClr val="0B1F3A"/>
                </a:solidFill>
                <a:latin typeface="Segoe UI Semibold" panose="020B0702040204020203" pitchFamily="34" charset="0"/>
              </a:rPr>
              <a:t>Integrity</a:t>
            </a:r>
          </a:p>
        </p:txBody>
      </p:sp>
      <p:sp>
        <p:nvSpPr>
          <p:cNvPr id="32" name="TextBox 31">
            <a:extLst>
              <a:ext uri="{FF2B5EF4-FFF2-40B4-BE49-F238E27FC236}">
                <a16:creationId xmlns:a16="http://schemas.microsoft.com/office/drawing/2014/main" id="{6C744633-D8B4-F6EF-D4BA-660BF8F7C217}"/>
              </a:ext>
            </a:extLst>
          </p:cNvPr>
          <p:cNvSpPr txBox="1"/>
          <p:nvPr/>
        </p:nvSpPr>
        <p:spPr>
          <a:xfrm>
            <a:off x="7518400" y="4673600"/>
            <a:ext cx="1651000" cy="660400"/>
          </a:xfrm>
          <a:prstGeom prst="rect">
            <a:avLst/>
          </a:prstGeom>
          <a:noFill/>
        </p:spPr>
        <p:txBody>
          <a:bodyPr vert="horz" wrap="square" lIns="0" tIns="0" rIns="0" bIns="0" rtlCol="0" anchor="t">
            <a:noAutofit/>
          </a:bodyPr>
          <a:lstStyle/>
          <a:p>
            <a:pPr>
              <a:lnSpc>
                <a:spcPct val="110000"/>
              </a:lnSpc>
            </a:pPr>
            <a:r>
              <a:rPr lang="en-US" sz="1000">
                <a:solidFill>
                  <a:srgbClr val="5B6B80"/>
                </a:solidFill>
                <a:latin typeface="Segoe UI" panose="020B0502040204020203" pitchFamily="34" charset="0"/>
              </a:rPr>
              <a:t>Transparency, professionalism &amp; responsibility.</a:t>
            </a:r>
          </a:p>
        </p:txBody>
      </p:sp>
      <p:sp>
        <p:nvSpPr>
          <p:cNvPr id="33" name="Rectangle: Rounded Corners 32">
            <a:extLst>
              <a:ext uri="{FF2B5EF4-FFF2-40B4-BE49-F238E27FC236}">
                <a16:creationId xmlns:a16="http://schemas.microsoft.com/office/drawing/2014/main" id="{4761C29F-C2D4-1DFE-E47D-CD8236FF27A1}"/>
              </a:ext>
            </a:extLst>
          </p:cNvPr>
          <p:cNvSpPr/>
          <p:nvPr/>
        </p:nvSpPr>
        <p:spPr>
          <a:xfrm>
            <a:off x="9550400" y="4038600"/>
            <a:ext cx="2032000" cy="1371600"/>
          </a:xfrm>
          <a:prstGeom prst="roundRect">
            <a:avLst>
              <a:gd name="adj" fmla="val 7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8D2C09C-3009-1346-C401-C612810E7606}"/>
              </a:ext>
            </a:extLst>
          </p:cNvPr>
          <p:cNvSpPr/>
          <p:nvPr/>
        </p:nvSpPr>
        <p:spPr>
          <a:xfrm>
            <a:off x="9753600" y="4241800"/>
            <a:ext cx="355600" cy="381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18CF4E87-0CDD-1B07-A4A0-E8A5B1B5B256}"/>
              </a:ext>
            </a:extLst>
          </p:cNvPr>
          <p:cNvSpPr txBox="1"/>
          <p:nvPr/>
        </p:nvSpPr>
        <p:spPr>
          <a:xfrm>
            <a:off x="9753600" y="4394200"/>
            <a:ext cx="1651000" cy="228600"/>
          </a:xfrm>
          <a:prstGeom prst="rect">
            <a:avLst/>
          </a:prstGeom>
          <a:noFill/>
        </p:spPr>
        <p:txBody>
          <a:bodyPr vert="horz" wrap="square" lIns="0" tIns="0" rIns="0" bIns="0" rtlCol="0" anchor="t">
            <a:noAutofit/>
          </a:bodyPr>
          <a:lstStyle/>
          <a:p>
            <a:r>
              <a:rPr lang="en-US" sz="1200" b="1">
                <a:solidFill>
                  <a:srgbClr val="0B1F3A"/>
                </a:solidFill>
                <a:latin typeface="Segoe UI Semibold" panose="020B0702040204020203" pitchFamily="34" charset="0"/>
              </a:rPr>
              <a:t>Customer Focus</a:t>
            </a:r>
          </a:p>
        </p:txBody>
      </p:sp>
      <p:sp>
        <p:nvSpPr>
          <p:cNvPr id="36" name="TextBox 35">
            <a:extLst>
              <a:ext uri="{FF2B5EF4-FFF2-40B4-BE49-F238E27FC236}">
                <a16:creationId xmlns:a16="http://schemas.microsoft.com/office/drawing/2014/main" id="{8EF04EE9-8470-4797-17BC-40C24C50D607}"/>
              </a:ext>
            </a:extLst>
          </p:cNvPr>
          <p:cNvSpPr txBox="1"/>
          <p:nvPr/>
        </p:nvSpPr>
        <p:spPr>
          <a:xfrm>
            <a:off x="9753600" y="4673600"/>
            <a:ext cx="1651000" cy="660400"/>
          </a:xfrm>
          <a:prstGeom prst="rect">
            <a:avLst/>
          </a:prstGeom>
          <a:noFill/>
        </p:spPr>
        <p:txBody>
          <a:bodyPr vert="horz" wrap="square" lIns="0" tIns="0" rIns="0" bIns="0" rtlCol="0" anchor="t">
            <a:noAutofit/>
          </a:bodyPr>
          <a:lstStyle/>
          <a:p>
            <a:pPr>
              <a:lnSpc>
                <a:spcPct val="110000"/>
              </a:lnSpc>
            </a:pPr>
            <a:r>
              <a:rPr lang="en-US" sz="1000">
                <a:solidFill>
                  <a:srgbClr val="5B6B80"/>
                </a:solidFill>
                <a:latin typeface="Segoe UI" panose="020B0502040204020203" pitchFamily="34" charset="0"/>
              </a:rPr>
              <a:t>Every project starts from the real requirement.</a:t>
            </a:r>
          </a:p>
        </p:txBody>
      </p:sp>
      <p:sp>
        <p:nvSpPr>
          <p:cNvPr id="37" name="Rectangle: Rounded Corners 36">
            <a:extLst>
              <a:ext uri="{FF2B5EF4-FFF2-40B4-BE49-F238E27FC236}">
                <a16:creationId xmlns:a16="http://schemas.microsoft.com/office/drawing/2014/main" id="{E62E2533-9806-4935-63AA-2DD10A5D6FFC}"/>
              </a:ext>
            </a:extLst>
          </p:cNvPr>
          <p:cNvSpPr/>
          <p:nvPr/>
        </p:nvSpPr>
        <p:spPr>
          <a:xfrm>
            <a:off x="609600" y="5613400"/>
            <a:ext cx="10972800" cy="508000"/>
          </a:xfrm>
          <a:prstGeom prst="roundRect">
            <a:avLst>
              <a:gd name="adj" fmla="val 50000"/>
            </a:avLst>
          </a:prstGeom>
          <a:solidFill>
            <a:srgbClr val="F3F7FB"/>
          </a:solidFill>
          <a:ln w="9525">
            <a:solidFill>
              <a:srgbClr val="D9E2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49E92D05-CEEF-4E9C-F626-716497B338ED}"/>
              </a:ext>
            </a:extLst>
          </p:cNvPr>
          <p:cNvSpPr txBox="1"/>
          <p:nvPr/>
        </p:nvSpPr>
        <p:spPr>
          <a:xfrm>
            <a:off x="609600" y="5613400"/>
            <a:ext cx="10972800" cy="508000"/>
          </a:xfrm>
          <a:prstGeom prst="rect">
            <a:avLst/>
          </a:prstGeom>
          <a:noFill/>
        </p:spPr>
        <p:txBody>
          <a:bodyPr vert="horz" wrap="square" lIns="0" tIns="0" rIns="0" bIns="0" rtlCol="0" anchor="ctr">
            <a:noAutofit/>
          </a:bodyPr>
          <a:lstStyle/>
          <a:p>
            <a:pPr algn="ctr"/>
            <a:r>
              <a:rPr lang="en-US" sz="1150" b="1">
                <a:solidFill>
                  <a:srgbClr val="1F6F8B"/>
                </a:solidFill>
                <a:latin typeface="Segoe UI" panose="020B0502040204020203" pitchFamily="34" charset="0"/>
              </a:rPr>
              <a:t>+  CONTINUOUS IMPROVEMENT</a:t>
            </a:r>
            <a:r>
              <a:rPr lang="en-US" sz="1150">
                <a:solidFill>
                  <a:srgbClr val="1B2B40"/>
                </a:solidFill>
                <a:latin typeface="Segoe UI" panose="020B0502040204020203" pitchFamily="34" charset="0"/>
              </a:rPr>
              <a:t>  —  modernize &amp; optimize existing systems wherever value exists.</a:t>
            </a:r>
          </a:p>
        </p:txBody>
      </p:sp>
      <p:sp>
        <p:nvSpPr>
          <p:cNvPr id="39" name="Rectangle 38">
            <a:extLst>
              <a:ext uri="{FF2B5EF4-FFF2-40B4-BE49-F238E27FC236}">
                <a16:creationId xmlns:a16="http://schemas.microsoft.com/office/drawing/2014/main" id="{088E6700-7185-2B50-9923-CC35B0067B2E}"/>
              </a:ext>
            </a:extLst>
          </p:cNvPr>
          <p:cNvSpPr/>
          <p:nvPr/>
        </p:nvSpPr>
        <p:spPr>
          <a:xfrm>
            <a:off x="609600" y="6388100"/>
            <a:ext cx="109728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5704815F-E940-8AC2-D3AB-18387E3D9E33}"/>
              </a:ext>
            </a:extLst>
          </p:cNvPr>
          <p:cNvSpPr txBox="1"/>
          <p:nvPr/>
        </p:nvSpPr>
        <p:spPr>
          <a:xfrm>
            <a:off x="609600" y="6489700"/>
            <a:ext cx="6350000" cy="177800"/>
          </a:xfrm>
          <a:prstGeom prst="rect">
            <a:avLst/>
          </a:prstGeom>
          <a:noFill/>
        </p:spPr>
        <p:txBody>
          <a:bodyPr vert="horz" wrap="square" lIns="0" tIns="0" rIns="0" bIns="0" rtlCol="0" anchor="t">
            <a:noAutofit/>
          </a:bodyPr>
          <a:lstStyle/>
          <a:p>
            <a:r>
              <a:rPr lang="en-US" sz="850" spc="100">
                <a:solidFill>
                  <a:srgbClr val="5B6B80"/>
                </a:solidFill>
                <a:latin typeface="Segoe UI" panose="020B0502040204020203" pitchFamily="34" charset="0"/>
              </a:rPr>
              <a:t>MECHWARE  |  TECHNOLOGY FOR SMARTER SYSTEMS</a:t>
            </a:r>
          </a:p>
        </p:txBody>
      </p:sp>
      <p:sp>
        <p:nvSpPr>
          <p:cNvPr id="41" name="TextBox 40">
            <a:extLst>
              <a:ext uri="{FF2B5EF4-FFF2-40B4-BE49-F238E27FC236}">
                <a16:creationId xmlns:a16="http://schemas.microsoft.com/office/drawing/2014/main" id="{219AF11A-94E1-BCAC-5ECE-45C05FDCBF29}"/>
              </a:ext>
            </a:extLst>
          </p:cNvPr>
          <p:cNvSpPr txBox="1"/>
          <p:nvPr/>
        </p:nvSpPr>
        <p:spPr>
          <a:xfrm>
            <a:off x="7772400" y="6489700"/>
            <a:ext cx="3810000" cy="177800"/>
          </a:xfrm>
          <a:prstGeom prst="rect">
            <a:avLst/>
          </a:prstGeom>
          <a:noFill/>
        </p:spPr>
        <p:txBody>
          <a:bodyPr vert="horz" wrap="square" lIns="0" tIns="0" rIns="0" bIns="0" rtlCol="0" anchor="t">
            <a:noAutofit/>
          </a:bodyPr>
          <a:lstStyle/>
          <a:p>
            <a:pPr algn="r"/>
            <a:r>
              <a:rPr lang="en-US" sz="950" b="1">
                <a:solidFill>
                  <a:srgbClr val="0B1F3A"/>
                </a:solidFill>
                <a:latin typeface="Segoe UI Semibold" panose="020B0702040204020203" pitchFamily="34" charset="0"/>
              </a:rPr>
              <a:t>04</a:t>
            </a:r>
          </a:p>
        </p:txBody>
      </p:sp>
    </p:spTree>
    <p:extLst>
      <p:ext uri="{BB962C8B-B14F-4D97-AF65-F5344CB8AC3E}">
        <p14:creationId xmlns:p14="http://schemas.microsoft.com/office/powerpoint/2010/main" val="844470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66303A-1409-0273-991F-E41C0CF59FB4}"/>
              </a:ext>
            </a:extLst>
          </p:cNvPr>
          <p:cNvSpPr/>
          <p:nvPr/>
        </p:nvSpPr>
        <p:spPr>
          <a:xfrm>
            <a:off x="0" y="0"/>
            <a:ext cx="12192000" cy="1016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4DE17A9-DC18-AC12-31F6-C1ED1689A027}"/>
              </a:ext>
            </a:extLst>
          </p:cNvPr>
          <p:cNvSpPr/>
          <p:nvPr/>
        </p:nvSpPr>
        <p:spPr>
          <a:xfrm>
            <a:off x="0" y="0"/>
            <a:ext cx="2794000" cy="101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3084581-B891-8532-3F63-0B6813DAB8A6}"/>
              </a:ext>
            </a:extLst>
          </p:cNvPr>
          <p:cNvSpPr txBox="1"/>
          <p:nvPr/>
        </p:nvSpPr>
        <p:spPr>
          <a:xfrm>
            <a:off x="609600" y="381000"/>
            <a:ext cx="8890000" cy="203200"/>
          </a:xfrm>
          <a:prstGeom prst="rect">
            <a:avLst/>
          </a:prstGeom>
          <a:noFill/>
        </p:spPr>
        <p:txBody>
          <a:bodyPr vert="horz" wrap="square" lIns="0" tIns="0" rIns="0" bIns="0" rtlCol="0" anchor="t">
            <a:noAutofit/>
          </a:bodyPr>
          <a:lstStyle/>
          <a:p>
            <a:r>
              <a:rPr lang="en-US" sz="1050" b="1" spc="250">
                <a:solidFill>
                  <a:srgbClr val="00B4D8"/>
                </a:solidFill>
                <a:latin typeface="Segoe UI Semibold" panose="020B0702040204020203" pitchFamily="34" charset="0"/>
              </a:rPr>
              <a:t>03  —  CAPABILITIES</a:t>
            </a:r>
          </a:p>
        </p:txBody>
      </p:sp>
      <p:sp>
        <p:nvSpPr>
          <p:cNvPr id="5" name="TextBox 4">
            <a:extLst>
              <a:ext uri="{FF2B5EF4-FFF2-40B4-BE49-F238E27FC236}">
                <a16:creationId xmlns:a16="http://schemas.microsoft.com/office/drawing/2014/main" id="{F9776384-434E-8D56-24DB-E7B4EDBEA9DA}"/>
              </a:ext>
            </a:extLst>
          </p:cNvPr>
          <p:cNvSpPr txBox="1"/>
          <p:nvPr/>
        </p:nvSpPr>
        <p:spPr>
          <a:xfrm>
            <a:off x="609600" y="609600"/>
            <a:ext cx="9652000" cy="558800"/>
          </a:xfrm>
          <a:prstGeom prst="rect">
            <a:avLst/>
          </a:prstGeom>
          <a:noFill/>
        </p:spPr>
        <p:txBody>
          <a:bodyPr vert="horz" wrap="square" lIns="0" tIns="0" rIns="0" bIns="0" rtlCol="0" anchor="t">
            <a:noAutofit/>
          </a:bodyPr>
          <a:lstStyle/>
          <a:p>
            <a:r>
              <a:rPr lang="en-US" sz="2800" b="1">
                <a:solidFill>
                  <a:srgbClr val="0B1F3A"/>
                </a:solidFill>
                <a:latin typeface="Segoe UI Semibold" panose="020B0702040204020203" pitchFamily="34" charset="0"/>
              </a:rPr>
              <a:t>Our Core Services</a:t>
            </a:r>
          </a:p>
        </p:txBody>
      </p:sp>
      <p:sp>
        <p:nvSpPr>
          <p:cNvPr id="6" name="Rectangle 5">
            <a:extLst>
              <a:ext uri="{FF2B5EF4-FFF2-40B4-BE49-F238E27FC236}">
                <a16:creationId xmlns:a16="http://schemas.microsoft.com/office/drawing/2014/main" id="{A6CA59FC-D463-8007-A3C5-BCD6CC12AD28}"/>
              </a:ext>
            </a:extLst>
          </p:cNvPr>
          <p:cNvSpPr/>
          <p:nvPr/>
        </p:nvSpPr>
        <p:spPr>
          <a:xfrm>
            <a:off x="609600" y="1244600"/>
            <a:ext cx="711200" cy="50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27850E43-AA6A-A547-E70B-64AA55DCE9E5}"/>
              </a:ext>
            </a:extLst>
          </p:cNvPr>
          <p:cNvPicPr>
            <a:picLocks/>
          </p:cNvPicPr>
          <p:nvPr/>
        </p:nvPicPr>
        <p:blipFill>
          <a:blip>
            <a:extLst>
              <a:ext uri="{96DAC541-7B7A-43D3-8B79-37D633B846F1}">
                <asvg:svgBlip xmlns:asvg="http://schemas.microsoft.com/office/drawing/2016/SVG/main" r:embed="rId2"/>
              </a:ext>
            </a:extLst>
          </a:blip>
          <a:srcRect l="11000" t="19000" r="11000" b="28000"/>
          <a:stretch>
            <a:fillRect/>
          </a:stretch>
        </p:blipFill>
        <p:spPr>
          <a:xfrm>
            <a:off x="10439400" y="381000"/>
            <a:ext cx="1143001" cy="776655"/>
          </a:xfrm>
          <a:prstGeom prst="rect">
            <a:avLst/>
          </a:prstGeom>
        </p:spPr>
      </p:pic>
      <p:sp>
        <p:nvSpPr>
          <p:cNvPr id="9" name="Rectangle: Rounded Corners 8">
            <a:extLst>
              <a:ext uri="{FF2B5EF4-FFF2-40B4-BE49-F238E27FC236}">
                <a16:creationId xmlns:a16="http://schemas.microsoft.com/office/drawing/2014/main" id="{A634BE05-9F4E-EE70-7D4B-2DE0124AEE2B}"/>
              </a:ext>
            </a:extLst>
          </p:cNvPr>
          <p:cNvSpPr/>
          <p:nvPr/>
        </p:nvSpPr>
        <p:spPr>
          <a:xfrm>
            <a:off x="609600" y="1600200"/>
            <a:ext cx="3454400" cy="20828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9A6340D-BC29-9A21-017A-18F36D8EC1E9}"/>
              </a:ext>
            </a:extLst>
          </p:cNvPr>
          <p:cNvSpPr txBox="1"/>
          <p:nvPr/>
        </p:nvSpPr>
        <p:spPr>
          <a:xfrm>
            <a:off x="863600" y="1778000"/>
            <a:ext cx="1016000" cy="508000"/>
          </a:xfrm>
          <a:prstGeom prst="rect">
            <a:avLst/>
          </a:prstGeom>
          <a:noFill/>
        </p:spPr>
        <p:txBody>
          <a:bodyPr vert="horz" wrap="square" lIns="0" tIns="0" rIns="0" bIns="0" rtlCol="0" anchor="t">
            <a:noAutofit/>
          </a:bodyPr>
          <a:lstStyle/>
          <a:p>
            <a:r>
              <a:rPr lang="en-US" sz="2800" b="1">
                <a:solidFill>
                  <a:srgbClr val="00B4D8"/>
                </a:solidFill>
                <a:latin typeface="Segoe UI Semibold" panose="020B0702040204020203" pitchFamily="34" charset="0"/>
              </a:rPr>
              <a:t>01</a:t>
            </a:r>
          </a:p>
        </p:txBody>
      </p:sp>
      <p:sp>
        <p:nvSpPr>
          <p:cNvPr id="11" name="Rectangle 10">
            <a:extLst>
              <a:ext uri="{FF2B5EF4-FFF2-40B4-BE49-F238E27FC236}">
                <a16:creationId xmlns:a16="http://schemas.microsoft.com/office/drawing/2014/main" id="{8A1BE8D4-62A1-A431-A853-7492AAD0C6A5}"/>
              </a:ext>
            </a:extLst>
          </p:cNvPr>
          <p:cNvSpPr/>
          <p:nvPr/>
        </p:nvSpPr>
        <p:spPr>
          <a:xfrm>
            <a:off x="863600" y="2336800"/>
            <a:ext cx="355600" cy="381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18808C3-90D2-6788-0DE4-43A549CE43D8}"/>
              </a:ext>
            </a:extLst>
          </p:cNvPr>
          <p:cNvSpPr txBox="1"/>
          <p:nvPr/>
        </p:nvSpPr>
        <p:spPr>
          <a:xfrm>
            <a:off x="863600" y="2463800"/>
            <a:ext cx="2971800" cy="4572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Industrial Automation &amp; Control</a:t>
            </a:r>
          </a:p>
        </p:txBody>
      </p:sp>
      <p:sp>
        <p:nvSpPr>
          <p:cNvPr id="13" name="TextBox 12">
            <a:extLst>
              <a:ext uri="{FF2B5EF4-FFF2-40B4-BE49-F238E27FC236}">
                <a16:creationId xmlns:a16="http://schemas.microsoft.com/office/drawing/2014/main" id="{02B93177-4A25-3393-3329-163B66B6EEB3}"/>
              </a:ext>
            </a:extLst>
          </p:cNvPr>
          <p:cNvSpPr txBox="1"/>
          <p:nvPr/>
        </p:nvSpPr>
        <p:spPr>
          <a:xfrm>
            <a:off x="863600" y="2946400"/>
            <a:ext cx="2971800" cy="660400"/>
          </a:xfrm>
          <a:prstGeom prst="rect">
            <a:avLst/>
          </a:prstGeom>
          <a:noFill/>
        </p:spPr>
        <p:txBody>
          <a:bodyPr vert="horz" wrap="square" lIns="0" tIns="0" rIns="0" bIns="0" rtlCol="0" anchor="t">
            <a:noAutofit/>
          </a:bodyPr>
          <a:lstStyle/>
          <a:p>
            <a:pPr>
              <a:lnSpc>
                <a:spcPct val="110000"/>
              </a:lnSpc>
            </a:pPr>
            <a:r>
              <a:rPr lang="en-US" sz="1050">
                <a:solidFill>
                  <a:srgbClr val="5B6B80"/>
                </a:solidFill>
                <a:latin typeface="Segoe UI" panose="020B0502040204020203" pitchFamily="34" charset="0"/>
              </a:rPr>
              <a:t>PLC, HMI, drives, machine control, sequencing, electrical control &amp; system integration.</a:t>
            </a:r>
          </a:p>
        </p:txBody>
      </p:sp>
      <p:sp>
        <p:nvSpPr>
          <p:cNvPr id="14" name="Rectangle: Rounded Corners 13">
            <a:extLst>
              <a:ext uri="{FF2B5EF4-FFF2-40B4-BE49-F238E27FC236}">
                <a16:creationId xmlns:a16="http://schemas.microsoft.com/office/drawing/2014/main" id="{B2D7BDE2-422C-ED3D-43CE-083B531BA601}"/>
              </a:ext>
            </a:extLst>
          </p:cNvPr>
          <p:cNvSpPr/>
          <p:nvPr/>
        </p:nvSpPr>
        <p:spPr>
          <a:xfrm>
            <a:off x="4368800" y="1600200"/>
            <a:ext cx="3454400" cy="20828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F1FBFF7-A06B-3C44-0604-CE72651AD1CA}"/>
              </a:ext>
            </a:extLst>
          </p:cNvPr>
          <p:cNvSpPr txBox="1"/>
          <p:nvPr/>
        </p:nvSpPr>
        <p:spPr>
          <a:xfrm>
            <a:off x="4622800" y="1778000"/>
            <a:ext cx="1016000" cy="508000"/>
          </a:xfrm>
          <a:prstGeom prst="rect">
            <a:avLst/>
          </a:prstGeom>
          <a:noFill/>
        </p:spPr>
        <p:txBody>
          <a:bodyPr vert="horz" wrap="square" lIns="0" tIns="0" rIns="0" bIns="0" rtlCol="0" anchor="t">
            <a:noAutofit/>
          </a:bodyPr>
          <a:lstStyle/>
          <a:p>
            <a:r>
              <a:rPr lang="en-US" sz="2800" b="1">
                <a:solidFill>
                  <a:srgbClr val="00B4D8"/>
                </a:solidFill>
                <a:latin typeface="Segoe UI Semibold" panose="020B0702040204020203" pitchFamily="34" charset="0"/>
              </a:rPr>
              <a:t>02</a:t>
            </a:r>
          </a:p>
        </p:txBody>
      </p:sp>
      <p:sp>
        <p:nvSpPr>
          <p:cNvPr id="16" name="Rectangle 15">
            <a:extLst>
              <a:ext uri="{FF2B5EF4-FFF2-40B4-BE49-F238E27FC236}">
                <a16:creationId xmlns:a16="http://schemas.microsoft.com/office/drawing/2014/main" id="{08C6C5F8-E07B-3383-5CFD-85B6B7AC570D}"/>
              </a:ext>
            </a:extLst>
          </p:cNvPr>
          <p:cNvSpPr/>
          <p:nvPr/>
        </p:nvSpPr>
        <p:spPr>
          <a:xfrm>
            <a:off x="4622800" y="2336800"/>
            <a:ext cx="355600" cy="381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A4714275-BF6F-779E-F6BC-B33A71CBB1C0}"/>
              </a:ext>
            </a:extLst>
          </p:cNvPr>
          <p:cNvSpPr txBox="1"/>
          <p:nvPr/>
        </p:nvSpPr>
        <p:spPr>
          <a:xfrm>
            <a:off x="4622800" y="2463800"/>
            <a:ext cx="2971800" cy="4572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Instrumentation &amp; Process Control</a:t>
            </a:r>
          </a:p>
        </p:txBody>
      </p:sp>
      <p:sp>
        <p:nvSpPr>
          <p:cNvPr id="18" name="TextBox 17">
            <a:extLst>
              <a:ext uri="{FF2B5EF4-FFF2-40B4-BE49-F238E27FC236}">
                <a16:creationId xmlns:a16="http://schemas.microsoft.com/office/drawing/2014/main" id="{39514AF5-65BA-8C2B-ECC5-7629FC5D6B35}"/>
              </a:ext>
            </a:extLst>
          </p:cNvPr>
          <p:cNvSpPr txBox="1"/>
          <p:nvPr/>
        </p:nvSpPr>
        <p:spPr>
          <a:xfrm>
            <a:off x="4622800" y="2946400"/>
            <a:ext cx="2971800" cy="660400"/>
          </a:xfrm>
          <a:prstGeom prst="rect">
            <a:avLst/>
          </a:prstGeom>
          <a:noFill/>
        </p:spPr>
        <p:txBody>
          <a:bodyPr vert="horz" wrap="square" lIns="0" tIns="0" rIns="0" bIns="0" rtlCol="0" anchor="t">
            <a:noAutofit/>
          </a:bodyPr>
          <a:lstStyle/>
          <a:p>
            <a:pPr>
              <a:lnSpc>
                <a:spcPct val="110000"/>
              </a:lnSpc>
            </a:pPr>
            <a:r>
              <a:rPr lang="en-US" sz="1050">
                <a:solidFill>
                  <a:srgbClr val="5B6B80"/>
                </a:solidFill>
                <a:latin typeface="Segoe UI" panose="020B0502040204020203" pitchFamily="34" charset="0"/>
              </a:rPr>
              <a:t>Sensors, measurement, control loops, process instrumentation &amp; field integration.</a:t>
            </a:r>
          </a:p>
        </p:txBody>
      </p:sp>
      <p:sp>
        <p:nvSpPr>
          <p:cNvPr id="19" name="Rectangle: Rounded Corners 18">
            <a:extLst>
              <a:ext uri="{FF2B5EF4-FFF2-40B4-BE49-F238E27FC236}">
                <a16:creationId xmlns:a16="http://schemas.microsoft.com/office/drawing/2014/main" id="{D4B25650-1DC0-729D-01F8-0ACA60E6BBB6}"/>
              </a:ext>
            </a:extLst>
          </p:cNvPr>
          <p:cNvSpPr/>
          <p:nvPr/>
        </p:nvSpPr>
        <p:spPr>
          <a:xfrm>
            <a:off x="8128000" y="1600200"/>
            <a:ext cx="3454400" cy="20828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93BC795-A305-D3F4-E768-0D9A6B3F643B}"/>
              </a:ext>
            </a:extLst>
          </p:cNvPr>
          <p:cNvSpPr txBox="1"/>
          <p:nvPr/>
        </p:nvSpPr>
        <p:spPr>
          <a:xfrm>
            <a:off x="8382000" y="1778000"/>
            <a:ext cx="1016000" cy="508000"/>
          </a:xfrm>
          <a:prstGeom prst="rect">
            <a:avLst/>
          </a:prstGeom>
          <a:noFill/>
        </p:spPr>
        <p:txBody>
          <a:bodyPr vert="horz" wrap="square" lIns="0" tIns="0" rIns="0" bIns="0" rtlCol="0" anchor="t">
            <a:noAutofit/>
          </a:bodyPr>
          <a:lstStyle/>
          <a:p>
            <a:r>
              <a:rPr lang="en-US" sz="2800" b="1">
                <a:solidFill>
                  <a:srgbClr val="00B4D8"/>
                </a:solidFill>
                <a:latin typeface="Segoe UI Semibold" panose="020B0702040204020203" pitchFamily="34" charset="0"/>
              </a:rPr>
              <a:t>03</a:t>
            </a:r>
          </a:p>
        </p:txBody>
      </p:sp>
      <p:sp>
        <p:nvSpPr>
          <p:cNvPr id="21" name="Rectangle 20">
            <a:extLst>
              <a:ext uri="{FF2B5EF4-FFF2-40B4-BE49-F238E27FC236}">
                <a16:creationId xmlns:a16="http://schemas.microsoft.com/office/drawing/2014/main" id="{568B2799-B38A-30DD-CB1A-16128ECD6A42}"/>
              </a:ext>
            </a:extLst>
          </p:cNvPr>
          <p:cNvSpPr/>
          <p:nvPr/>
        </p:nvSpPr>
        <p:spPr>
          <a:xfrm>
            <a:off x="8382000" y="2336800"/>
            <a:ext cx="355600" cy="381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A00C0DE7-439F-2261-1FF4-784E42F04791}"/>
              </a:ext>
            </a:extLst>
          </p:cNvPr>
          <p:cNvSpPr txBox="1"/>
          <p:nvPr/>
        </p:nvSpPr>
        <p:spPr>
          <a:xfrm>
            <a:off x="8382000" y="2463800"/>
            <a:ext cx="2971800" cy="4572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Industrial Cooling &amp; HVAC</a:t>
            </a:r>
          </a:p>
        </p:txBody>
      </p:sp>
      <p:sp>
        <p:nvSpPr>
          <p:cNvPr id="23" name="TextBox 22">
            <a:extLst>
              <a:ext uri="{FF2B5EF4-FFF2-40B4-BE49-F238E27FC236}">
                <a16:creationId xmlns:a16="http://schemas.microsoft.com/office/drawing/2014/main" id="{4C371D3B-2503-41E0-2DF5-D2EDCF04B45E}"/>
              </a:ext>
            </a:extLst>
          </p:cNvPr>
          <p:cNvSpPr txBox="1"/>
          <p:nvPr/>
        </p:nvSpPr>
        <p:spPr>
          <a:xfrm>
            <a:off x="8382000" y="2946400"/>
            <a:ext cx="2971800" cy="660400"/>
          </a:xfrm>
          <a:prstGeom prst="rect">
            <a:avLst/>
          </a:prstGeom>
          <a:noFill/>
        </p:spPr>
        <p:txBody>
          <a:bodyPr vert="horz" wrap="square" lIns="0" tIns="0" rIns="0" bIns="0" rtlCol="0" anchor="t">
            <a:noAutofit/>
          </a:bodyPr>
          <a:lstStyle/>
          <a:p>
            <a:pPr>
              <a:lnSpc>
                <a:spcPct val="110000"/>
              </a:lnSpc>
            </a:pPr>
            <a:r>
              <a:rPr lang="en-US" sz="1050">
                <a:solidFill>
                  <a:srgbClr val="5B6B80"/>
                </a:solidFill>
                <a:latin typeface="Segoe UI" panose="020B0502040204020203" pitchFamily="34" charset="0"/>
              </a:rPr>
              <a:t>Industrial cooling, HVAC automation, temperature monitoring &amp; control.</a:t>
            </a:r>
          </a:p>
        </p:txBody>
      </p:sp>
      <p:sp>
        <p:nvSpPr>
          <p:cNvPr id="24" name="Rectangle: Rounded Corners 23">
            <a:extLst>
              <a:ext uri="{FF2B5EF4-FFF2-40B4-BE49-F238E27FC236}">
                <a16:creationId xmlns:a16="http://schemas.microsoft.com/office/drawing/2014/main" id="{13D39A41-EDB1-85A2-7166-50713AAB0A4E}"/>
              </a:ext>
            </a:extLst>
          </p:cNvPr>
          <p:cNvSpPr/>
          <p:nvPr/>
        </p:nvSpPr>
        <p:spPr>
          <a:xfrm>
            <a:off x="609600" y="3911600"/>
            <a:ext cx="3454400" cy="20828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87530D0-8B59-74AD-E773-6183458CF7B4}"/>
              </a:ext>
            </a:extLst>
          </p:cNvPr>
          <p:cNvSpPr txBox="1"/>
          <p:nvPr/>
        </p:nvSpPr>
        <p:spPr>
          <a:xfrm>
            <a:off x="863600" y="4089400"/>
            <a:ext cx="1016000" cy="508000"/>
          </a:xfrm>
          <a:prstGeom prst="rect">
            <a:avLst/>
          </a:prstGeom>
          <a:noFill/>
        </p:spPr>
        <p:txBody>
          <a:bodyPr vert="horz" wrap="square" lIns="0" tIns="0" rIns="0" bIns="0" rtlCol="0" anchor="t">
            <a:noAutofit/>
          </a:bodyPr>
          <a:lstStyle/>
          <a:p>
            <a:r>
              <a:rPr lang="en-US" sz="2800" b="1">
                <a:solidFill>
                  <a:srgbClr val="00B4D8"/>
                </a:solidFill>
                <a:latin typeface="Segoe UI Semibold" panose="020B0702040204020203" pitchFamily="34" charset="0"/>
              </a:rPr>
              <a:t>04</a:t>
            </a:r>
          </a:p>
        </p:txBody>
      </p:sp>
      <p:sp>
        <p:nvSpPr>
          <p:cNvPr id="26" name="Rectangle 25">
            <a:extLst>
              <a:ext uri="{FF2B5EF4-FFF2-40B4-BE49-F238E27FC236}">
                <a16:creationId xmlns:a16="http://schemas.microsoft.com/office/drawing/2014/main" id="{C61C6610-7BBB-4DFC-5896-1E410F599DEA}"/>
              </a:ext>
            </a:extLst>
          </p:cNvPr>
          <p:cNvSpPr/>
          <p:nvPr/>
        </p:nvSpPr>
        <p:spPr>
          <a:xfrm>
            <a:off x="863600" y="4648200"/>
            <a:ext cx="355600" cy="381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1C309954-1393-BF43-298C-0D93F7F1119D}"/>
              </a:ext>
            </a:extLst>
          </p:cNvPr>
          <p:cNvSpPr txBox="1"/>
          <p:nvPr/>
        </p:nvSpPr>
        <p:spPr>
          <a:xfrm>
            <a:off x="863600" y="4775200"/>
            <a:ext cx="2971800" cy="4572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SCADA &amp; IIoT Integration</a:t>
            </a:r>
          </a:p>
        </p:txBody>
      </p:sp>
      <p:sp>
        <p:nvSpPr>
          <p:cNvPr id="28" name="TextBox 27">
            <a:extLst>
              <a:ext uri="{FF2B5EF4-FFF2-40B4-BE49-F238E27FC236}">
                <a16:creationId xmlns:a16="http://schemas.microsoft.com/office/drawing/2014/main" id="{2F2B509E-B242-753B-59C6-D41879A7152D}"/>
              </a:ext>
            </a:extLst>
          </p:cNvPr>
          <p:cNvSpPr txBox="1"/>
          <p:nvPr/>
        </p:nvSpPr>
        <p:spPr>
          <a:xfrm>
            <a:off x="863600" y="5257800"/>
            <a:ext cx="2971800" cy="660400"/>
          </a:xfrm>
          <a:prstGeom prst="rect">
            <a:avLst/>
          </a:prstGeom>
          <a:noFill/>
        </p:spPr>
        <p:txBody>
          <a:bodyPr vert="horz" wrap="square" lIns="0" tIns="0" rIns="0" bIns="0" rtlCol="0" anchor="t">
            <a:noAutofit/>
          </a:bodyPr>
          <a:lstStyle/>
          <a:p>
            <a:pPr>
              <a:lnSpc>
                <a:spcPct val="110000"/>
              </a:lnSpc>
            </a:pPr>
            <a:r>
              <a:rPr lang="en-US" sz="1050">
                <a:solidFill>
                  <a:srgbClr val="5B6B80"/>
                </a:solidFill>
                <a:latin typeface="Segoe UI" panose="020B0502040204020203" pitchFamily="34" charset="0"/>
              </a:rPr>
              <a:t>SCADA implementation, data acquisition, visualization &amp; Industry 4.0 connectivity.</a:t>
            </a:r>
          </a:p>
        </p:txBody>
      </p:sp>
      <p:sp>
        <p:nvSpPr>
          <p:cNvPr id="29" name="Rectangle: Rounded Corners 28">
            <a:extLst>
              <a:ext uri="{FF2B5EF4-FFF2-40B4-BE49-F238E27FC236}">
                <a16:creationId xmlns:a16="http://schemas.microsoft.com/office/drawing/2014/main" id="{A938FE30-9CE1-1882-BE00-530B2BFCEACE}"/>
              </a:ext>
            </a:extLst>
          </p:cNvPr>
          <p:cNvSpPr/>
          <p:nvPr/>
        </p:nvSpPr>
        <p:spPr>
          <a:xfrm>
            <a:off x="4368800" y="3911600"/>
            <a:ext cx="3454400" cy="20828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11526022-4996-7B77-3905-3000A3EB9B53}"/>
              </a:ext>
            </a:extLst>
          </p:cNvPr>
          <p:cNvSpPr txBox="1"/>
          <p:nvPr/>
        </p:nvSpPr>
        <p:spPr>
          <a:xfrm>
            <a:off x="4622800" y="4089400"/>
            <a:ext cx="1016000" cy="508000"/>
          </a:xfrm>
          <a:prstGeom prst="rect">
            <a:avLst/>
          </a:prstGeom>
          <a:noFill/>
        </p:spPr>
        <p:txBody>
          <a:bodyPr vert="horz" wrap="square" lIns="0" tIns="0" rIns="0" bIns="0" rtlCol="0" anchor="t">
            <a:noAutofit/>
          </a:bodyPr>
          <a:lstStyle/>
          <a:p>
            <a:r>
              <a:rPr lang="en-US" sz="2800" b="1">
                <a:solidFill>
                  <a:srgbClr val="00B4D8"/>
                </a:solidFill>
                <a:latin typeface="Segoe UI Semibold" panose="020B0702040204020203" pitchFamily="34" charset="0"/>
              </a:rPr>
              <a:t>05</a:t>
            </a:r>
          </a:p>
        </p:txBody>
      </p:sp>
      <p:sp>
        <p:nvSpPr>
          <p:cNvPr id="31" name="Rectangle 30">
            <a:extLst>
              <a:ext uri="{FF2B5EF4-FFF2-40B4-BE49-F238E27FC236}">
                <a16:creationId xmlns:a16="http://schemas.microsoft.com/office/drawing/2014/main" id="{5952C89D-3802-8F6C-036D-DD36DEA5E7EF}"/>
              </a:ext>
            </a:extLst>
          </p:cNvPr>
          <p:cNvSpPr/>
          <p:nvPr/>
        </p:nvSpPr>
        <p:spPr>
          <a:xfrm>
            <a:off x="4622800" y="4648200"/>
            <a:ext cx="355600" cy="381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427A0B18-00FC-C6C0-40C1-FF0FF1C03CDB}"/>
              </a:ext>
            </a:extLst>
          </p:cNvPr>
          <p:cNvSpPr txBox="1"/>
          <p:nvPr/>
        </p:nvSpPr>
        <p:spPr>
          <a:xfrm>
            <a:off x="4622800" y="4775200"/>
            <a:ext cx="2971800" cy="4572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Custom Machines &amp; Retrofitting</a:t>
            </a:r>
          </a:p>
        </p:txBody>
      </p:sp>
      <p:sp>
        <p:nvSpPr>
          <p:cNvPr id="33" name="TextBox 32">
            <a:extLst>
              <a:ext uri="{FF2B5EF4-FFF2-40B4-BE49-F238E27FC236}">
                <a16:creationId xmlns:a16="http://schemas.microsoft.com/office/drawing/2014/main" id="{C7C00188-7B3E-F4FC-5ADF-9221E8DA0E59}"/>
              </a:ext>
            </a:extLst>
          </p:cNvPr>
          <p:cNvSpPr txBox="1"/>
          <p:nvPr/>
        </p:nvSpPr>
        <p:spPr>
          <a:xfrm>
            <a:off x="4622800" y="5257800"/>
            <a:ext cx="2971800" cy="660400"/>
          </a:xfrm>
          <a:prstGeom prst="rect">
            <a:avLst/>
          </a:prstGeom>
          <a:noFill/>
        </p:spPr>
        <p:txBody>
          <a:bodyPr vert="horz" wrap="square" lIns="0" tIns="0" rIns="0" bIns="0" rtlCol="0" anchor="t">
            <a:noAutofit/>
          </a:bodyPr>
          <a:lstStyle/>
          <a:p>
            <a:pPr>
              <a:lnSpc>
                <a:spcPct val="110000"/>
              </a:lnSpc>
            </a:pPr>
            <a:r>
              <a:rPr lang="en-US" sz="1050">
                <a:solidFill>
                  <a:srgbClr val="5B6B80"/>
                </a:solidFill>
                <a:latin typeface="Segoe UI" panose="020B0502040204020203" pitchFamily="34" charset="0"/>
              </a:rPr>
              <a:t>Custom machine automation, control upgrades &amp; PLC/HMI modernization.</a:t>
            </a:r>
          </a:p>
        </p:txBody>
      </p:sp>
      <p:sp>
        <p:nvSpPr>
          <p:cNvPr id="34" name="Rectangle: Rounded Corners 33">
            <a:extLst>
              <a:ext uri="{FF2B5EF4-FFF2-40B4-BE49-F238E27FC236}">
                <a16:creationId xmlns:a16="http://schemas.microsoft.com/office/drawing/2014/main" id="{E04AFF84-C9BB-3F31-5775-9CC087B043EE}"/>
              </a:ext>
            </a:extLst>
          </p:cNvPr>
          <p:cNvSpPr/>
          <p:nvPr/>
        </p:nvSpPr>
        <p:spPr>
          <a:xfrm>
            <a:off x="8128000" y="3911600"/>
            <a:ext cx="3454400" cy="20828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6E880470-0F30-8A08-8AD1-6D5B77BA9DB9}"/>
              </a:ext>
            </a:extLst>
          </p:cNvPr>
          <p:cNvSpPr txBox="1"/>
          <p:nvPr/>
        </p:nvSpPr>
        <p:spPr>
          <a:xfrm>
            <a:off x="8382000" y="4089400"/>
            <a:ext cx="1016000" cy="508000"/>
          </a:xfrm>
          <a:prstGeom prst="rect">
            <a:avLst/>
          </a:prstGeom>
          <a:noFill/>
        </p:spPr>
        <p:txBody>
          <a:bodyPr vert="horz" wrap="square" lIns="0" tIns="0" rIns="0" bIns="0" rtlCol="0" anchor="t">
            <a:noAutofit/>
          </a:bodyPr>
          <a:lstStyle/>
          <a:p>
            <a:r>
              <a:rPr lang="en-US" sz="2800" b="1">
                <a:solidFill>
                  <a:srgbClr val="00B4D8"/>
                </a:solidFill>
                <a:latin typeface="Segoe UI Semibold" panose="020B0702040204020203" pitchFamily="34" charset="0"/>
              </a:rPr>
              <a:t>06</a:t>
            </a:r>
          </a:p>
        </p:txBody>
      </p:sp>
      <p:sp>
        <p:nvSpPr>
          <p:cNvPr id="36" name="Rectangle 35">
            <a:extLst>
              <a:ext uri="{FF2B5EF4-FFF2-40B4-BE49-F238E27FC236}">
                <a16:creationId xmlns:a16="http://schemas.microsoft.com/office/drawing/2014/main" id="{25689918-FA08-41ED-D7C4-520A8B8436B1}"/>
              </a:ext>
            </a:extLst>
          </p:cNvPr>
          <p:cNvSpPr/>
          <p:nvPr/>
        </p:nvSpPr>
        <p:spPr>
          <a:xfrm>
            <a:off x="8382000" y="4648200"/>
            <a:ext cx="355600" cy="381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327A6FEC-BB08-BCE0-C074-931EF9F9AED4}"/>
              </a:ext>
            </a:extLst>
          </p:cNvPr>
          <p:cNvSpPr txBox="1"/>
          <p:nvPr/>
        </p:nvSpPr>
        <p:spPr>
          <a:xfrm>
            <a:off x="8382000" y="4775200"/>
            <a:ext cx="2971800" cy="4572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Smart Manufacturing</a:t>
            </a:r>
          </a:p>
        </p:txBody>
      </p:sp>
      <p:sp>
        <p:nvSpPr>
          <p:cNvPr id="38" name="TextBox 37">
            <a:extLst>
              <a:ext uri="{FF2B5EF4-FFF2-40B4-BE49-F238E27FC236}">
                <a16:creationId xmlns:a16="http://schemas.microsoft.com/office/drawing/2014/main" id="{9884F0C0-C343-CD5E-0C33-2ADCCEEA02D6}"/>
              </a:ext>
            </a:extLst>
          </p:cNvPr>
          <p:cNvSpPr txBox="1"/>
          <p:nvPr/>
        </p:nvSpPr>
        <p:spPr>
          <a:xfrm>
            <a:off x="8382000" y="5257800"/>
            <a:ext cx="2971800" cy="660400"/>
          </a:xfrm>
          <a:prstGeom prst="rect">
            <a:avLst/>
          </a:prstGeom>
          <a:noFill/>
        </p:spPr>
        <p:txBody>
          <a:bodyPr vert="horz" wrap="square" lIns="0" tIns="0" rIns="0" bIns="0" rtlCol="0" anchor="t">
            <a:noAutofit/>
          </a:bodyPr>
          <a:lstStyle/>
          <a:p>
            <a:pPr>
              <a:lnSpc>
                <a:spcPct val="110000"/>
              </a:lnSpc>
            </a:pPr>
            <a:r>
              <a:rPr lang="en-US" sz="1050">
                <a:solidFill>
                  <a:srgbClr val="5B6B80"/>
                </a:solidFill>
                <a:latin typeface="Segoe UI" panose="020B0502040204020203" pitchFamily="34" charset="0"/>
              </a:rPr>
              <a:t>Connected machines, intelligent sensing &amp; production data to support Industry 4.0 readiness.</a:t>
            </a:r>
          </a:p>
        </p:txBody>
      </p:sp>
      <p:sp>
        <p:nvSpPr>
          <p:cNvPr id="39" name="Rectangle 38">
            <a:extLst>
              <a:ext uri="{FF2B5EF4-FFF2-40B4-BE49-F238E27FC236}">
                <a16:creationId xmlns:a16="http://schemas.microsoft.com/office/drawing/2014/main" id="{5AD28564-F6C6-F181-03BE-335DE9F386F5}"/>
              </a:ext>
            </a:extLst>
          </p:cNvPr>
          <p:cNvSpPr/>
          <p:nvPr/>
        </p:nvSpPr>
        <p:spPr>
          <a:xfrm>
            <a:off x="609600" y="6388100"/>
            <a:ext cx="109728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72165710-EE01-C902-5A0F-B9F354DB0251}"/>
              </a:ext>
            </a:extLst>
          </p:cNvPr>
          <p:cNvSpPr txBox="1"/>
          <p:nvPr/>
        </p:nvSpPr>
        <p:spPr>
          <a:xfrm>
            <a:off x="609600" y="6489700"/>
            <a:ext cx="6350000" cy="177800"/>
          </a:xfrm>
          <a:prstGeom prst="rect">
            <a:avLst/>
          </a:prstGeom>
          <a:noFill/>
        </p:spPr>
        <p:txBody>
          <a:bodyPr vert="horz" wrap="square" lIns="0" tIns="0" rIns="0" bIns="0" rtlCol="0" anchor="t">
            <a:noAutofit/>
          </a:bodyPr>
          <a:lstStyle/>
          <a:p>
            <a:r>
              <a:rPr lang="en-US" sz="850" spc="100">
                <a:solidFill>
                  <a:srgbClr val="5B6B80"/>
                </a:solidFill>
                <a:latin typeface="Segoe UI" panose="020B0502040204020203" pitchFamily="34" charset="0"/>
              </a:rPr>
              <a:t>MECHWARE  |  TECHNOLOGY FOR SMARTER SYSTEMS</a:t>
            </a:r>
          </a:p>
        </p:txBody>
      </p:sp>
      <p:sp>
        <p:nvSpPr>
          <p:cNvPr id="41" name="TextBox 40">
            <a:extLst>
              <a:ext uri="{FF2B5EF4-FFF2-40B4-BE49-F238E27FC236}">
                <a16:creationId xmlns:a16="http://schemas.microsoft.com/office/drawing/2014/main" id="{C18FC330-C6B2-4769-6FBF-0C5B78F20E43}"/>
              </a:ext>
            </a:extLst>
          </p:cNvPr>
          <p:cNvSpPr txBox="1"/>
          <p:nvPr/>
        </p:nvSpPr>
        <p:spPr>
          <a:xfrm>
            <a:off x="7772400" y="6489700"/>
            <a:ext cx="3810000" cy="177800"/>
          </a:xfrm>
          <a:prstGeom prst="rect">
            <a:avLst/>
          </a:prstGeom>
          <a:noFill/>
        </p:spPr>
        <p:txBody>
          <a:bodyPr vert="horz" wrap="square" lIns="0" tIns="0" rIns="0" bIns="0" rtlCol="0" anchor="t">
            <a:noAutofit/>
          </a:bodyPr>
          <a:lstStyle/>
          <a:p>
            <a:pPr algn="r"/>
            <a:r>
              <a:rPr lang="en-US" sz="950" b="1">
                <a:solidFill>
                  <a:srgbClr val="0B1F3A"/>
                </a:solidFill>
                <a:latin typeface="Segoe UI Semibold" panose="020B0702040204020203" pitchFamily="34" charset="0"/>
              </a:rPr>
              <a:t>05</a:t>
            </a:r>
          </a:p>
        </p:txBody>
      </p:sp>
    </p:spTree>
    <p:extLst>
      <p:ext uri="{BB962C8B-B14F-4D97-AF65-F5344CB8AC3E}">
        <p14:creationId xmlns:p14="http://schemas.microsoft.com/office/powerpoint/2010/main" val="2885725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A67053-28C7-A2F8-48FF-F6A4722B098D}"/>
              </a:ext>
            </a:extLst>
          </p:cNvPr>
          <p:cNvSpPr/>
          <p:nvPr/>
        </p:nvSpPr>
        <p:spPr>
          <a:xfrm>
            <a:off x="0" y="0"/>
            <a:ext cx="12192000" cy="1016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89F6C4B-BB0A-F97B-55D7-0549180C7BFC}"/>
              </a:ext>
            </a:extLst>
          </p:cNvPr>
          <p:cNvSpPr/>
          <p:nvPr/>
        </p:nvSpPr>
        <p:spPr>
          <a:xfrm>
            <a:off x="0" y="0"/>
            <a:ext cx="2794000" cy="101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A11547A-6AA5-D12F-4F7E-F885D2E370BB}"/>
              </a:ext>
            </a:extLst>
          </p:cNvPr>
          <p:cNvSpPr txBox="1"/>
          <p:nvPr/>
        </p:nvSpPr>
        <p:spPr>
          <a:xfrm>
            <a:off x="609600" y="381000"/>
            <a:ext cx="8890000" cy="203200"/>
          </a:xfrm>
          <a:prstGeom prst="rect">
            <a:avLst/>
          </a:prstGeom>
          <a:noFill/>
        </p:spPr>
        <p:txBody>
          <a:bodyPr vert="horz" wrap="square" lIns="0" tIns="0" rIns="0" bIns="0" rtlCol="0" anchor="t">
            <a:noAutofit/>
          </a:bodyPr>
          <a:lstStyle/>
          <a:p>
            <a:r>
              <a:rPr lang="en-US" sz="1050" b="1" spc="250">
                <a:solidFill>
                  <a:srgbClr val="00B4D8"/>
                </a:solidFill>
                <a:latin typeface="Segoe UI Semibold" panose="020B0702040204020203" pitchFamily="34" charset="0"/>
              </a:rPr>
              <a:t>04  —  TECHNOLOGY</a:t>
            </a:r>
          </a:p>
        </p:txBody>
      </p:sp>
      <p:sp>
        <p:nvSpPr>
          <p:cNvPr id="5" name="TextBox 4">
            <a:extLst>
              <a:ext uri="{FF2B5EF4-FFF2-40B4-BE49-F238E27FC236}">
                <a16:creationId xmlns:a16="http://schemas.microsoft.com/office/drawing/2014/main" id="{D6B4A257-6DEE-7C83-4D22-C7CC0E59A314}"/>
              </a:ext>
            </a:extLst>
          </p:cNvPr>
          <p:cNvSpPr txBox="1"/>
          <p:nvPr/>
        </p:nvSpPr>
        <p:spPr>
          <a:xfrm>
            <a:off x="609600" y="609600"/>
            <a:ext cx="9652000" cy="558800"/>
          </a:xfrm>
          <a:prstGeom prst="rect">
            <a:avLst/>
          </a:prstGeom>
          <a:noFill/>
        </p:spPr>
        <p:txBody>
          <a:bodyPr vert="horz" wrap="square" lIns="0" tIns="0" rIns="0" bIns="0" rtlCol="0" anchor="t">
            <a:noAutofit/>
          </a:bodyPr>
          <a:lstStyle/>
          <a:p>
            <a:r>
              <a:rPr lang="en-US" sz="2800" b="1">
                <a:solidFill>
                  <a:srgbClr val="0B1F3A"/>
                </a:solidFill>
                <a:latin typeface="Segoe UI Semibold" panose="020B0702040204020203" pitchFamily="34" charset="0"/>
              </a:rPr>
              <a:t>Technology &amp; Product Ecosystem</a:t>
            </a:r>
          </a:p>
        </p:txBody>
      </p:sp>
      <p:sp>
        <p:nvSpPr>
          <p:cNvPr id="6" name="Rectangle 5">
            <a:extLst>
              <a:ext uri="{FF2B5EF4-FFF2-40B4-BE49-F238E27FC236}">
                <a16:creationId xmlns:a16="http://schemas.microsoft.com/office/drawing/2014/main" id="{3578DEB1-FFFF-C10D-B330-9A8FB2227DDE}"/>
              </a:ext>
            </a:extLst>
          </p:cNvPr>
          <p:cNvSpPr/>
          <p:nvPr/>
        </p:nvSpPr>
        <p:spPr>
          <a:xfrm>
            <a:off x="609600" y="1244600"/>
            <a:ext cx="711200" cy="50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59E0A917-03F3-60AB-582F-D73685F6F4F5}"/>
              </a:ext>
            </a:extLst>
          </p:cNvPr>
          <p:cNvPicPr>
            <a:picLocks/>
          </p:cNvPicPr>
          <p:nvPr/>
        </p:nvPicPr>
        <p:blipFill>
          <a:blip>
            <a:extLst>
              <a:ext uri="{96DAC541-7B7A-43D3-8B79-37D633B846F1}">
                <asvg:svgBlip xmlns:asvg="http://schemas.microsoft.com/office/drawing/2016/SVG/main" r:embed="rId2"/>
              </a:ext>
            </a:extLst>
          </a:blip>
          <a:srcRect l="11000" t="19000" r="11000" b="28000"/>
          <a:stretch>
            <a:fillRect/>
          </a:stretch>
        </p:blipFill>
        <p:spPr>
          <a:xfrm>
            <a:off x="10439400" y="381000"/>
            <a:ext cx="1143001" cy="776655"/>
          </a:xfrm>
          <a:prstGeom prst="rect">
            <a:avLst/>
          </a:prstGeom>
        </p:spPr>
      </p:pic>
      <p:sp>
        <p:nvSpPr>
          <p:cNvPr id="9" name="Rectangle: Rounded Corners 8">
            <a:extLst>
              <a:ext uri="{FF2B5EF4-FFF2-40B4-BE49-F238E27FC236}">
                <a16:creationId xmlns:a16="http://schemas.microsoft.com/office/drawing/2014/main" id="{0794F5EA-7BA5-75A5-3CF3-B21A39FC2DDE}"/>
              </a:ext>
            </a:extLst>
          </p:cNvPr>
          <p:cNvSpPr/>
          <p:nvPr/>
        </p:nvSpPr>
        <p:spPr>
          <a:xfrm>
            <a:off x="609600" y="1600200"/>
            <a:ext cx="2590800" cy="19050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A7C86B2A-3467-C0F3-1E89-75E8A869E3CC}"/>
              </a:ext>
            </a:extLst>
          </p:cNvPr>
          <p:cNvSpPr/>
          <p:nvPr/>
        </p:nvSpPr>
        <p:spPr>
          <a:xfrm>
            <a:off x="609600" y="1600200"/>
            <a:ext cx="2590800" cy="584200"/>
          </a:xfrm>
          <a:prstGeom prst="roundRect">
            <a:avLst>
              <a:gd name="adj" fmla="val 12000"/>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704CAD8-E927-94D4-1491-2A2BEEBA8D94}"/>
              </a:ext>
            </a:extLst>
          </p:cNvPr>
          <p:cNvSpPr/>
          <p:nvPr/>
        </p:nvSpPr>
        <p:spPr>
          <a:xfrm>
            <a:off x="609600" y="1905000"/>
            <a:ext cx="2590800" cy="2794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78B85D3-F852-E54A-AC72-408C5142F8DE}"/>
              </a:ext>
            </a:extLst>
          </p:cNvPr>
          <p:cNvSpPr txBox="1"/>
          <p:nvPr/>
        </p:nvSpPr>
        <p:spPr>
          <a:xfrm>
            <a:off x="609600" y="1600200"/>
            <a:ext cx="2590800" cy="584200"/>
          </a:xfrm>
          <a:prstGeom prst="rect">
            <a:avLst/>
          </a:prstGeom>
          <a:noFill/>
        </p:spPr>
        <p:txBody>
          <a:bodyPr vert="horz" wrap="square" lIns="0" tIns="0" rIns="0" bIns="0" rtlCol="0" anchor="ctr">
            <a:noAutofit/>
          </a:bodyPr>
          <a:lstStyle/>
          <a:p>
            <a:pPr algn="ctr"/>
            <a:r>
              <a:rPr lang="en-US" sz="1300" b="1" spc="150">
                <a:solidFill>
                  <a:srgbClr val="FFFFFF"/>
                </a:solidFill>
                <a:latin typeface="Segoe UI Semibold" panose="020B0702040204020203" pitchFamily="34" charset="0"/>
              </a:rPr>
              <a:t>SIEMENS</a:t>
            </a:r>
          </a:p>
        </p:txBody>
      </p:sp>
      <p:sp>
        <p:nvSpPr>
          <p:cNvPr id="13" name="Rectangle 12">
            <a:extLst>
              <a:ext uri="{FF2B5EF4-FFF2-40B4-BE49-F238E27FC236}">
                <a16:creationId xmlns:a16="http://schemas.microsoft.com/office/drawing/2014/main" id="{5760BA76-5727-1CF3-FD85-73CB2DF0B558}"/>
              </a:ext>
            </a:extLst>
          </p:cNvPr>
          <p:cNvSpPr/>
          <p:nvPr/>
        </p:nvSpPr>
        <p:spPr>
          <a:xfrm>
            <a:off x="609600" y="2184400"/>
            <a:ext cx="2590800" cy="381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0947407-43EE-E018-E9B8-EB7A609A64DC}"/>
              </a:ext>
            </a:extLst>
          </p:cNvPr>
          <p:cNvSpPr txBox="1"/>
          <p:nvPr/>
        </p:nvSpPr>
        <p:spPr>
          <a:xfrm>
            <a:off x="838200" y="2438400"/>
            <a:ext cx="2133600" cy="1143000"/>
          </a:xfrm>
          <a:prstGeom prst="rect">
            <a:avLst/>
          </a:prstGeom>
          <a:noFill/>
        </p:spPr>
        <p:txBody>
          <a:bodyPr vert="horz" wrap="square" lIns="0" tIns="0" rIns="0" bIns="0" rtlCol="0" anchor="t">
            <a:noAutofit/>
          </a:bodyPr>
          <a:lstStyle/>
          <a:p>
            <a:pPr algn="ctr">
              <a:lnSpc>
                <a:spcPct val="125000"/>
              </a:lnSpc>
            </a:pPr>
            <a:r>
              <a:rPr lang="en-US" sz="1200">
                <a:solidFill>
                  <a:srgbClr val="1B2B40"/>
                </a:solidFill>
                <a:latin typeface="Segoe UI" panose="020B0502040204020203" pitchFamily="34" charset="0"/>
              </a:rPr>
              <a:t>PLC · HMI · Drives · SCADA · Industrial Networking · Servo</a:t>
            </a:r>
          </a:p>
        </p:txBody>
      </p:sp>
      <p:sp>
        <p:nvSpPr>
          <p:cNvPr id="15" name="Rectangle: Rounded Corners 14">
            <a:extLst>
              <a:ext uri="{FF2B5EF4-FFF2-40B4-BE49-F238E27FC236}">
                <a16:creationId xmlns:a16="http://schemas.microsoft.com/office/drawing/2014/main" id="{72C7A2D8-47D8-BE4E-8FF6-0EFA908E6220}"/>
              </a:ext>
            </a:extLst>
          </p:cNvPr>
          <p:cNvSpPr/>
          <p:nvPr/>
        </p:nvSpPr>
        <p:spPr>
          <a:xfrm>
            <a:off x="3403600" y="1600200"/>
            <a:ext cx="2590800" cy="19050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7AC7F9FC-AAED-DDC2-BE25-2BDA0E7B8B39}"/>
              </a:ext>
            </a:extLst>
          </p:cNvPr>
          <p:cNvSpPr/>
          <p:nvPr/>
        </p:nvSpPr>
        <p:spPr>
          <a:xfrm>
            <a:off x="3403600" y="1600200"/>
            <a:ext cx="2590800" cy="584200"/>
          </a:xfrm>
          <a:prstGeom prst="roundRect">
            <a:avLst>
              <a:gd name="adj" fmla="val 12000"/>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261160A-E94D-6F24-9EB9-D9B8F0873030}"/>
              </a:ext>
            </a:extLst>
          </p:cNvPr>
          <p:cNvSpPr/>
          <p:nvPr/>
        </p:nvSpPr>
        <p:spPr>
          <a:xfrm>
            <a:off x="3403600" y="1905000"/>
            <a:ext cx="2590800" cy="2794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29435B4-8428-4474-BA6E-AEEFF808C621}"/>
              </a:ext>
            </a:extLst>
          </p:cNvPr>
          <p:cNvSpPr txBox="1"/>
          <p:nvPr/>
        </p:nvSpPr>
        <p:spPr>
          <a:xfrm>
            <a:off x="3403600" y="1600200"/>
            <a:ext cx="2590800" cy="584200"/>
          </a:xfrm>
          <a:prstGeom prst="rect">
            <a:avLst/>
          </a:prstGeom>
          <a:noFill/>
        </p:spPr>
        <p:txBody>
          <a:bodyPr vert="horz" wrap="square" lIns="0" tIns="0" rIns="0" bIns="0" rtlCol="0" anchor="ctr">
            <a:noAutofit/>
          </a:bodyPr>
          <a:lstStyle/>
          <a:p>
            <a:pPr algn="ctr"/>
            <a:r>
              <a:rPr lang="en-US" sz="1300" b="1" spc="150">
                <a:solidFill>
                  <a:srgbClr val="FFFFFF"/>
                </a:solidFill>
                <a:latin typeface="Segoe UI Semibold" panose="020B0702040204020203" pitchFamily="34" charset="0"/>
              </a:rPr>
              <a:t>MITSUBISHI ELECTRIC</a:t>
            </a:r>
          </a:p>
        </p:txBody>
      </p:sp>
      <p:sp>
        <p:nvSpPr>
          <p:cNvPr id="19" name="Rectangle 18">
            <a:extLst>
              <a:ext uri="{FF2B5EF4-FFF2-40B4-BE49-F238E27FC236}">
                <a16:creationId xmlns:a16="http://schemas.microsoft.com/office/drawing/2014/main" id="{91DC604F-20CA-5E72-E4ED-E53635B2097B}"/>
              </a:ext>
            </a:extLst>
          </p:cNvPr>
          <p:cNvSpPr/>
          <p:nvPr/>
        </p:nvSpPr>
        <p:spPr>
          <a:xfrm>
            <a:off x="3403600" y="2184400"/>
            <a:ext cx="2590800" cy="381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1F971B5-27F8-484D-FBAA-2797D325B8C6}"/>
              </a:ext>
            </a:extLst>
          </p:cNvPr>
          <p:cNvSpPr txBox="1"/>
          <p:nvPr/>
        </p:nvSpPr>
        <p:spPr>
          <a:xfrm>
            <a:off x="3632200" y="2438400"/>
            <a:ext cx="2133600" cy="1143000"/>
          </a:xfrm>
          <a:prstGeom prst="rect">
            <a:avLst/>
          </a:prstGeom>
          <a:noFill/>
        </p:spPr>
        <p:txBody>
          <a:bodyPr vert="horz" wrap="square" lIns="0" tIns="0" rIns="0" bIns="0" rtlCol="0" anchor="t">
            <a:noAutofit/>
          </a:bodyPr>
          <a:lstStyle/>
          <a:p>
            <a:pPr algn="ctr">
              <a:lnSpc>
                <a:spcPct val="125000"/>
              </a:lnSpc>
            </a:pPr>
            <a:r>
              <a:rPr lang="en-US" sz="1200">
                <a:solidFill>
                  <a:srgbClr val="1B2B40"/>
                </a:solidFill>
                <a:latin typeface="Segoe UI" panose="020B0502040204020203" pitchFamily="34" charset="0"/>
              </a:rPr>
              <a:t>PLC · HMI · Drives · Motion · Servo</a:t>
            </a:r>
          </a:p>
        </p:txBody>
      </p:sp>
      <p:sp>
        <p:nvSpPr>
          <p:cNvPr id="21" name="Rectangle: Rounded Corners 20">
            <a:extLst>
              <a:ext uri="{FF2B5EF4-FFF2-40B4-BE49-F238E27FC236}">
                <a16:creationId xmlns:a16="http://schemas.microsoft.com/office/drawing/2014/main" id="{13284B3D-CC9B-5362-4E1E-2A0B4CD45BC5}"/>
              </a:ext>
            </a:extLst>
          </p:cNvPr>
          <p:cNvSpPr/>
          <p:nvPr/>
        </p:nvSpPr>
        <p:spPr>
          <a:xfrm>
            <a:off x="6197600" y="1600200"/>
            <a:ext cx="2590800" cy="19050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82DC9961-F84B-6A31-89A2-D2F000F98F08}"/>
              </a:ext>
            </a:extLst>
          </p:cNvPr>
          <p:cNvSpPr/>
          <p:nvPr/>
        </p:nvSpPr>
        <p:spPr>
          <a:xfrm>
            <a:off x="6197600" y="1600200"/>
            <a:ext cx="2590800" cy="584200"/>
          </a:xfrm>
          <a:prstGeom prst="roundRect">
            <a:avLst>
              <a:gd name="adj" fmla="val 12000"/>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70CFBD3-8BFE-D8A4-3EBF-453CDB0691D3}"/>
              </a:ext>
            </a:extLst>
          </p:cNvPr>
          <p:cNvSpPr/>
          <p:nvPr/>
        </p:nvSpPr>
        <p:spPr>
          <a:xfrm>
            <a:off x="6197600" y="1905000"/>
            <a:ext cx="2590800" cy="2794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202AD92-F87E-649A-FA8F-4894A882B1FF}"/>
              </a:ext>
            </a:extLst>
          </p:cNvPr>
          <p:cNvSpPr txBox="1"/>
          <p:nvPr/>
        </p:nvSpPr>
        <p:spPr>
          <a:xfrm>
            <a:off x="6197600" y="1600200"/>
            <a:ext cx="2590800" cy="584200"/>
          </a:xfrm>
          <a:prstGeom prst="rect">
            <a:avLst/>
          </a:prstGeom>
          <a:noFill/>
        </p:spPr>
        <p:txBody>
          <a:bodyPr vert="horz" wrap="square" lIns="0" tIns="0" rIns="0" bIns="0" rtlCol="0" anchor="ctr">
            <a:noAutofit/>
          </a:bodyPr>
          <a:lstStyle/>
          <a:p>
            <a:pPr algn="ctr"/>
            <a:r>
              <a:rPr lang="en-US" sz="1300" b="1" spc="150">
                <a:solidFill>
                  <a:srgbClr val="FFFFFF"/>
                </a:solidFill>
                <a:latin typeface="Segoe UI Semibold" panose="020B0702040204020203" pitchFamily="34" charset="0"/>
              </a:rPr>
              <a:t>DELTA</a:t>
            </a:r>
          </a:p>
        </p:txBody>
      </p:sp>
      <p:sp>
        <p:nvSpPr>
          <p:cNvPr id="25" name="Rectangle 24">
            <a:extLst>
              <a:ext uri="{FF2B5EF4-FFF2-40B4-BE49-F238E27FC236}">
                <a16:creationId xmlns:a16="http://schemas.microsoft.com/office/drawing/2014/main" id="{6C6304F6-F158-A54C-3CD1-E42C44FF1324}"/>
              </a:ext>
            </a:extLst>
          </p:cNvPr>
          <p:cNvSpPr/>
          <p:nvPr/>
        </p:nvSpPr>
        <p:spPr>
          <a:xfrm>
            <a:off x="6197600" y="2184400"/>
            <a:ext cx="2590800" cy="381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D710BAD-5B74-7FF2-B30E-5910F32B45B2}"/>
              </a:ext>
            </a:extLst>
          </p:cNvPr>
          <p:cNvSpPr txBox="1"/>
          <p:nvPr/>
        </p:nvSpPr>
        <p:spPr>
          <a:xfrm>
            <a:off x="6426200" y="2438400"/>
            <a:ext cx="2133600" cy="1143000"/>
          </a:xfrm>
          <a:prstGeom prst="rect">
            <a:avLst/>
          </a:prstGeom>
          <a:noFill/>
        </p:spPr>
        <p:txBody>
          <a:bodyPr vert="horz" wrap="square" lIns="0" tIns="0" rIns="0" bIns="0" rtlCol="0" anchor="t">
            <a:noAutofit/>
          </a:bodyPr>
          <a:lstStyle/>
          <a:p>
            <a:pPr algn="ctr">
              <a:lnSpc>
                <a:spcPct val="125000"/>
              </a:lnSpc>
            </a:pPr>
            <a:r>
              <a:rPr lang="en-US" sz="1200">
                <a:solidFill>
                  <a:srgbClr val="1B2B40"/>
                </a:solidFill>
                <a:latin typeface="Segoe UI" panose="020B0502040204020203" pitchFamily="34" charset="0"/>
              </a:rPr>
              <a:t>PLC · HMI · Drives · Motion · Automation</a:t>
            </a:r>
          </a:p>
        </p:txBody>
      </p:sp>
      <p:sp>
        <p:nvSpPr>
          <p:cNvPr id="27" name="Rectangle: Rounded Corners 26">
            <a:extLst>
              <a:ext uri="{FF2B5EF4-FFF2-40B4-BE49-F238E27FC236}">
                <a16:creationId xmlns:a16="http://schemas.microsoft.com/office/drawing/2014/main" id="{C534DD2F-6844-ADFE-7BE8-35E88A8691FB}"/>
              </a:ext>
            </a:extLst>
          </p:cNvPr>
          <p:cNvSpPr/>
          <p:nvPr/>
        </p:nvSpPr>
        <p:spPr>
          <a:xfrm>
            <a:off x="8991600" y="1600200"/>
            <a:ext cx="2590800" cy="19050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FF73FEC4-904F-1765-D45A-84C2C513392D}"/>
              </a:ext>
            </a:extLst>
          </p:cNvPr>
          <p:cNvSpPr/>
          <p:nvPr/>
        </p:nvSpPr>
        <p:spPr>
          <a:xfrm>
            <a:off x="8991600" y="1600200"/>
            <a:ext cx="2590800" cy="584200"/>
          </a:xfrm>
          <a:prstGeom prst="roundRect">
            <a:avLst>
              <a:gd name="adj" fmla="val 12000"/>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AA154EA-E20C-0FE9-901D-325B2AE2A64A}"/>
              </a:ext>
            </a:extLst>
          </p:cNvPr>
          <p:cNvSpPr/>
          <p:nvPr/>
        </p:nvSpPr>
        <p:spPr>
          <a:xfrm>
            <a:off x="8991600" y="1905000"/>
            <a:ext cx="2590800" cy="2794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14B7934-3C56-FF3A-4341-15BE4E07E91E}"/>
              </a:ext>
            </a:extLst>
          </p:cNvPr>
          <p:cNvSpPr txBox="1"/>
          <p:nvPr/>
        </p:nvSpPr>
        <p:spPr>
          <a:xfrm>
            <a:off x="8991600" y="1600200"/>
            <a:ext cx="2590800" cy="584200"/>
          </a:xfrm>
          <a:prstGeom prst="rect">
            <a:avLst/>
          </a:prstGeom>
          <a:noFill/>
        </p:spPr>
        <p:txBody>
          <a:bodyPr vert="horz" wrap="square" lIns="0" tIns="0" rIns="0" bIns="0" rtlCol="0" anchor="ctr">
            <a:noAutofit/>
          </a:bodyPr>
          <a:lstStyle/>
          <a:p>
            <a:pPr algn="ctr"/>
            <a:r>
              <a:rPr lang="en-US" sz="1300" b="1" spc="150">
                <a:solidFill>
                  <a:srgbClr val="FFFFFF"/>
                </a:solidFill>
                <a:latin typeface="Segoe UI Semibold" panose="020B0702040204020203" pitchFamily="34" charset="0"/>
              </a:rPr>
              <a:t>OMRON</a:t>
            </a:r>
          </a:p>
        </p:txBody>
      </p:sp>
      <p:sp>
        <p:nvSpPr>
          <p:cNvPr id="31" name="Rectangle 30">
            <a:extLst>
              <a:ext uri="{FF2B5EF4-FFF2-40B4-BE49-F238E27FC236}">
                <a16:creationId xmlns:a16="http://schemas.microsoft.com/office/drawing/2014/main" id="{2B54BD38-0817-8C29-D74E-4392C95F2B64}"/>
              </a:ext>
            </a:extLst>
          </p:cNvPr>
          <p:cNvSpPr/>
          <p:nvPr/>
        </p:nvSpPr>
        <p:spPr>
          <a:xfrm>
            <a:off x="8991600" y="2184400"/>
            <a:ext cx="2590800" cy="381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12810074-FE4F-4429-68F0-15DF24BA6EAC}"/>
              </a:ext>
            </a:extLst>
          </p:cNvPr>
          <p:cNvSpPr txBox="1"/>
          <p:nvPr/>
        </p:nvSpPr>
        <p:spPr>
          <a:xfrm>
            <a:off x="9220200" y="2438400"/>
            <a:ext cx="2133600" cy="1143000"/>
          </a:xfrm>
          <a:prstGeom prst="rect">
            <a:avLst/>
          </a:prstGeom>
          <a:noFill/>
        </p:spPr>
        <p:txBody>
          <a:bodyPr vert="horz" wrap="square" lIns="0" tIns="0" rIns="0" bIns="0" rtlCol="0" anchor="t">
            <a:noAutofit/>
          </a:bodyPr>
          <a:lstStyle/>
          <a:p>
            <a:pPr algn="ctr">
              <a:lnSpc>
                <a:spcPct val="125000"/>
              </a:lnSpc>
            </a:pPr>
            <a:r>
              <a:rPr lang="en-US" sz="1200">
                <a:solidFill>
                  <a:srgbClr val="1B2B40"/>
                </a:solidFill>
                <a:latin typeface="Segoe UI" panose="020B0502040204020203" pitchFamily="34" charset="0"/>
              </a:rPr>
              <a:t>Servo, sensing &amp; automation technologies</a:t>
            </a:r>
          </a:p>
        </p:txBody>
      </p:sp>
      <p:sp>
        <p:nvSpPr>
          <p:cNvPr id="33" name="TextBox 32">
            <a:extLst>
              <a:ext uri="{FF2B5EF4-FFF2-40B4-BE49-F238E27FC236}">
                <a16:creationId xmlns:a16="http://schemas.microsoft.com/office/drawing/2014/main" id="{F7B4D431-CD5C-F5FC-0E3C-BAE573BEF55C}"/>
              </a:ext>
            </a:extLst>
          </p:cNvPr>
          <p:cNvSpPr txBox="1"/>
          <p:nvPr/>
        </p:nvSpPr>
        <p:spPr>
          <a:xfrm>
            <a:off x="609600" y="3886200"/>
            <a:ext cx="5080000" cy="203200"/>
          </a:xfrm>
          <a:prstGeom prst="rect">
            <a:avLst/>
          </a:prstGeom>
          <a:noFill/>
        </p:spPr>
        <p:txBody>
          <a:bodyPr vert="horz" wrap="square" lIns="0" tIns="0" rIns="0" bIns="0" rtlCol="0" anchor="t">
            <a:noAutofit/>
          </a:bodyPr>
          <a:lstStyle/>
          <a:p>
            <a:r>
              <a:rPr lang="en-US" sz="1050" b="1" spc="250" dirty="0">
                <a:solidFill>
                  <a:srgbClr val="00B4D8"/>
                </a:solidFill>
                <a:latin typeface="Segoe UI Semibold" panose="020B0702040204020203" pitchFamily="34" charset="0"/>
              </a:rPr>
              <a:t>READY STACK</a:t>
            </a:r>
          </a:p>
        </p:txBody>
      </p:sp>
      <p:sp>
        <p:nvSpPr>
          <p:cNvPr id="34" name="Rectangle: Rounded Corners 33">
            <a:extLst>
              <a:ext uri="{FF2B5EF4-FFF2-40B4-BE49-F238E27FC236}">
                <a16:creationId xmlns:a16="http://schemas.microsoft.com/office/drawing/2014/main" id="{D8FBA05B-15E4-7186-9A8B-4876BDF7085D}"/>
              </a:ext>
            </a:extLst>
          </p:cNvPr>
          <p:cNvSpPr/>
          <p:nvPr/>
        </p:nvSpPr>
        <p:spPr>
          <a:xfrm>
            <a:off x="609600" y="4216400"/>
            <a:ext cx="2082800" cy="533400"/>
          </a:xfrm>
          <a:prstGeom prst="roundRect">
            <a:avLst>
              <a:gd name="adj" fmla="val 50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EB07673E-AA98-0C57-12C4-843947F0DFBD}"/>
              </a:ext>
            </a:extLst>
          </p:cNvPr>
          <p:cNvSpPr txBox="1"/>
          <p:nvPr/>
        </p:nvSpPr>
        <p:spPr>
          <a:xfrm>
            <a:off x="609600" y="4216400"/>
            <a:ext cx="2082800" cy="533400"/>
          </a:xfrm>
          <a:prstGeom prst="rect">
            <a:avLst/>
          </a:prstGeom>
          <a:noFill/>
        </p:spPr>
        <p:txBody>
          <a:bodyPr vert="horz" wrap="square" lIns="0" tIns="0" rIns="0" bIns="0" rtlCol="0" anchor="ctr">
            <a:noAutofit/>
          </a:bodyPr>
          <a:lstStyle/>
          <a:p>
            <a:pPr algn="ctr"/>
            <a:r>
              <a:rPr lang="en-US" sz="1200" b="1">
                <a:solidFill>
                  <a:srgbClr val="0B1F3A"/>
                </a:solidFill>
                <a:latin typeface="Segoe UI Semibold" panose="020B0702040204020203" pitchFamily="34" charset="0"/>
              </a:rPr>
              <a:t>PLC</a:t>
            </a:r>
          </a:p>
        </p:txBody>
      </p:sp>
      <p:sp>
        <p:nvSpPr>
          <p:cNvPr id="36" name="Rectangle: Rounded Corners 35">
            <a:extLst>
              <a:ext uri="{FF2B5EF4-FFF2-40B4-BE49-F238E27FC236}">
                <a16:creationId xmlns:a16="http://schemas.microsoft.com/office/drawing/2014/main" id="{67A1DB9D-94E7-3530-1048-0BC7F8DE77F0}"/>
              </a:ext>
            </a:extLst>
          </p:cNvPr>
          <p:cNvSpPr/>
          <p:nvPr/>
        </p:nvSpPr>
        <p:spPr>
          <a:xfrm>
            <a:off x="2832100" y="4216400"/>
            <a:ext cx="2082800" cy="533400"/>
          </a:xfrm>
          <a:prstGeom prst="roundRect">
            <a:avLst>
              <a:gd name="adj" fmla="val 50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C955413A-4360-F7CC-8BBE-7DECE5E5D216}"/>
              </a:ext>
            </a:extLst>
          </p:cNvPr>
          <p:cNvSpPr txBox="1"/>
          <p:nvPr/>
        </p:nvSpPr>
        <p:spPr>
          <a:xfrm>
            <a:off x="2832100" y="4216400"/>
            <a:ext cx="2082800" cy="533400"/>
          </a:xfrm>
          <a:prstGeom prst="rect">
            <a:avLst/>
          </a:prstGeom>
          <a:noFill/>
        </p:spPr>
        <p:txBody>
          <a:bodyPr vert="horz" wrap="square" lIns="0" tIns="0" rIns="0" bIns="0" rtlCol="0" anchor="ctr">
            <a:noAutofit/>
          </a:bodyPr>
          <a:lstStyle/>
          <a:p>
            <a:pPr algn="ctr"/>
            <a:r>
              <a:rPr lang="en-US" sz="1200" b="1">
                <a:solidFill>
                  <a:srgbClr val="0B1F3A"/>
                </a:solidFill>
                <a:latin typeface="Segoe UI Semibold" panose="020B0702040204020203" pitchFamily="34" charset="0"/>
              </a:rPr>
              <a:t>HMI</a:t>
            </a:r>
          </a:p>
        </p:txBody>
      </p:sp>
      <p:sp>
        <p:nvSpPr>
          <p:cNvPr id="38" name="Rectangle: Rounded Corners 37">
            <a:extLst>
              <a:ext uri="{FF2B5EF4-FFF2-40B4-BE49-F238E27FC236}">
                <a16:creationId xmlns:a16="http://schemas.microsoft.com/office/drawing/2014/main" id="{5B8E7D31-9E24-CEA8-2BB3-13890949723C}"/>
              </a:ext>
            </a:extLst>
          </p:cNvPr>
          <p:cNvSpPr/>
          <p:nvPr/>
        </p:nvSpPr>
        <p:spPr>
          <a:xfrm>
            <a:off x="5054600" y="4216400"/>
            <a:ext cx="2082800" cy="533400"/>
          </a:xfrm>
          <a:prstGeom prst="roundRect">
            <a:avLst>
              <a:gd name="adj" fmla="val 50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BDC54FE7-507E-AD3A-00C1-E4262491D030}"/>
              </a:ext>
            </a:extLst>
          </p:cNvPr>
          <p:cNvSpPr txBox="1"/>
          <p:nvPr/>
        </p:nvSpPr>
        <p:spPr>
          <a:xfrm>
            <a:off x="5054600" y="4216400"/>
            <a:ext cx="2082800" cy="533400"/>
          </a:xfrm>
          <a:prstGeom prst="rect">
            <a:avLst/>
          </a:prstGeom>
          <a:noFill/>
        </p:spPr>
        <p:txBody>
          <a:bodyPr vert="horz" wrap="square" lIns="0" tIns="0" rIns="0" bIns="0" rtlCol="0" anchor="ctr">
            <a:noAutofit/>
          </a:bodyPr>
          <a:lstStyle/>
          <a:p>
            <a:pPr algn="ctr"/>
            <a:r>
              <a:rPr lang="en-US" sz="1200" b="1">
                <a:solidFill>
                  <a:srgbClr val="0B1F3A"/>
                </a:solidFill>
                <a:latin typeface="Segoe UI Semibold" panose="020B0702040204020203" pitchFamily="34" charset="0"/>
              </a:rPr>
              <a:t>VFD / Drives</a:t>
            </a:r>
          </a:p>
        </p:txBody>
      </p:sp>
      <p:sp>
        <p:nvSpPr>
          <p:cNvPr id="40" name="Rectangle: Rounded Corners 39">
            <a:extLst>
              <a:ext uri="{FF2B5EF4-FFF2-40B4-BE49-F238E27FC236}">
                <a16:creationId xmlns:a16="http://schemas.microsoft.com/office/drawing/2014/main" id="{6693D278-C891-A0B5-D8C1-7F49AC11029E}"/>
              </a:ext>
            </a:extLst>
          </p:cNvPr>
          <p:cNvSpPr/>
          <p:nvPr/>
        </p:nvSpPr>
        <p:spPr>
          <a:xfrm>
            <a:off x="7277100" y="4216400"/>
            <a:ext cx="2082800" cy="533400"/>
          </a:xfrm>
          <a:prstGeom prst="roundRect">
            <a:avLst>
              <a:gd name="adj" fmla="val 50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C283FB72-FC5F-94B9-3B72-B92D68C15490}"/>
              </a:ext>
            </a:extLst>
          </p:cNvPr>
          <p:cNvSpPr txBox="1"/>
          <p:nvPr/>
        </p:nvSpPr>
        <p:spPr>
          <a:xfrm>
            <a:off x="7277100" y="4216400"/>
            <a:ext cx="2082800" cy="533400"/>
          </a:xfrm>
          <a:prstGeom prst="rect">
            <a:avLst/>
          </a:prstGeom>
          <a:noFill/>
        </p:spPr>
        <p:txBody>
          <a:bodyPr vert="horz" wrap="square" lIns="0" tIns="0" rIns="0" bIns="0" rtlCol="0" anchor="ctr">
            <a:noAutofit/>
          </a:bodyPr>
          <a:lstStyle/>
          <a:p>
            <a:pPr algn="ctr"/>
            <a:r>
              <a:rPr lang="en-US" sz="1200" b="1">
                <a:solidFill>
                  <a:srgbClr val="0B1F3A"/>
                </a:solidFill>
                <a:latin typeface="Segoe UI Semibold" panose="020B0702040204020203" pitchFamily="34" charset="0"/>
              </a:rPr>
              <a:t>Servo &amp; Motion</a:t>
            </a:r>
          </a:p>
        </p:txBody>
      </p:sp>
      <p:sp>
        <p:nvSpPr>
          <p:cNvPr id="42" name="Rectangle: Rounded Corners 41">
            <a:extLst>
              <a:ext uri="{FF2B5EF4-FFF2-40B4-BE49-F238E27FC236}">
                <a16:creationId xmlns:a16="http://schemas.microsoft.com/office/drawing/2014/main" id="{0D9020FA-C567-E831-574B-BED499E2104F}"/>
              </a:ext>
            </a:extLst>
          </p:cNvPr>
          <p:cNvSpPr/>
          <p:nvPr/>
        </p:nvSpPr>
        <p:spPr>
          <a:xfrm>
            <a:off x="9499600" y="4216400"/>
            <a:ext cx="2082800" cy="533400"/>
          </a:xfrm>
          <a:prstGeom prst="roundRect">
            <a:avLst>
              <a:gd name="adj" fmla="val 50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EEE39EDB-5C0D-5D64-2254-3459E847B529}"/>
              </a:ext>
            </a:extLst>
          </p:cNvPr>
          <p:cNvSpPr txBox="1"/>
          <p:nvPr/>
        </p:nvSpPr>
        <p:spPr>
          <a:xfrm>
            <a:off x="9499600" y="4216400"/>
            <a:ext cx="2082800" cy="533400"/>
          </a:xfrm>
          <a:prstGeom prst="rect">
            <a:avLst/>
          </a:prstGeom>
          <a:noFill/>
        </p:spPr>
        <p:txBody>
          <a:bodyPr vert="horz" wrap="square" lIns="0" tIns="0" rIns="0" bIns="0" rtlCol="0" anchor="ctr">
            <a:noAutofit/>
          </a:bodyPr>
          <a:lstStyle/>
          <a:p>
            <a:pPr algn="ctr"/>
            <a:r>
              <a:rPr lang="en-US" sz="1200" b="1">
                <a:solidFill>
                  <a:srgbClr val="0B1F3A"/>
                </a:solidFill>
                <a:latin typeface="Segoe UI Semibold" panose="020B0702040204020203" pitchFamily="34" charset="0"/>
              </a:rPr>
              <a:t>SCADA</a:t>
            </a:r>
          </a:p>
        </p:txBody>
      </p:sp>
      <p:sp>
        <p:nvSpPr>
          <p:cNvPr id="44" name="Rectangle: Rounded Corners 43">
            <a:extLst>
              <a:ext uri="{FF2B5EF4-FFF2-40B4-BE49-F238E27FC236}">
                <a16:creationId xmlns:a16="http://schemas.microsoft.com/office/drawing/2014/main" id="{31A2FDCE-8D8E-6FFF-83FC-F0AEF188D290}"/>
              </a:ext>
            </a:extLst>
          </p:cNvPr>
          <p:cNvSpPr/>
          <p:nvPr/>
        </p:nvSpPr>
        <p:spPr>
          <a:xfrm>
            <a:off x="609600" y="4902200"/>
            <a:ext cx="2082800" cy="533400"/>
          </a:xfrm>
          <a:prstGeom prst="roundRect">
            <a:avLst>
              <a:gd name="adj" fmla="val 50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A0809522-A475-4AAD-AC3B-A06973EF6D20}"/>
              </a:ext>
            </a:extLst>
          </p:cNvPr>
          <p:cNvSpPr txBox="1"/>
          <p:nvPr/>
        </p:nvSpPr>
        <p:spPr>
          <a:xfrm>
            <a:off x="609600" y="4902200"/>
            <a:ext cx="2082800" cy="533400"/>
          </a:xfrm>
          <a:prstGeom prst="rect">
            <a:avLst/>
          </a:prstGeom>
          <a:noFill/>
        </p:spPr>
        <p:txBody>
          <a:bodyPr vert="horz" wrap="square" lIns="0" tIns="0" rIns="0" bIns="0" rtlCol="0" anchor="ctr">
            <a:noAutofit/>
          </a:bodyPr>
          <a:lstStyle/>
          <a:p>
            <a:pPr algn="ctr"/>
            <a:r>
              <a:rPr lang="en-US" sz="1200" b="1">
                <a:solidFill>
                  <a:srgbClr val="0B1F3A"/>
                </a:solidFill>
                <a:latin typeface="Segoe UI Semibold" panose="020B0702040204020203" pitchFamily="34" charset="0"/>
              </a:rPr>
              <a:t>Industrial Networking</a:t>
            </a:r>
          </a:p>
        </p:txBody>
      </p:sp>
      <p:sp>
        <p:nvSpPr>
          <p:cNvPr id="46" name="Rectangle: Rounded Corners 45">
            <a:extLst>
              <a:ext uri="{FF2B5EF4-FFF2-40B4-BE49-F238E27FC236}">
                <a16:creationId xmlns:a16="http://schemas.microsoft.com/office/drawing/2014/main" id="{C3B0299C-AF47-9282-9A8E-E46D22DCA4A7}"/>
              </a:ext>
            </a:extLst>
          </p:cNvPr>
          <p:cNvSpPr/>
          <p:nvPr/>
        </p:nvSpPr>
        <p:spPr>
          <a:xfrm>
            <a:off x="2832100" y="4902200"/>
            <a:ext cx="2082800" cy="533400"/>
          </a:xfrm>
          <a:prstGeom prst="roundRect">
            <a:avLst>
              <a:gd name="adj" fmla="val 50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DCA64ECE-2998-C01F-D0FA-8C47CD6D2EC1}"/>
              </a:ext>
            </a:extLst>
          </p:cNvPr>
          <p:cNvSpPr txBox="1"/>
          <p:nvPr/>
        </p:nvSpPr>
        <p:spPr>
          <a:xfrm>
            <a:off x="2832100" y="4902200"/>
            <a:ext cx="2082800" cy="533400"/>
          </a:xfrm>
          <a:prstGeom prst="rect">
            <a:avLst/>
          </a:prstGeom>
          <a:noFill/>
        </p:spPr>
        <p:txBody>
          <a:bodyPr vert="horz" wrap="square" lIns="0" tIns="0" rIns="0" bIns="0" rtlCol="0" anchor="ctr">
            <a:noAutofit/>
          </a:bodyPr>
          <a:lstStyle/>
          <a:p>
            <a:pPr algn="ctr"/>
            <a:r>
              <a:rPr lang="en-US" sz="1200" b="1">
                <a:solidFill>
                  <a:srgbClr val="0B1F3A"/>
                </a:solidFill>
                <a:latin typeface="Segoe UI Semibold" panose="020B0702040204020203" pitchFamily="34" charset="0"/>
              </a:rPr>
              <a:t>Smart Sensors</a:t>
            </a:r>
          </a:p>
        </p:txBody>
      </p:sp>
      <p:sp>
        <p:nvSpPr>
          <p:cNvPr id="48" name="Rectangle: Rounded Corners 47">
            <a:extLst>
              <a:ext uri="{FF2B5EF4-FFF2-40B4-BE49-F238E27FC236}">
                <a16:creationId xmlns:a16="http://schemas.microsoft.com/office/drawing/2014/main" id="{FF39F306-BF94-C6B8-0739-7BDC80EFBEE8}"/>
              </a:ext>
            </a:extLst>
          </p:cNvPr>
          <p:cNvSpPr/>
          <p:nvPr/>
        </p:nvSpPr>
        <p:spPr>
          <a:xfrm>
            <a:off x="5054600" y="4902200"/>
            <a:ext cx="2082800" cy="533400"/>
          </a:xfrm>
          <a:prstGeom prst="roundRect">
            <a:avLst>
              <a:gd name="adj" fmla="val 50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AA1CABBC-38E5-6BF3-E27B-E3135658903E}"/>
              </a:ext>
            </a:extLst>
          </p:cNvPr>
          <p:cNvSpPr txBox="1"/>
          <p:nvPr/>
        </p:nvSpPr>
        <p:spPr>
          <a:xfrm>
            <a:off x="5054600" y="4902200"/>
            <a:ext cx="2082800" cy="533400"/>
          </a:xfrm>
          <a:prstGeom prst="rect">
            <a:avLst/>
          </a:prstGeom>
          <a:noFill/>
        </p:spPr>
        <p:txBody>
          <a:bodyPr vert="horz" wrap="square" lIns="0" tIns="0" rIns="0" bIns="0" rtlCol="0" anchor="ctr">
            <a:noAutofit/>
          </a:bodyPr>
          <a:lstStyle/>
          <a:p>
            <a:pPr algn="ctr"/>
            <a:r>
              <a:rPr lang="en-US" sz="1200" b="1">
                <a:solidFill>
                  <a:srgbClr val="0B1F3A"/>
                </a:solidFill>
                <a:latin typeface="Segoe UI Semibold" panose="020B0702040204020203" pitchFamily="34" charset="0"/>
              </a:rPr>
              <a:t>Edge Connectivity</a:t>
            </a:r>
          </a:p>
        </p:txBody>
      </p:sp>
      <p:sp>
        <p:nvSpPr>
          <p:cNvPr id="50" name="Rectangle: Rounded Corners 49">
            <a:extLst>
              <a:ext uri="{FF2B5EF4-FFF2-40B4-BE49-F238E27FC236}">
                <a16:creationId xmlns:a16="http://schemas.microsoft.com/office/drawing/2014/main" id="{7F08F142-5AEC-C53A-EA87-E59D456C7F08}"/>
              </a:ext>
            </a:extLst>
          </p:cNvPr>
          <p:cNvSpPr/>
          <p:nvPr/>
        </p:nvSpPr>
        <p:spPr>
          <a:xfrm>
            <a:off x="7277100" y="4902200"/>
            <a:ext cx="2082800" cy="533400"/>
          </a:xfrm>
          <a:prstGeom prst="roundRect">
            <a:avLst>
              <a:gd name="adj" fmla="val 50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ED5CBB8B-0289-874E-F557-F554F0224617}"/>
              </a:ext>
            </a:extLst>
          </p:cNvPr>
          <p:cNvSpPr txBox="1"/>
          <p:nvPr/>
        </p:nvSpPr>
        <p:spPr>
          <a:xfrm>
            <a:off x="7277100" y="4902200"/>
            <a:ext cx="2082800" cy="533400"/>
          </a:xfrm>
          <a:prstGeom prst="rect">
            <a:avLst/>
          </a:prstGeom>
          <a:noFill/>
        </p:spPr>
        <p:txBody>
          <a:bodyPr vert="horz" wrap="square" lIns="0" tIns="0" rIns="0" bIns="0" rtlCol="0" anchor="ctr">
            <a:noAutofit/>
          </a:bodyPr>
          <a:lstStyle/>
          <a:p>
            <a:pPr algn="ctr"/>
            <a:r>
              <a:rPr lang="en-US" sz="1200" b="1">
                <a:solidFill>
                  <a:srgbClr val="0B1F3A"/>
                </a:solidFill>
                <a:latin typeface="Segoe UI Semibold" panose="020B0702040204020203" pitchFamily="34" charset="0"/>
              </a:rPr>
              <a:t>OPC UA / MQTT</a:t>
            </a:r>
          </a:p>
        </p:txBody>
      </p:sp>
      <p:sp>
        <p:nvSpPr>
          <p:cNvPr id="52" name="Rectangle: Rounded Corners 51">
            <a:extLst>
              <a:ext uri="{FF2B5EF4-FFF2-40B4-BE49-F238E27FC236}">
                <a16:creationId xmlns:a16="http://schemas.microsoft.com/office/drawing/2014/main" id="{3927A684-B613-9CDD-A97D-B5694D79685C}"/>
              </a:ext>
            </a:extLst>
          </p:cNvPr>
          <p:cNvSpPr/>
          <p:nvPr/>
        </p:nvSpPr>
        <p:spPr>
          <a:xfrm>
            <a:off x="9499600" y="4902200"/>
            <a:ext cx="2082800" cy="533400"/>
          </a:xfrm>
          <a:prstGeom prst="roundRect">
            <a:avLst>
              <a:gd name="adj" fmla="val 50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470D9D27-B568-C80A-BF9C-7E3CD766C8E1}"/>
              </a:ext>
            </a:extLst>
          </p:cNvPr>
          <p:cNvSpPr txBox="1"/>
          <p:nvPr/>
        </p:nvSpPr>
        <p:spPr>
          <a:xfrm>
            <a:off x="9499600" y="4902200"/>
            <a:ext cx="2082800" cy="533400"/>
          </a:xfrm>
          <a:prstGeom prst="rect">
            <a:avLst/>
          </a:prstGeom>
          <a:noFill/>
        </p:spPr>
        <p:txBody>
          <a:bodyPr vert="horz" wrap="square" lIns="0" tIns="0" rIns="0" bIns="0" rtlCol="0" anchor="ctr">
            <a:noAutofit/>
          </a:bodyPr>
          <a:lstStyle/>
          <a:p>
            <a:pPr algn="ctr"/>
            <a:r>
              <a:rPr lang="en-US" sz="1200" b="1">
                <a:solidFill>
                  <a:srgbClr val="0B1F3A"/>
                </a:solidFill>
                <a:latin typeface="Segoe UI Semibold" panose="020B0702040204020203" pitchFamily="34" charset="0"/>
              </a:rPr>
              <a:t>Digital Dashboards</a:t>
            </a:r>
          </a:p>
        </p:txBody>
      </p:sp>
      <p:sp>
        <p:nvSpPr>
          <p:cNvPr id="55" name="Rectangle 54">
            <a:extLst>
              <a:ext uri="{FF2B5EF4-FFF2-40B4-BE49-F238E27FC236}">
                <a16:creationId xmlns:a16="http://schemas.microsoft.com/office/drawing/2014/main" id="{90FF2216-801C-AECC-9865-B5B66601D45F}"/>
              </a:ext>
            </a:extLst>
          </p:cNvPr>
          <p:cNvSpPr/>
          <p:nvPr/>
        </p:nvSpPr>
        <p:spPr>
          <a:xfrm>
            <a:off x="609600" y="6388100"/>
            <a:ext cx="109728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177EB6E4-93EB-FF6B-147E-15548A4BC350}"/>
              </a:ext>
            </a:extLst>
          </p:cNvPr>
          <p:cNvSpPr txBox="1"/>
          <p:nvPr/>
        </p:nvSpPr>
        <p:spPr>
          <a:xfrm>
            <a:off x="609600" y="6489700"/>
            <a:ext cx="6350000" cy="177800"/>
          </a:xfrm>
          <a:prstGeom prst="rect">
            <a:avLst/>
          </a:prstGeom>
          <a:noFill/>
        </p:spPr>
        <p:txBody>
          <a:bodyPr vert="horz" wrap="square" lIns="0" tIns="0" rIns="0" bIns="0" rtlCol="0" anchor="t">
            <a:noAutofit/>
          </a:bodyPr>
          <a:lstStyle/>
          <a:p>
            <a:r>
              <a:rPr lang="en-US" sz="850" spc="100">
                <a:solidFill>
                  <a:srgbClr val="5B6B80"/>
                </a:solidFill>
                <a:latin typeface="Segoe UI" panose="020B0502040204020203" pitchFamily="34" charset="0"/>
              </a:rPr>
              <a:t>MECHWARE  |  TECHNOLOGY FOR SMARTER SYSTEMS</a:t>
            </a:r>
          </a:p>
        </p:txBody>
      </p:sp>
      <p:sp>
        <p:nvSpPr>
          <p:cNvPr id="57" name="TextBox 56">
            <a:extLst>
              <a:ext uri="{FF2B5EF4-FFF2-40B4-BE49-F238E27FC236}">
                <a16:creationId xmlns:a16="http://schemas.microsoft.com/office/drawing/2014/main" id="{EE2397D8-3948-7448-F42C-6B01D4A150DC}"/>
              </a:ext>
            </a:extLst>
          </p:cNvPr>
          <p:cNvSpPr txBox="1"/>
          <p:nvPr/>
        </p:nvSpPr>
        <p:spPr>
          <a:xfrm>
            <a:off x="7772400" y="6489700"/>
            <a:ext cx="3810000" cy="177800"/>
          </a:xfrm>
          <a:prstGeom prst="rect">
            <a:avLst/>
          </a:prstGeom>
          <a:noFill/>
        </p:spPr>
        <p:txBody>
          <a:bodyPr vert="horz" wrap="square" lIns="0" tIns="0" rIns="0" bIns="0" rtlCol="0" anchor="t">
            <a:noAutofit/>
          </a:bodyPr>
          <a:lstStyle/>
          <a:p>
            <a:pPr algn="r"/>
            <a:r>
              <a:rPr lang="en-US" sz="950" b="1">
                <a:solidFill>
                  <a:srgbClr val="0B1F3A"/>
                </a:solidFill>
                <a:latin typeface="Segoe UI Semibold" panose="020B0702040204020203" pitchFamily="34" charset="0"/>
              </a:rPr>
              <a:t>06</a:t>
            </a:r>
          </a:p>
        </p:txBody>
      </p:sp>
    </p:spTree>
    <p:extLst>
      <p:ext uri="{BB962C8B-B14F-4D97-AF65-F5344CB8AC3E}">
        <p14:creationId xmlns:p14="http://schemas.microsoft.com/office/powerpoint/2010/main" val="1362206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AB15CF-F0BD-9B23-DB9E-EC511B501D26}"/>
              </a:ext>
            </a:extLst>
          </p:cNvPr>
          <p:cNvSpPr/>
          <p:nvPr/>
        </p:nvSpPr>
        <p:spPr>
          <a:xfrm>
            <a:off x="0" y="0"/>
            <a:ext cx="12192000" cy="1016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7455B39-C196-497C-638A-E3953606D91F}"/>
              </a:ext>
            </a:extLst>
          </p:cNvPr>
          <p:cNvSpPr/>
          <p:nvPr/>
        </p:nvSpPr>
        <p:spPr>
          <a:xfrm>
            <a:off x="0" y="0"/>
            <a:ext cx="2794000" cy="101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0002456-8FE0-6A19-C2AD-283BC66A3276}"/>
              </a:ext>
            </a:extLst>
          </p:cNvPr>
          <p:cNvSpPr txBox="1"/>
          <p:nvPr/>
        </p:nvSpPr>
        <p:spPr>
          <a:xfrm>
            <a:off x="609600" y="381000"/>
            <a:ext cx="8890000" cy="203200"/>
          </a:xfrm>
          <a:prstGeom prst="rect">
            <a:avLst/>
          </a:prstGeom>
          <a:noFill/>
        </p:spPr>
        <p:txBody>
          <a:bodyPr vert="horz" wrap="square" lIns="0" tIns="0" rIns="0" bIns="0" rtlCol="0" anchor="t">
            <a:noAutofit/>
          </a:bodyPr>
          <a:lstStyle/>
          <a:p>
            <a:r>
              <a:rPr lang="en-US" sz="1050" b="1" spc="250">
                <a:solidFill>
                  <a:srgbClr val="00B4D8"/>
                </a:solidFill>
                <a:latin typeface="Segoe UI Semibold" panose="020B0702040204020203" pitchFamily="34" charset="0"/>
              </a:rPr>
              <a:t>05  —  MARKET COVERAGE</a:t>
            </a:r>
          </a:p>
        </p:txBody>
      </p:sp>
      <p:sp>
        <p:nvSpPr>
          <p:cNvPr id="5" name="TextBox 4">
            <a:extLst>
              <a:ext uri="{FF2B5EF4-FFF2-40B4-BE49-F238E27FC236}">
                <a16:creationId xmlns:a16="http://schemas.microsoft.com/office/drawing/2014/main" id="{92B34B58-CF3B-3BAD-E7E8-21381E4123B4}"/>
              </a:ext>
            </a:extLst>
          </p:cNvPr>
          <p:cNvSpPr txBox="1"/>
          <p:nvPr/>
        </p:nvSpPr>
        <p:spPr>
          <a:xfrm>
            <a:off x="609600" y="609600"/>
            <a:ext cx="9652000" cy="558800"/>
          </a:xfrm>
          <a:prstGeom prst="rect">
            <a:avLst/>
          </a:prstGeom>
          <a:noFill/>
        </p:spPr>
        <p:txBody>
          <a:bodyPr vert="horz" wrap="square" lIns="0" tIns="0" rIns="0" bIns="0" rtlCol="0" anchor="t">
            <a:noAutofit/>
          </a:bodyPr>
          <a:lstStyle/>
          <a:p>
            <a:r>
              <a:rPr lang="en-US" sz="2800" b="1">
                <a:solidFill>
                  <a:srgbClr val="0B1F3A"/>
                </a:solidFill>
                <a:latin typeface="Segoe UI Semibold" panose="020B0702040204020203" pitchFamily="34" charset="0"/>
              </a:rPr>
              <a:t>Industries We Serve</a:t>
            </a:r>
          </a:p>
        </p:txBody>
      </p:sp>
      <p:sp>
        <p:nvSpPr>
          <p:cNvPr id="6" name="Rectangle 5">
            <a:extLst>
              <a:ext uri="{FF2B5EF4-FFF2-40B4-BE49-F238E27FC236}">
                <a16:creationId xmlns:a16="http://schemas.microsoft.com/office/drawing/2014/main" id="{5CD5794E-EA0E-3244-6DA4-4DC8DFC790BA}"/>
              </a:ext>
            </a:extLst>
          </p:cNvPr>
          <p:cNvSpPr/>
          <p:nvPr/>
        </p:nvSpPr>
        <p:spPr>
          <a:xfrm>
            <a:off x="609600" y="1244600"/>
            <a:ext cx="711200" cy="50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446686BD-3350-112D-C3C9-434410FD7F93}"/>
              </a:ext>
            </a:extLst>
          </p:cNvPr>
          <p:cNvPicPr>
            <a:picLocks/>
          </p:cNvPicPr>
          <p:nvPr/>
        </p:nvPicPr>
        <p:blipFill>
          <a:blip>
            <a:extLst>
              <a:ext uri="{96DAC541-7B7A-43D3-8B79-37D633B846F1}">
                <asvg:svgBlip xmlns:asvg="http://schemas.microsoft.com/office/drawing/2016/SVG/main" r:embed="rId2"/>
              </a:ext>
            </a:extLst>
          </a:blip>
          <a:srcRect l="11000" t="19000" r="11000" b="28000"/>
          <a:stretch>
            <a:fillRect/>
          </a:stretch>
        </p:blipFill>
        <p:spPr>
          <a:xfrm>
            <a:off x="10439400" y="381000"/>
            <a:ext cx="1143001" cy="776655"/>
          </a:xfrm>
          <a:prstGeom prst="rect">
            <a:avLst/>
          </a:prstGeom>
        </p:spPr>
      </p:pic>
      <p:sp>
        <p:nvSpPr>
          <p:cNvPr id="9" name="Rectangle: Rounded Corners 8">
            <a:extLst>
              <a:ext uri="{FF2B5EF4-FFF2-40B4-BE49-F238E27FC236}">
                <a16:creationId xmlns:a16="http://schemas.microsoft.com/office/drawing/2014/main" id="{0926FC2A-42D7-F55F-577C-30351ACEB89A}"/>
              </a:ext>
            </a:extLst>
          </p:cNvPr>
          <p:cNvSpPr/>
          <p:nvPr/>
        </p:nvSpPr>
        <p:spPr>
          <a:xfrm>
            <a:off x="609600" y="1600200"/>
            <a:ext cx="2590800" cy="1041400"/>
          </a:xfrm>
          <a:prstGeom prst="roundRect">
            <a:avLst>
              <a:gd name="adj" fmla="val 8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98EB9DA-040F-0739-943B-D29628D019D2}"/>
              </a:ext>
            </a:extLst>
          </p:cNvPr>
          <p:cNvSpPr/>
          <p:nvPr/>
        </p:nvSpPr>
        <p:spPr>
          <a:xfrm>
            <a:off x="609600" y="1778000"/>
            <a:ext cx="50800" cy="685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EFECC30-8DAE-55FB-A7A2-D16861F5F6CF}"/>
              </a:ext>
            </a:extLst>
          </p:cNvPr>
          <p:cNvSpPr txBox="1"/>
          <p:nvPr/>
        </p:nvSpPr>
        <p:spPr>
          <a:xfrm>
            <a:off x="863600" y="1752600"/>
            <a:ext cx="762000" cy="254000"/>
          </a:xfrm>
          <a:prstGeom prst="rect">
            <a:avLst/>
          </a:prstGeom>
          <a:noFill/>
        </p:spPr>
        <p:txBody>
          <a:bodyPr vert="horz" wrap="square" lIns="0" tIns="0" rIns="0" bIns="0" rtlCol="0" anchor="t">
            <a:noAutofit/>
          </a:bodyPr>
          <a:lstStyle/>
          <a:p>
            <a:r>
              <a:rPr lang="en-US" sz="1100" b="1">
                <a:solidFill>
                  <a:srgbClr val="00B4D8"/>
                </a:solidFill>
                <a:latin typeface="Segoe UI Semibold" panose="020B0702040204020203" pitchFamily="34" charset="0"/>
              </a:rPr>
              <a:t>01</a:t>
            </a:r>
          </a:p>
        </p:txBody>
      </p:sp>
      <p:sp>
        <p:nvSpPr>
          <p:cNvPr id="12" name="TextBox 11">
            <a:extLst>
              <a:ext uri="{FF2B5EF4-FFF2-40B4-BE49-F238E27FC236}">
                <a16:creationId xmlns:a16="http://schemas.microsoft.com/office/drawing/2014/main" id="{D379CBAA-FD73-376A-23F1-E2F27C5C180F}"/>
              </a:ext>
            </a:extLst>
          </p:cNvPr>
          <p:cNvSpPr txBox="1"/>
          <p:nvPr/>
        </p:nvSpPr>
        <p:spPr>
          <a:xfrm>
            <a:off x="863600" y="2032000"/>
            <a:ext cx="2184400" cy="4572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Manufacturing</a:t>
            </a:r>
          </a:p>
        </p:txBody>
      </p:sp>
      <p:sp>
        <p:nvSpPr>
          <p:cNvPr id="13" name="Rectangle: Rounded Corners 12">
            <a:extLst>
              <a:ext uri="{FF2B5EF4-FFF2-40B4-BE49-F238E27FC236}">
                <a16:creationId xmlns:a16="http://schemas.microsoft.com/office/drawing/2014/main" id="{9B5EB5CA-D398-C709-6F21-7B2C10F923CB}"/>
              </a:ext>
            </a:extLst>
          </p:cNvPr>
          <p:cNvSpPr/>
          <p:nvPr/>
        </p:nvSpPr>
        <p:spPr>
          <a:xfrm>
            <a:off x="3403600" y="1600200"/>
            <a:ext cx="2590800" cy="1041400"/>
          </a:xfrm>
          <a:prstGeom prst="roundRect">
            <a:avLst>
              <a:gd name="adj" fmla="val 8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E240DAB-66D6-64AD-B48A-9E3ACB5916B2}"/>
              </a:ext>
            </a:extLst>
          </p:cNvPr>
          <p:cNvSpPr/>
          <p:nvPr/>
        </p:nvSpPr>
        <p:spPr>
          <a:xfrm>
            <a:off x="3403600" y="1778000"/>
            <a:ext cx="50800" cy="685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55F3636-BAB4-75DF-6666-5ACA29E0C0AD}"/>
              </a:ext>
            </a:extLst>
          </p:cNvPr>
          <p:cNvSpPr txBox="1"/>
          <p:nvPr/>
        </p:nvSpPr>
        <p:spPr>
          <a:xfrm>
            <a:off x="3657600" y="1752600"/>
            <a:ext cx="762000" cy="254000"/>
          </a:xfrm>
          <a:prstGeom prst="rect">
            <a:avLst/>
          </a:prstGeom>
          <a:noFill/>
        </p:spPr>
        <p:txBody>
          <a:bodyPr vert="horz" wrap="square" lIns="0" tIns="0" rIns="0" bIns="0" rtlCol="0" anchor="t">
            <a:noAutofit/>
          </a:bodyPr>
          <a:lstStyle/>
          <a:p>
            <a:r>
              <a:rPr lang="en-US" sz="1100" b="1">
                <a:solidFill>
                  <a:srgbClr val="00B4D8"/>
                </a:solidFill>
                <a:latin typeface="Segoe UI Semibold" panose="020B0702040204020203" pitchFamily="34" charset="0"/>
              </a:rPr>
              <a:t>02</a:t>
            </a:r>
          </a:p>
        </p:txBody>
      </p:sp>
      <p:sp>
        <p:nvSpPr>
          <p:cNvPr id="16" name="TextBox 15">
            <a:extLst>
              <a:ext uri="{FF2B5EF4-FFF2-40B4-BE49-F238E27FC236}">
                <a16:creationId xmlns:a16="http://schemas.microsoft.com/office/drawing/2014/main" id="{8DF5C326-10AC-6DBD-C1CD-E85754DF09E6}"/>
              </a:ext>
            </a:extLst>
          </p:cNvPr>
          <p:cNvSpPr txBox="1"/>
          <p:nvPr/>
        </p:nvSpPr>
        <p:spPr>
          <a:xfrm>
            <a:off x="3657600" y="2032000"/>
            <a:ext cx="2184400" cy="4572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Textile &amp; Garments</a:t>
            </a:r>
          </a:p>
        </p:txBody>
      </p:sp>
      <p:sp>
        <p:nvSpPr>
          <p:cNvPr id="17" name="Rectangle: Rounded Corners 16">
            <a:extLst>
              <a:ext uri="{FF2B5EF4-FFF2-40B4-BE49-F238E27FC236}">
                <a16:creationId xmlns:a16="http://schemas.microsoft.com/office/drawing/2014/main" id="{A64A6046-B2BC-7304-5F1B-B35B0951CD1E}"/>
              </a:ext>
            </a:extLst>
          </p:cNvPr>
          <p:cNvSpPr/>
          <p:nvPr/>
        </p:nvSpPr>
        <p:spPr>
          <a:xfrm>
            <a:off x="6197600" y="1600200"/>
            <a:ext cx="2590800" cy="1041400"/>
          </a:xfrm>
          <a:prstGeom prst="roundRect">
            <a:avLst>
              <a:gd name="adj" fmla="val 8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9C894ED-C522-7B41-A56E-99766D2BA6A5}"/>
              </a:ext>
            </a:extLst>
          </p:cNvPr>
          <p:cNvSpPr/>
          <p:nvPr/>
        </p:nvSpPr>
        <p:spPr>
          <a:xfrm>
            <a:off x="6197600" y="1778000"/>
            <a:ext cx="50800" cy="685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684DD69-D25F-67B9-9CF3-D39722C4A2CD}"/>
              </a:ext>
            </a:extLst>
          </p:cNvPr>
          <p:cNvSpPr txBox="1"/>
          <p:nvPr/>
        </p:nvSpPr>
        <p:spPr>
          <a:xfrm>
            <a:off x="6451600" y="1752600"/>
            <a:ext cx="762000" cy="254000"/>
          </a:xfrm>
          <a:prstGeom prst="rect">
            <a:avLst/>
          </a:prstGeom>
          <a:noFill/>
        </p:spPr>
        <p:txBody>
          <a:bodyPr vert="horz" wrap="square" lIns="0" tIns="0" rIns="0" bIns="0" rtlCol="0" anchor="t">
            <a:noAutofit/>
          </a:bodyPr>
          <a:lstStyle/>
          <a:p>
            <a:r>
              <a:rPr lang="en-US" sz="1100" b="1">
                <a:solidFill>
                  <a:srgbClr val="00B4D8"/>
                </a:solidFill>
                <a:latin typeface="Segoe UI Semibold" panose="020B0702040204020203" pitchFamily="34" charset="0"/>
              </a:rPr>
              <a:t>03</a:t>
            </a:r>
          </a:p>
        </p:txBody>
      </p:sp>
      <p:sp>
        <p:nvSpPr>
          <p:cNvPr id="20" name="TextBox 19">
            <a:extLst>
              <a:ext uri="{FF2B5EF4-FFF2-40B4-BE49-F238E27FC236}">
                <a16:creationId xmlns:a16="http://schemas.microsoft.com/office/drawing/2014/main" id="{51DFA590-EB61-9DDA-80CC-BD118FB40AE4}"/>
              </a:ext>
            </a:extLst>
          </p:cNvPr>
          <p:cNvSpPr txBox="1"/>
          <p:nvPr/>
        </p:nvSpPr>
        <p:spPr>
          <a:xfrm>
            <a:off x="6451600" y="2032000"/>
            <a:ext cx="2184400" cy="4572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Food &amp; Beverage</a:t>
            </a:r>
          </a:p>
        </p:txBody>
      </p:sp>
      <p:sp>
        <p:nvSpPr>
          <p:cNvPr id="21" name="Rectangle: Rounded Corners 20">
            <a:extLst>
              <a:ext uri="{FF2B5EF4-FFF2-40B4-BE49-F238E27FC236}">
                <a16:creationId xmlns:a16="http://schemas.microsoft.com/office/drawing/2014/main" id="{173C91D3-6FB8-7923-1DB8-75630C72AA35}"/>
              </a:ext>
            </a:extLst>
          </p:cNvPr>
          <p:cNvSpPr/>
          <p:nvPr/>
        </p:nvSpPr>
        <p:spPr>
          <a:xfrm>
            <a:off x="8991600" y="1600200"/>
            <a:ext cx="2590800" cy="1041400"/>
          </a:xfrm>
          <a:prstGeom prst="roundRect">
            <a:avLst>
              <a:gd name="adj" fmla="val 8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A90546B-AE16-28CA-1426-9AAC82EEEDD4}"/>
              </a:ext>
            </a:extLst>
          </p:cNvPr>
          <p:cNvSpPr/>
          <p:nvPr/>
        </p:nvSpPr>
        <p:spPr>
          <a:xfrm>
            <a:off x="8991600" y="1778000"/>
            <a:ext cx="50800" cy="685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6A2F515-33EE-430C-EB18-556F57B102C9}"/>
              </a:ext>
            </a:extLst>
          </p:cNvPr>
          <p:cNvSpPr txBox="1"/>
          <p:nvPr/>
        </p:nvSpPr>
        <p:spPr>
          <a:xfrm>
            <a:off x="9245600" y="1752600"/>
            <a:ext cx="762000" cy="254000"/>
          </a:xfrm>
          <a:prstGeom prst="rect">
            <a:avLst/>
          </a:prstGeom>
          <a:noFill/>
        </p:spPr>
        <p:txBody>
          <a:bodyPr vert="horz" wrap="square" lIns="0" tIns="0" rIns="0" bIns="0" rtlCol="0" anchor="t">
            <a:noAutofit/>
          </a:bodyPr>
          <a:lstStyle/>
          <a:p>
            <a:r>
              <a:rPr lang="en-US" sz="1100" b="1">
                <a:solidFill>
                  <a:srgbClr val="00B4D8"/>
                </a:solidFill>
                <a:latin typeface="Segoe UI Semibold" panose="020B0702040204020203" pitchFamily="34" charset="0"/>
              </a:rPr>
              <a:t>04</a:t>
            </a:r>
          </a:p>
        </p:txBody>
      </p:sp>
      <p:sp>
        <p:nvSpPr>
          <p:cNvPr id="24" name="TextBox 23">
            <a:extLst>
              <a:ext uri="{FF2B5EF4-FFF2-40B4-BE49-F238E27FC236}">
                <a16:creationId xmlns:a16="http://schemas.microsoft.com/office/drawing/2014/main" id="{7F6EA19D-36F3-3F56-14AC-C5B7C0F13C93}"/>
              </a:ext>
            </a:extLst>
          </p:cNvPr>
          <p:cNvSpPr txBox="1"/>
          <p:nvPr/>
        </p:nvSpPr>
        <p:spPr>
          <a:xfrm>
            <a:off x="9245600" y="2032000"/>
            <a:ext cx="2184400" cy="4572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Packaging</a:t>
            </a:r>
          </a:p>
        </p:txBody>
      </p:sp>
      <p:sp>
        <p:nvSpPr>
          <p:cNvPr id="25" name="Rectangle: Rounded Corners 24">
            <a:extLst>
              <a:ext uri="{FF2B5EF4-FFF2-40B4-BE49-F238E27FC236}">
                <a16:creationId xmlns:a16="http://schemas.microsoft.com/office/drawing/2014/main" id="{8E1D87F9-D6AD-1682-E64E-2F27346E117B}"/>
              </a:ext>
            </a:extLst>
          </p:cNvPr>
          <p:cNvSpPr/>
          <p:nvPr/>
        </p:nvSpPr>
        <p:spPr>
          <a:xfrm>
            <a:off x="609600" y="2819400"/>
            <a:ext cx="2590800" cy="1041400"/>
          </a:xfrm>
          <a:prstGeom prst="roundRect">
            <a:avLst>
              <a:gd name="adj" fmla="val 8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B6C068F-CA29-7ED8-5292-FC2E6D8FD6FC}"/>
              </a:ext>
            </a:extLst>
          </p:cNvPr>
          <p:cNvSpPr/>
          <p:nvPr/>
        </p:nvSpPr>
        <p:spPr>
          <a:xfrm>
            <a:off x="609600" y="2997200"/>
            <a:ext cx="50800" cy="685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CB9E3DB6-98EC-6604-663C-1B5BF1959E0E}"/>
              </a:ext>
            </a:extLst>
          </p:cNvPr>
          <p:cNvSpPr txBox="1"/>
          <p:nvPr/>
        </p:nvSpPr>
        <p:spPr>
          <a:xfrm>
            <a:off x="863600" y="2971800"/>
            <a:ext cx="762000" cy="254000"/>
          </a:xfrm>
          <a:prstGeom prst="rect">
            <a:avLst/>
          </a:prstGeom>
          <a:noFill/>
        </p:spPr>
        <p:txBody>
          <a:bodyPr vert="horz" wrap="square" lIns="0" tIns="0" rIns="0" bIns="0" rtlCol="0" anchor="t">
            <a:noAutofit/>
          </a:bodyPr>
          <a:lstStyle/>
          <a:p>
            <a:r>
              <a:rPr lang="en-US" sz="1100" b="1">
                <a:solidFill>
                  <a:srgbClr val="00B4D8"/>
                </a:solidFill>
                <a:latin typeface="Segoe UI Semibold" panose="020B0702040204020203" pitchFamily="34" charset="0"/>
              </a:rPr>
              <a:t>05</a:t>
            </a:r>
          </a:p>
        </p:txBody>
      </p:sp>
      <p:sp>
        <p:nvSpPr>
          <p:cNvPr id="28" name="TextBox 27">
            <a:extLst>
              <a:ext uri="{FF2B5EF4-FFF2-40B4-BE49-F238E27FC236}">
                <a16:creationId xmlns:a16="http://schemas.microsoft.com/office/drawing/2014/main" id="{37E9B1C4-EDCD-5081-9B12-87838E7EC924}"/>
              </a:ext>
            </a:extLst>
          </p:cNvPr>
          <p:cNvSpPr txBox="1"/>
          <p:nvPr/>
        </p:nvSpPr>
        <p:spPr>
          <a:xfrm>
            <a:off x="863600" y="3251200"/>
            <a:ext cx="2184400" cy="4572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Pharmaceutical</a:t>
            </a:r>
          </a:p>
        </p:txBody>
      </p:sp>
      <p:sp>
        <p:nvSpPr>
          <p:cNvPr id="29" name="Rectangle: Rounded Corners 28">
            <a:extLst>
              <a:ext uri="{FF2B5EF4-FFF2-40B4-BE49-F238E27FC236}">
                <a16:creationId xmlns:a16="http://schemas.microsoft.com/office/drawing/2014/main" id="{57FF329E-CEA1-EF26-E9AF-030D2F5C97AB}"/>
              </a:ext>
            </a:extLst>
          </p:cNvPr>
          <p:cNvSpPr/>
          <p:nvPr/>
        </p:nvSpPr>
        <p:spPr>
          <a:xfrm>
            <a:off x="3403600" y="2819400"/>
            <a:ext cx="2590800" cy="1041400"/>
          </a:xfrm>
          <a:prstGeom prst="roundRect">
            <a:avLst>
              <a:gd name="adj" fmla="val 8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59C3178-1696-B7CE-8C17-644D11D90143}"/>
              </a:ext>
            </a:extLst>
          </p:cNvPr>
          <p:cNvSpPr/>
          <p:nvPr/>
        </p:nvSpPr>
        <p:spPr>
          <a:xfrm>
            <a:off x="3403600" y="2997200"/>
            <a:ext cx="50800" cy="685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C54EB15F-99A2-9319-EF23-D07834ECC6A2}"/>
              </a:ext>
            </a:extLst>
          </p:cNvPr>
          <p:cNvSpPr txBox="1"/>
          <p:nvPr/>
        </p:nvSpPr>
        <p:spPr>
          <a:xfrm>
            <a:off x="3657600" y="2971800"/>
            <a:ext cx="762000" cy="254000"/>
          </a:xfrm>
          <a:prstGeom prst="rect">
            <a:avLst/>
          </a:prstGeom>
          <a:noFill/>
        </p:spPr>
        <p:txBody>
          <a:bodyPr vert="horz" wrap="square" lIns="0" tIns="0" rIns="0" bIns="0" rtlCol="0" anchor="t">
            <a:noAutofit/>
          </a:bodyPr>
          <a:lstStyle/>
          <a:p>
            <a:r>
              <a:rPr lang="en-US" sz="1100" b="1">
                <a:solidFill>
                  <a:srgbClr val="00B4D8"/>
                </a:solidFill>
                <a:latin typeface="Segoe UI Semibold" panose="020B0702040204020203" pitchFamily="34" charset="0"/>
              </a:rPr>
              <a:t>06</a:t>
            </a:r>
          </a:p>
        </p:txBody>
      </p:sp>
      <p:sp>
        <p:nvSpPr>
          <p:cNvPr id="32" name="TextBox 31">
            <a:extLst>
              <a:ext uri="{FF2B5EF4-FFF2-40B4-BE49-F238E27FC236}">
                <a16:creationId xmlns:a16="http://schemas.microsoft.com/office/drawing/2014/main" id="{3B774DA6-E69B-193C-314C-6B720F6B8C9E}"/>
              </a:ext>
            </a:extLst>
          </p:cNvPr>
          <p:cNvSpPr txBox="1"/>
          <p:nvPr/>
        </p:nvSpPr>
        <p:spPr>
          <a:xfrm>
            <a:off x="3657600" y="3251200"/>
            <a:ext cx="2184400" cy="4572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Chemical Processing</a:t>
            </a:r>
          </a:p>
        </p:txBody>
      </p:sp>
      <p:sp>
        <p:nvSpPr>
          <p:cNvPr id="33" name="Rectangle: Rounded Corners 32">
            <a:extLst>
              <a:ext uri="{FF2B5EF4-FFF2-40B4-BE49-F238E27FC236}">
                <a16:creationId xmlns:a16="http://schemas.microsoft.com/office/drawing/2014/main" id="{0E6A6E44-37AD-6053-76F0-4811A0226F45}"/>
              </a:ext>
            </a:extLst>
          </p:cNvPr>
          <p:cNvSpPr/>
          <p:nvPr/>
        </p:nvSpPr>
        <p:spPr>
          <a:xfrm>
            <a:off x="6197600" y="2819400"/>
            <a:ext cx="2590800" cy="1041400"/>
          </a:xfrm>
          <a:prstGeom prst="roundRect">
            <a:avLst>
              <a:gd name="adj" fmla="val 8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06069EC6-CB3F-4565-F9BD-7283944D5C61}"/>
              </a:ext>
            </a:extLst>
          </p:cNvPr>
          <p:cNvSpPr/>
          <p:nvPr/>
        </p:nvSpPr>
        <p:spPr>
          <a:xfrm>
            <a:off x="6197600" y="2997200"/>
            <a:ext cx="50800" cy="685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9C4EBC9E-A4D5-F384-7465-B77D39D659CF}"/>
              </a:ext>
            </a:extLst>
          </p:cNvPr>
          <p:cNvSpPr txBox="1"/>
          <p:nvPr/>
        </p:nvSpPr>
        <p:spPr>
          <a:xfrm>
            <a:off x="6451600" y="2971800"/>
            <a:ext cx="762000" cy="254000"/>
          </a:xfrm>
          <a:prstGeom prst="rect">
            <a:avLst/>
          </a:prstGeom>
          <a:noFill/>
        </p:spPr>
        <p:txBody>
          <a:bodyPr vert="horz" wrap="square" lIns="0" tIns="0" rIns="0" bIns="0" rtlCol="0" anchor="t">
            <a:noAutofit/>
          </a:bodyPr>
          <a:lstStyle/>
          <a:p>
            <a:r>
              <a:rPr lang="en-US" sz="1100" b="1">
                <a:solidFill>
                  <a:srgbClr val="00B4D8"/>
                </a:solidFill>
                <a:latin typeface="Segoe UI Semibold" panose="020B0702040204020203" pitchFamily="34" charset="0"/>
              </a:rPr>
              <a:t>07</a:t>
            </a:r>
          </a:p>
        </p:txBody>
      </p:sp>
      <p:sp>
        <p:nvSpPr>
          <p:cNvPr id="36" name="TextBox 35">
            <a:extLst>
              <a:ext uri="{FF2B5EF4-FFF2-40B4-BE49-F238E27FC236}">
                <a16:creationId xmlns:a16="http://schemas.microsoft.com/office/drawing/2014/main" id="{6E64E4CF-46D8-8F06-06C8-65C8A8287BD1}"/>
              </a:ext>
            </a:extLst>
          </p:cNvPr>
          <p:cNvSpPr txBox="1"/>
          <p:nvPr/>
        </p:nvSpPr>
        <p:spPr>
          <a:xfrm>
            <a:off x="6451600" y="3251200"/>
            <a:ext cx="2184400" cy="4572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Plastic &amp; Rubber</a:t>
            </a:r>
          </a:p>
        </p:txBody>
      </p:sp>
      <p:sp>
        <p:nvSpPr>
          <p:cNvPr id="37" name="Rectangle: Rounded Corners 36">
            <a:extLst>
              <a:ext uri="{FF2B5EF4-FFF2-40B4-BE49-F238E27FC236}">
                <a16:creationId xmlns:a16="http://schemas.microsoft.com/office/drawing/2014/main" id="{F3A287C6-B51A-04DD-0186-6480164C4D0F}"/>
              </a:ext>
            </a:extLst>
          </p:cNvPr>
          <p:cNvSpPr/>
          <p:nvPr/>
        </p:nvSpPr>
        <p:spPr>
          <a:xfrm>
            <a:off x="8991600" y="2819400"/>
            <a:ext cx="2590800" cy="1041400"/>
          </a:xfrm>
          <a:prstGeom prst="roundRect">
            <a:avLst>
              <a:gd name="adj" fmla="val 8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C445B47-841A-C43A-D4D1-0C82570FB8EC}"/>
              </a:ext>
            </a:extLst>
          </p:cNvPr>
          <p:cNvSpPr/>
          <p:nvPr/>
        </p:nvSpPr>
        <p:spPr>
          <a:xfrm>
            <a:off x="8991600" y="2997200"/>
            <a:ext cx="50800" cy="685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636D425A-BE93-B655-59F4-FDE97EC8CD70}"/>
              </a:ext>
            </a:extLst>
          </p:cNvPr>
          <p:cNvSpPr txBox="1"/>
          <p:nvPr/>
        </p:nvSpPr>
        <p:spPr>
          <a:xfrm>
            <a:off x="9245600" y="2971800"/>
            <a:ext cx="762000" cy="254000"/>
          </a:xfrm>
          <a:prstGeom prst="rect">
            <a:avLst/>
          </a:prstGeom>
          <a:noFill/>
        </p:spPr>
        <p:txBody>
          <a:bodyPr vert="horz" wrap="square" lIns="0" tIns="0" rIns="0" bIns="0" rtlCol="0" anchor="t">
            <a:noAutofit/>
          </a:bodyPr>
          <a:lstStyle/>
          <a:p>
            <a:r>
              <a:rPr lang="en-US" sz="1100" b="1">
                <a:solidFill>
                  <a:srgbClr val="00B4D8"/>
                </a:solidFill>
                <a:latin typeface="Segoe UI Semibold" panose="020B0702040204020203" pitchFamily="34" charset="0"/>
              </a:rPr>
              <a:t>08</a:t>
            </a:r>
          </a:p>
        </p:txBody>
      </p:sp>
      <p:sp>
        <p:nvSpPr>
          <p:cNvPr id="40" name="TextBox 39">
            <a:extLst>
              <a:ext uri="{FF2B5EF4-FFF2-40B4-BE49-F238E27FC236}">
                <a16:creationId xmlns:a16="http://schemas.microsoft.com/office/drawing/2014/main" id="{B0F36716-4E1E-F498-DAD0-5AFA9C82EDEE}"/>
              </a:ext>
            </a:extLst>
          </p:cNvPr>
          <p:cNvSpPr txBox="1"/>
          <p:nvPr/>
        </p:nvSpPr>
        <p:spPr>
          <a:xfrm>
            <a:off x="9245600" y="3251200"/>
            <a:ext cx="2184400" cy="4572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Steel &amp; Metal</a:t>
            </a:r>
          </a:p>
        </p:txBody>
      </p:sp>
      <p:sp>
        <p:nvSpPr>
          <p:cNvPr id="41" name="Rectangle: Rounded Corners 40">
            <a:extLst>
              <a:ext uri="{FF2B5EF4-FFF2-40B4-BE49-F238E27FC236}">
                <a16:creationId xmlns:a16="http://schemas.microsoft.com/office/drawing/2014/main" id="{1E9E0457-F7B4-8195-BB4F-49176DE24174}"/>
              </a:ext>
            </a:extLst>
          </p:cNvPr>
          <p:cNvSpPr/>
          <p:nvPr/>
        </p:nvSpPr>
        <p:spPr>
          <a:xfrm>
            <a:off x="609600" y="4038600"/>
            <a:ext cx="2590800" cy="1041400"/>
          </a:xfrm>
          <a:prstGeom prst="roundRect">
            <a:avLst>
              <a:gd name="adj" fmla="val 8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9F95145A-270E-51BF-CE0E-F788CF4E8D5F}"/>
              </a:ext>
            </a:extLst>
          </p:cNvPr>
          <p:cNvSpPr/>
          <p:nvPr/>
        </p:nvSpPr>
        <p:spPr>
          <a:xfrm>
            <a:off x="609600" y="4216400"/>
            <a:ext cx="50800" cy="685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B0E60ADF-7CDE-F863-0275-47AF081C2F94}"/>
              </a:ext>
            </a:extLst>
          </p:cNvPr>
          <p:cNvSpPr txBox="1"/>
          <p:nvPr/>
        </p:nvSpPr>
        <p:spPr>
          <a:xfrm>
            <a:off x="863600" y="4191000"/>
            <a:ext cx="762000" cy="254000"/>
          </a:xfrm>
          <a:prstGeom prst="rect">
            <a:avLst/>
          </a:prstGeom>
          <a:noFill/>
        </p:spPr>
        <p:txBody>
          <a:bodyPr vert="horz" wrap="square" lIns="0" tIns="0" rIns="0" bIns="0" rtlCol="0" anchor="t">
            <a:noAutofit/>
          </a:bodyPr>
          <a:lstStyle/>
          <a:p>
            <a:r>
              <a:rPr lang="en-US" sz="1100" b="1">
                <a:solidFill>
                  <a:srgbClr val="00B4D8"/>
                </a:solidFill>
                <a:latin typeface="Segoe UI Semibold" panose="020B0702040204020203" pitchFamily="34" charset="0"/>
              </a:rPr>
              <a:t>09</a:t>
            </a:r>
          </a:p>
        </p:txBody>
      </p:sp>
      <p:sp>
        <p:nvSpPr>
          <p:cNvPr id="44" name="TextBox 43">
            <a:extLst>
              <a:ext uri="{FF2B5EF4-FFF2-40B4-BE49-F238E27FC236}">
                <a16:creationId xmlns:a16="http://schemas.microsoft.com/office/drawing/2014/main" id="{005F9F06-929B-620E-2870-D17F11A27D6A}"/>
              </a:ext>
            </a:extLst>
          </p:cNvPr>
          <p:cNvSpPr txBox="1"/>
          <p:nvPr/>
        </p:nvSpPr>
        <p:spPr>
          <a:xfrm>
            <a:off x="863600" y="4470400"/>
            <a:ext cx="2184400" cy="4572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Cement</a:t>
            </a:r>
          </a:p>
        </p:txBody>
      </p:sp>
      <p:sp>
        <p:nvSpPr>
          <p:cNvPr id="45" name="Rectangle: Rounded Corners 44">
            <a:extLst>
              <a:ext uri="{FF2B5EF4-FFF2-40B4-BE49-F238E27FC236}">
                <a16:creationId xmlns:a16="http://schemas.microsoft.com/office/drawing/2014/main" id="{F9CB1D50-9F0B-514C-845A-52CA29A56064}"/>
              </a:ext>
            </a:extLst>
          </p:cNvPr>
          <p:cNvSpPr/>
          <p:nvPr/>
        </p:nvSpPr>
        <p:spPr>
          <a:xfrm>
            <a:off x="3403600" y="4038600"/>
            <a:ext cx="2590800" cy="1041400"/>
          </a:xfrm>
          <a:prstGeom prst="roundRect">
            <a:avLst>
              <a:gd name="adj" fmla="val 8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F0AB34C0-5AB0-CC71-7F91-F6DD54A0D0CE}"/>
              </a:ext>
            </a:extLst>
          </p:cNvPr>
          <p:cNvSpPr/>
          <p:nvPr/>
        </p:nvSpPr>
        <p:spPr>
          <a:xfrm>
            <a:off x="3403600" y="4216400"/>
            <a:ext cx="50800" cy="685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7C6769DA-C3D5-979A-C402-EB7400D954AA}"/>
              </a:ext>
            </a:extLst>
          </p:cNvPr>
          <p:cNvSpPr txBox="1"/>
          <p:nvPr/>
        </p:nvSpPr>
        <p:spPr>
          <a:xfrm>
            <a:off x="3657600" y="4191000"/>
            <a:ext cx="762000" cy="254000"/>
          </a:xfrm>
          <a:prstGeom prst="rect">
            <a:avLst/>
          </a:prstGeom>
          <a:noFill/>
        </p:spPr>
        <p:txBody>
          <a:bodyPr vert="horz" wrap="square" lIns="0" tIns="0" rIns="0" bIns="0" rtlCol="0" anchor="t">
            <a:noAutofit/>
          </a:bodyPr>
          <a:lstStyle/>
          <a:p>
            <a:r>
              <a:rPr lang="en-US" sz="1100" b="1">
                <a:solidFill>
                  <a:srgbClr val="00B4D8"/>
                </a:solidFill>
                <a:latin typeface="Segoe UI Semibold" panose="020B0702040204020203" pitchFamily="34" charset="0"/>
              </a:rPr>
              <a:t>10</a:t>
            </a:r>
          </a:p>
        </p:txBody>
      </p:sp>
      <p:sp>
        <p:nvSpPr>
          <p:cNvPr id="48" name="TextBox 47">
            <a:extLst>
              <a:ext uri="{FF2B5EF4-FFF2-40B4-BE49-F238E27FC236}">
                <a16:creationId xmlns:a16="http://schemas.microsoft.com/office/drawing/2014/main" id="{9C37C940-1C10-FAF4-2529-8812E13F9C72}"/>
              </a:ext>
            </a:extLst>
          </p:cNvPr>
          <p:cNvSpPr txBox="1"/>
          <p:nvPr/>
        </p:nvSpPr>
        <p:spPr>
          <a:xfrm>
            <a:off x="3657600" y="4470400"/>
            <a:ext cx="2184400" cy="4572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Power &amp; Energy</a:t>
            </a:r>
          </a:p>
        </p:txBody>
      </p:sp>
      <p:sp>
        <p:nvSpPr>
          <p:cNvPr id="49" name="Rectangle: Rounded Corners 48">
            <a:extLst>
              <a:ext uri="{FF2B5EF4-FFF2-40B4-BE49-F238E27FC236}">
                <a16:creationId xmlns:a16="http://schemas.microsoft.com/office/drawing/2014/main" id="{2CA61BD6-93C7-E7AE-BABC-0ADD2321947C}"/>
              </a:ext>
            </a:extLst>
          </p:cNvPr>
          <p:cNvSpPr/>
          <p:nvPr/>
        </p:nvSpPr>
        <p:spPr>
          <a:xfrm>
            <a:off x="6197600" y="4038600"/>
            <a:ext cx="2590800" cy="1041400"/>
          </a:xfrm>
          <a:prstGeom prst="roundRect">
            <a:avLst>
              <a:gd name="adj" fmla="val 8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3F876FA3-0806-2936-A414-99923AF57976}"/>
              </a:ext>
            </a:extLst>
          </p:cNvPr>
          <p:cNvSpPr/>
          <p:nvPr/>
        </p:nvSpPr>
        <p:spPr>
          <a:xfrm>
            <a:off x="6197600" y="4216400"/>
            <a:ext cx="50800" cy="685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656E8A48-DAA7-3CAC-FC90-B87C52001987}"/>
              </a:ext>
            </a:extLst>
          </p:cNvPr>
          <p:cNvSpPr txBox="1"/>
          <p:nvPr/>
        </p:nvSpPr>
        <p:spPr>
          <a:xfrm>
            <a:off x="6451600" y="4191000"/>
            <a:ext cx="762000" cy="254000"/>
          </a:xfrm>
          <a:prstGeom prst="rect">
            <a:avLst/>
          </a:prstGeom>
          <a:noFill/>
        </p:spPr>
        <p:txBody>
          <a:bodyPr vert="horz" wrap="square" lIns="0" tIns="0" rIns="0" bIns="0" rtlCol="0" anchor="t">
            <a:noAutofit/>
          </a:bodyPr>
          <a:lstStyle/>
          <a:p>
            <a:r>
              <a:rPr lang="en-US" sz="1100" b="1">
                <a:solidFill>
                  <a:srgbClr val="00B4D8"/>
                </a:solidFill>
                <a:latin typeface="Segoe UI Semibold" panose="020B0702040204020203" pitchFamily="34" charset="0"/>
              </a:rPr>
              <a:t>11</a:t>
            </a:r>
          </a:p>
        </p:txBody>
      </p:sp>
      <p:sp>
        <p:nvSpPr>
          <p:cNvPr id="52" name="TextBox 51">
            <a:extLst>
              <a:ext uri="{FF2B5EF4-FFF2-40B4-BE49-F238E27FC236}">
                <a16:creationId xmlns:a16="http://schemas.microsoft.com/office/drawing/2014/main" id="{F50858AF-0FB4-02B7-EDAF-E44E5E4412DC}"/>
              </a:ext>
            </a:extLst>
          </p:cNvPr>
          <p:cNvSpPr txBox="1"/>
          <p:nvPr/>
        </p:nvSpPr>
        <p:spPr>
          <a:xfrm>
            <a:off x="6451600" y="4470400"/>
            <a:ext cx="2184400" cy="4572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Water &amp; Wastewater</a:t>
            </a:r>
          </a:p>
        </p:txBody>
      </p:sp>
      <p:sp>
        <p:nvSpPr>
          <p:cNvPr id="53" name="Rectangle: Rounded Corners 52">
            <a:extLst>
              <a:ext uri="{FF2B5EF4-FFF2-40B4-BE49-F238E27FC236}">
                <a16:creationId xmlns:a16="http://schemas.microsoft.com/office/drawing/2014/main" id="{78092025-26A5-E9B7-5855-769C4C684A52}"/>
              </a:ext>
            </a:extLst>
          </p:cNvPr>
          <p:cNvSpPr/>
          <p:nvPr/>
        </p:nvSpPr>
        <p:spPr>
          <a:xfrm>
            <a:off x="8991600" y="4038600"/>
            <a:ext cx="2590800" cy="1041400"/>
          </a:xfrm>
          <a:prstGeom prst="roundRect">
            <a:avLst>
              <a:gd name="adj" fmla="val 8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D0E120F5-51E5-DC0A-341E-6D095340C49E}"/>
              </a:ext>
            </a:extLst>
          </p:cNvPr>
          <p:cNvSpPr/>
          <p:nvPr/>
        </p:nvSpPr>
        <p:spPr>
          <a:xfrm>
            <a:off x="8991600" y="4216400"/>
            <a:ext cx="50800" cy="685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C3001660-6761-904F-E21C-80B7532972D2}"/>
              </a:ext>
            </a:extLst>
          </p:cNvPr>
          <p:cNvSpPr txBox="1"/>
          <p:nvPr/>
        </p:nvSpPr>
        <p:spPr>
          <a:xfrm>
            <a:off x="9245600" y="4191000"/>
            <a:ext cx="762000" cy="254000"/>
          </a:xfrm>
          <a:prstGeom prst="rect">
            <a:avLst/>
          </a:prstGeom>
          <a:noFill/>
        </p:spPr>
        <p:txBody>
          <a:bodyPr vert="horz" wrap="square" lIns="0" tIns="0" rIns="0" bIns="0" rtlCol="0" anchor="t">
            <a:noAutofit/>
          </a:bodyPr>
          <a:lstStyle/>
          <a:p>
            <a:r>
              <a:rPr lang="en-US" sz="1100" b="1">
                <a:solidFill>
                  <a:srgbClr val="00B4D8"/>
                </a:solidFill>
                <a:latin typeface="Segoe UI Semibold" panose="020B0702040204020203" pitchFamily="34" charset="0"/>
              </a:rPr>
              <a:t>12</a:t>
            </a:r>
          </a:p>
        </p:txBody>
      </p:sp>
      <p:sp>
        <p:nvSpPr>
          <p:cNvPr id="56" name="TextBox 55">
            <a:extLst>
              <a:ext uri="{FF2B5EF4-FFF2-40B4-BE49-F238E27FC236}">
                <a16:creationId xmlns:a16="http://schemas.microsoft.com/office/drawing/2014/main" id="{D1EB202C-B501-1BB1-2A1E-01552F9BE08A}"/>
              </a:ext>
            </a:extLst>
          </p:cNvPr>
          <p:cNvSpPr txBox="1"/>
          <p:nvPr/>
        </p:nvSpPr>
        <p:spPr>
          <a:xfrm>
            <a:off x="9245600" y="4470400"/>
            <a:ext cx="2184400" cy="4572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HVAC &amp; Cooling</a:t>
            </a:r>
          </a:p>
        </p:txBody>
      </p:sp>
      <p:sp>
        <p:nvSpPr>
          <p:cNvPr id="57" name="Rectangle: Rounded Corners 56">
            <a:extLst>
              <a:ext uri="{FF2B5EF4-FFF2-40B4-BE49-F238E27FC236}">
                <a16:creationId xmlns:a16="http://schemas.microsoft.com/office/drawing/2014/main" id="{CDDB6145-E057-9759-95FC-7A295657B4C2}"/>
              </a:ext>
            </a:extLst>
          </p:cNvPr>
          <p:cNvSpPr/>
          <p:nvPr/>
        </p:nvSpPr>
        <p:spPr>
          <a:xfrm>
            <a:off x="609600" y="5384800"/>
            <a:ext cx="10972800" cy="711200"/>
          </a:xfrm>
          <a:prstGeom prst="roundRect">
            <a:avLst>
              <a:gd name="adj" fmla="val 15000"/>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18693897-A0F3-6872-9065-4F9827C99325}"/>
              </a:ext>
            </a:extLst>
          </p:cNvPr>
          <p:cNvSpPr txBox="1"/>
          <p:nvPr/>
        </p:nvSpPr>
        <p:spPr>
          <a:xfrm>
            <a:off x="609600" y="5384800"/>
            <a:ext cx="10972800" cy="711200"/>
          </a:xfrm>
          <a:prstGeom prst="rect">
            <a:avLst/>
          </a:prstGeom>
          <a:noFill/>
        </p:spPr>
        <p:txBody>
          <a:bodyPr vert="horz" wrap="square" lIns="0" tIns="0" rIns="0" bIns="0" rtlCol="0" anchor="ctr">
            <a:noAutofit/>
          </a:bodyPr>
          <a:lstStyle/>
          <a:p>
            <a:pPr algn="ctr"/>
            <a:r>
              <a:rPr lang="en-US" sz="1300">
                <a:solidFill>
                  <a:srgbClr val="FFFFFF"/>
                </a:solidFill>
                <a:latin typeface="Segoe UI" panose="020B0502040204020203" pitchFamily="34" charset="0"/>
              </a:rPr>
              <a:t>Automation, control, monitoring &amp; engineering support — tailored to each application requirement.</a:t>
            </a:r>
          </a:p>
        </p:txBody>
      </p:sp>
      <p:sp>
        <p:nvSpPr>
          <p:cNvPr id="59" name="Rectangle 58">
            <a:extLst>
              <a:ext uri="{FF2B5EF4-FFF2-40B4-BE49-F238E27FC236}">
                <a16:creationId xmlns:a16="http://schemas.microsoft.com/office/drawing/2014/main" id="{A9EFFFDC-D506-2FFE-E937-6FA9E490722F}"/>
              </a:ext>
            </a:extLst>
          </p:cNvPr>
          <p:cNvSpPr/>
          <p:nvPr/>
        </p:nvSpPr>
        <p:spPr>
          <a:xfrm>
            <a:off x="609600" y="6388100"/>
            <a:ext cx="109728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579558E3-B6A8-1F60-7170-FB66E0EB0429}"/>
              </a:ext>
            </a:extLst>
          </p:cNvPr>
          <p:cNvSpPr txBox="1"/>
          <p:nvPr/>
        </p:nvSpPr>
        <p:spPr>
          <a:xfrm>
            <a:off x="609600" y="6489700"/>
            <a:ext cx="6350000" cy="177800"/>
          </a:xfrm>
          <a:prstGeom prst="rect">
            <a:avLst/>
          </a:prstGeom>
          <a:noFill/>
        </p:spPr>
        <p:txBody>
          <a:bodyPr vert="horz" wrap="square" lIns="0" tIns="0" rIns="0" bIns="0" rtlCol="0" anchor="t">
            <a:noAutofit/>
          </a:bodyPr>
          <a:lstStyle/>
          <a:p>
            <a:r>
              <a:rPr lang="en-US" sz="850" spc="100">
                <a:solidFill>
                  <a:srgbClr val="5B6B80"/>
                </a:solidFill>
                <a:latin typeface="Segoe UI" panose="020B0502040204020203" pitchFamily="34" charset="0"/>
              </a:rPr>
              <a:t>MECHWARE  |  TECHNOLOGY FOR SMARTER SYSTEMS</a:t>
            </a:r>
          </a:p>
        </p:txBody>
      </p:sp>
      <p:sp>
        <p:nvSpPr>
          <p:cNvPr id="61" name="TextBox 60">
            <a:extLst>
              <a:ext uri="{FF2B5EF4-FFF2-40B4-BE49-F238E27FC236}">
                <a16:creationId xmlns:a16="http://schemas.microsoft.com/office/drawing/2014/main" id="{FCAA6ECA-025E-ACEB-4100-3200B4F2EABB}"/>
              </a:ext>
            </a:extLst>
          </p:cNvPr>
          <p:cNvSpPr txBox="1"/>
          <p:nvPr/>
        </p:nvSpPr>
        <p:spPr>
          <a:xfrm>
            <a:off x="7772400" y="6489700"/>
            <a:ext cx="3810000" cy="177800"/>
          </a:xfrm>
          <a:prstGeom prst="rect">
            <a:avLst/>
          </a:prstGeom>
          <a:noFill/>
        </p:spPr>
        <p:txBody>
          <a:bodyPr vert="horz" wrap="square" lIns="0" tIns="0" rIns="0" bIns="0" rtlCol="0" anchor="t">
            <a:noAutofit/>
          </a:bodyPr>
          <a:lstStyle/>
          <a:p>
            <a:pPr algn="r"/>
            <a:r>
              <a:rPr lang="en-US" sz="950" b="1">
                <a:solidFill>
                  <a:srgbClr val="0B1F3A"/>
                </a:solidFill>
                <a:latin typeface="Segoe UI Semibold" panose="020B0702040204020203" pitchFamily="34" charset="0"/>
              </a:rPr>
              <a:t>07</a:t>
            </a:r>
          </a:p>
        </p:txBody>
      </p:sp>
    </p:spTree>
    <p:extLst>
      <p:ext uri="{BB962C8B-B14F-4D97-AF65-F5344CB8AC3E}">
        <p14:creationId xmlns:p14="http://schemas.microsoft.com/office/powerpoint/2010/main" val="280946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11F53C3-64B3-519E-A66D-70D7921FE364}"/>
              </a:ext>
            </a:extLst>
          </p:cNvPr>
          <p:cNvSpPr/>
          <p:nvPr/>
        </p:nvSpPr>
        <p:spPr>
          <a:xfrm>
            <a:off x="0" y="0"/>
            <a:ext cx="12192000" cy="1016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55E32A5-8209-1A1E-DEBE-883B9A8BD480}"/>
              </a:ext>
            </a:extLst>
          </p:cNvPr>
          <p:cNvSpPr/>
          <p:nvPr/>
        </p:nvSpPr>
        <p:spPr>
          <a:xfrm>
            <a:off x="0" y="0"/>
            <a:ext cx="2794000" cy="101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2031B01-06C6-5E79-DA63-BF7240B35E70}"/>
              </a:ext>
            </a:extLst>
          </p:cNvPr>
          <p:cNvSpPr txBox="1"/>
          <p:nvPr/>
        </p:nvSpPr>
        <p:spPr>
          <a:xfrm>
            <a:off x="609600" y="381000"/>
            <a:ext cx="8890000" cy="203200"/>
          </a:xfrm>
          <a:prstGeom prst="rect">
            <a:avLst/>
          </a:prstGeom>
          <a:noFill/>
        </p:spPr>
        <p:txBody>
          <a:bodyPr vert="horz" wrap="square" lIns="0" tIns="0" rIns="0" bIns="0" rtlCol="0" anchor="t">
            <a:noAutofit/>
          </a:bodyPr>
          <a:lstStyle/>
          <a:p>
            <a:r>
              <a:rPr lang="en-US" sz="1050" b="1" spc="250">
                <a:solidFill>
                  <a:srgbClr val="00B4D8"/>
                </a:solidFill>
                <a:latin typeface="Segoe UI Semibold" panose="020B0702040204020203" pitchFamily="34" charset="0"/>
              </a:rPr>
              <a:t>06  —  DIGITAL TRANSFORMATION</a:t>
            </a:r>
          </a:p>
        </p:txBody>
      </p:sp>
      <p:sp>
        <p:nvSpPr>
          <p:cNvPr id="5" name="TextBox 4">
            <a:extLst>
              <a:ext uri="{FF2B5EF4-FFF2-40B4-BE49-F238E27FC236}">
                <a16:creationId xmlns:a16="http://schemas.microsoft.com/office/drawing/2014/main" id="{FA9B6A3C-FBA9-FCDE-9590-5570428D6945}"/>
              </a:ext>
            </a:extLst>
          </p:cNvPr>
          <p:cNvSpPr txBox="1"/>
          <p:nvPr/>
        </p:nvSpPr>
        <p:spPr>
          <a:xfrm>
            <a:off x="609600" y="609600"/>
            <a:ext cx="9652000" cy="558800"/>
          </a:xfrm>
          <a:prstGeom prst="rect">
            <a:avLst/>
          </a:prstGeom>
          <a:noFill/>
        </p:spPr>
        <p:txBody>
          <a:bodyPr vert="horz" wrap="square" lIns="0" tIns="0" rIns="0" bIns="0" rtlCol="0" anchor="t">
            <a:noAutofit/>
          </a:bodyPr>
          <a:lstStyle/>
          <a:p>
            <a:r>
              <a:rPr lang="en-US" sz="2800" b="1">
                <a:solidFill>
                  <a:srgbClr val="0B1F3A"/>
                </a:solidFill>
                <a:latin typeface="Segoe UI Semibold" panose="020B0702040204020203" pitchFamily="34" charset="0"/>
              </a:rPr>
              <a:t>Your Gateway to Industry 4.0</a:t>
            </a:r>
          </a:p>
        </p:txBody>
      </p:sp>
      <p:sp>
        <p:nvSpPr>
          <p:cNvPr id="6" name="Rectangle 5">
            <a:extLst>
              <a:ext uri="{FF2B5EF4-FFF2-40B4-BE49-F238E27FC236}">
                <a16:creationId xmlns:a16="http://schemas.microsoft.com/office/drawing/2014/main" id="{308C14C5-6988-66B9-0805-9D6A461A54E5}"/>
              </a:ext>
            </a:extLst>
          </p:cNvPr>
          <p:cNvSpPr/>
          <p:nvPr/>
        </p:nvSpPr>
        <p:spPr>
          <a:xfrm>
            <a:off x="609600" y="1244600"/>
            <a:ext cx="711200" cy="50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B4099DD8-771A-9468-DB52-59C4D9E5D574}"/>
              </a:ext>
            </a:extLst>
          </p:cNvPr>
          <p:cNvPicPr>
            <a:picLocks/>
          </p:cNvPicPr>
          <p:nvPr/>
        </p:nvPicPr>
        <p:blipFill>
          <a:blip>
            <a:extLst>
              <a:ext uri="{96DAC541-7B7A-43D3-8B79-37D633B846F1}">
                <asvg:svgBlip xmlns:asvg="http://schemas.microsoft.com/office/drawing/2016/SVG/main" r:embed="rId2"/>
              </a:ext>
            </a:extLst>
          </a:blip>
          <a:srcRect l="11000" t="19000" r="11000" b="28000"/>
          <a:stretch>
            <a:fillRect/>
          </a:stretch>
        </p:blipFill>
        <p:spPr>
          <a:xfrm>
            <a:off x="10439400" y="381000"/>
            <a:ext cx="1143001" cy="776655"/>
          </a:xfrm>
          <a:prstGeom prst="rect">
            <a:avLst/>
          </a:prstGeom>
        </p:spPr>
      </p:pic>
      <p:sp>
        <p:nvSpPr>
          <p:cNvPr id="9" name="Arrow: Pentagon 8">
            <a:extLst>
              <a:ext uri="{FF2B5EF4-FFF2-40B4-BE49-F238E27FC236}">
                <a16:creationId xmlns:a16="http://schemas.microsoft.com/office/drawing/2014/main" id="{34F0BAE3-AA86-4E9E-7A68-30C14301B62A}"/>
              </a:ext>
            </a:extLst>
          </p:cNvPr>
          <p:cNvSpPr/>
          <p:nvPr/>
        </p:nvSpPr>
        <p:spPr>
          <a:xfrm>
            <a:off x="609600" y="1574800"/>
            <a:ext cx="2362200" cy="787400"/>
          </a:xfrm>
          <a:prstGeom prst="homePlate">
            <a:avLst>
              <a:gd name="adj" fmla="val 28000"/>
            </a:avLst>
          </a:prstGeom>
          <a:solidFill>
            <a:srgbClr val="0B1F3A"/>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157D2DB-1B43-5CB1-DA24-6CCA631E3034}"/>
              </a:ext>
            </a:extLst>
          </p:cNvPr>
          <p:cNvSpPr txBox="1"/>
          <p:nvPr/>
        </p:nvSpPr>
        <p:spPr>
          <a:xfrm>
            <a:off x="762000" y="1574800"/>
            <a:ext cx="1905000" cy="787400"/>
          </a:xfrm>
          <a:prstGeom prst="rect">
            <a:avLst/>
          </a:prstGeom>
          <a:noFill/>
        </p:spPr>
        <p:txBody>
          <a:bodyPr vert="horz" wrap="square" lIns="0" tIns="0" rIns="0" bIns="0" rtlCol="0" anchor="ctr">
            <a:noAutofit/>
          </a:bodyPr>
          <a:lstStyle/>
          <a:p>
            <a:pPr algn="ctr"/>
            <a:r>
              <a:rPr lang="en-US" sz="1300" b="1">
                <a:solidFill>
                  <a:srgbClr val="FFFFFF"/>
                </a:solidFill>
                <a:latin typeface="Segoe UI Semibold" panose="020B0702040204020203" pitchFamily="34" charset="0"/>
              </a:rPr>
              <a:t>Connected Machines</a:t>
            </a:r>
          </a:p>
        </p:txBody>
      </p:sp>
      <p:sp>
        <p:nvSpPr>
          <p:cNvPr id="11" name="Arrow: Pentagon 10">
            <a:extLst>
              <a:ext uri="{FF2B5EF4-FFF2-40B4-BE49-F238E27FC236}">
                <a16:creationId xmlns:a16="http://schemas.microsoft.com/office/drawing/2014/main" id="{C05ACE25-FFFB-55F8-361A-683D8414591B}"/>
              </a:ext>
            </a:extLst>
          </p:cNvPr>
          <p:cNvSpPr/>
          <p:nvPr/>
        </p:nvSpPr>
        <p:spPr>
          <a:xfrm>
            <a:off x="2819400" y="1574800"/>
            <a:ext cx="2362200" cy="787400"/>
          </a:xfrm>
          <a:prstGeom prst="homePlate">
            <a:avLst>
              <a:gd name="adj" fmla="val 28000"/>
            </a:avLst>
          </a:prstGeom>
          <a:solidFill>
            <a:srgbClr val="0B1F3A"/>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5D22FE6-0468-42C9-6458-22624AF96C21}"/>
              </a:ext>
            </a:extLst>
          </p:cNvPr>
          <p:cNvSpPr txBox="1"/>
          <p:nvPr/>
        </p:nvSpPr>
        <p:spPr>
          <a:xfrm>
            <a:off x="2971800" y="1574800"/>
            <a:ext cx="1905000" cy="787400"/>
          </a:xfrm>
          <a:prstGeom prst="rect">
            <a:avLst/>
          </a:prstGeom>
          <a:noFill/>
        </p:spPr>
        <p:txBody>
          <a:bodyPr vert="horz" wrap="square" lIns="0" tIns="0" rIns="0" bIns="0" rtlCol="0" anchor="ctr">
            <a:noAutofit/>
          </a:bodyPr>
          <a:lstStyle/>
          <a:p>
            <a:pPr algn="ctr"/>
            <a:r>
              <a:rPr lang="en-US" sz="1300" b="1">
                <a:solidFill>
                  <a:srgbClr val="FFFFFF"/>
                </a:solidFill>
                <a:latin typeface="Segoe UI Semibold" panose="020B0702040204020203" pitchFamily="34" charset="0"/>
              </a:rPr>
              <a:t>Smart Sensors</a:t>
            </a:r>
          </a:p>
        </p:txBody>
      </p:sp>
      <p:sp>
        <p:nvSpPr>
          <p:cNvPr id="13" name="Arrow: Pentagon 12">
            <a:extLst>
              <a:ext uri="{FF2B5EF4-FFF2-40B4-BE49-F238E27FC236}">
                <a16:creationId xmlns:a16="http://schemas.microsoft.com/office/drawing/2014/main" id="{3396309A-18A4-CF24-8388-E833AAE328B9}"/>
              </a:ext>
            </a:extLst>
          </p:cNvPr>
          <p:cNvSpPr/>
          <p:nvPr/>
        </p:nvSpPr>
        <p:spPr>
          <a:xfrm>
            <a:off x="5029200" y="1574800"/>
            <a:ext cx="2362200" cy="787400"/>
          </a:xfrm>
          <a:prstGeom prst="homePlate">
            <a:avLst>
              <a:gd name="adj" fmla="val 28000"/>
            </a:avLst>
          </a:prstGeom>
          <a:solidFill>
            <a:srgbClr val="0B1F3A"/>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65AB8B7-5991-6D96-FDFC-8F5C7EF97F28}"/>
              </a:ext>
            </a:extLst>
          </p:cNvPr>
          <p:cNvSpPr txBox="1"/>
          <p:nvPr/>
        </p:nvSpPr>
        <p:spPr>
          <a:xfrm>
            <a:off x="5181600" y="1574800"/>
            <a:ext cx="1905000" cy="787400"/>
          </a:xfrm>
          <a:prstGeom prst="rect">
            <a:avLst/>
          </a:prstGeom>
          <a:noFill/>
        </p:spPr>
        <p:txBody>
          <a:bodyPr vert="horz" wrap="square" lIns="0" tIns="0" rIns="0" bIns="0" rtlCol="0" anchor="ctr">
            <a:noAutofit/>
          </a:bodyPr>
          <a:lstStyle/>
          <a:p>
            <a:pPr algn="ctr"/>
            <a:r>
              <a:rPr lang="en-US" sz="1300" b="1">
                <a:solidFill>
                  <a:srgbClr val="FFFFFF"/>
                </a:solidFill>
                <a:latin typeface="Segoe UI Semibold" panose="020B0702040204020203" pitchFamily="34" charset="0"/>
              </a:rPr>
              <a:t>Industrial Data</a:t>
            </a:r>
          </a:p>
        </p:txBody>
      </p:sp>
      <p:sp>
        <p:nvSpPr>
          <p:cNvPr id="15" name="Arrow: Pentagon 14">
            <a:extLst>
              <a:ext uri="{FF2B5EF4-FFF2-40B4-BE49-F238E27FC236}">
                <a16:creationId xmlns:a16="http://schemas.microsoft.com/office/drawing/2014/main" id="{53109254-B79F-80DB-828D-530526A7FF0E}"/>
              </a:ext>
            </a:extLst>
          </p:cNvPr>
          <p:cNvSpPr/>
          <p:nvPr/>
        </p:nvSpPr>
        <p:spPr>
          <a:xfrm>
            <a:off x="7239000" y="1574800"/>
            <a:ext cx="2362200" cy="787400"/>
          </a:xfrm>
          <a:prstGeom prst="homePlate">
            <a:avLst>
              <a:gd name="adj" fmla="val 28000"/>
            </a:avLst>
          </a:prstGeom>
          <a:solidFill>
            <a:srgbClr val="0B1F3A"/>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EEF2005-2E4A-EF46-8BE9-97F2BD87E6A3}"/>
              </a:ext>
            </a:extLst>
          </p:cNvPr>
          <p:cNvSpPr txBox="1"/>
          <p:nvPr/>
        </p:nvSpPr>
        <p:spPr>
          <a:xfrm>
            <a:off x="7391400" y="1574800"/>
            <a:ext cx="1905000" cy="787400"/>
          </a:xfrm>
          <a:prstGeom prst="rect">
            <a:avLst/>
          </a:prstGeom>
          <a:noFill/>
        </p:spPr>
        <p:txBody>
          <a:bodyPr vert="horz" wrap="square" lIns="0" tIns="0" rIns="0" bIns="0" rtlCol="0" anchor="ctr">
            <a:noAutofit/>
          </a:bodyPr>
          <a:lstStyle/>
          <a:p>
            <a:pPr algn="ctr"/>
            <a:r>
              <a:rPr lang="en-US" sz="1300" b="1">
                <a:solidFill>
                  <a:srgbClr val="FFFFFF"/>
                </a:solidFill>
                <a:latin typeface="Segoe UI Semibold" panose="020B0702040204020203" pitchFamily="34" charset="0"/>
              </a:rPr>
              <a:t>Real-Time Monitoring</a:t>
            </a:r>
          </a:p>
        </p:txBody>
      </p:sp>
      <p:sp>
        <p:nvSpPr>
          <p:cNvPr id="17" name="Arrow: Pentagon 16">
            <a:extLst>
              <a:ext uri="{FF2B5EF4-FFF2-40B4-BE49-F238E27FC236}">
                <a16:creationId xmlns:a16="http://schemas.microsoft.com/office/drawing/2014/main" id="{8EB3350A-BEC1-903C-DD88-ADFC565E146F}"/>
              </a:ext>
            </a:extLst>
          </p:cNvPr>
          <p:cNvSpPr/>
          <p:nvPr/>
        </p:nvSpPr>
        <p:spPr>
          <a:xfrm>
            <a:off x="9448800" y="1574800"/>
            <a:ext cx="2362200" cy="787400"/>
          </a:xfrm>
          <a:prstGeom prst="homePlate">
            <a:avLst>
              <a:gd name="adj" fmla="val 28000"/>
            </a:avLst>
          </a:prstGeom>
          <a:solidFill>
            <a:srgbClr val="00B4D8"/>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C0A98A8-9D3F-EFE0-10FF-81851B87BCC4}"/>
              </a:ext>
            </a:extLst>
          </p:cNvPr>
          <p:cNvSpPr txBox="1"/>
          <p:nvPr/>
        </p:nvSpPr>
        <p:spPr>
          <a:xfrm>
            <a:off x="9601200" y="1574800"/>
            <a:ext cx="1905000" cy="787400"/>
          </a:xfrm>
          <a:prstGeom prst="rect">
            <a:avLst/>
          </a:prstGeom>
          <a:noFill/>
        </p:spPr>
        <p:txBody>
          <a:bodyPr vert="horz" wrap="square" lIns="0" tIns="0" rIns="0" bIns="0" rtlCol="0" anchor="ctr">
            <a:noAutofit/>
          </a:bodyPr>
          <a:lstStyle/>
          <a:p>
            <a:pPr algn="ctr"/>
            <a:r>
              <a:rPr lang="en-US" sz="1300" b="1">
                <a:solidFill>
                  <a:srgbClr val="FFFFFF"/>
                </a:solidFill>
                <a:latin typeface="Segoe UI Semibold" panose="020B0702040204020203" pitchFamily="34" charset="0"/>
              </a:rPr>
              <a:t>Smarter Decisions</a:t>
            </a:r>
          </a:p>
        </p:txBody>
      </p:sp>
      <p:sp>
        <p:nvSpPr>
          <p:cNvPr id="19" name="TextBox 18">
            <a:extLst>
              <a:ext uri="{FF2B5EF4-FFF2-40B4-BE49-F238E27FC236}">
                <a16:creationId xmlns:a16="http://schemas.microsoft.com/office/drawing/2014/main" id="{9A88B162-32D5-877E-0BEA-7866924D2B14}"/>
              </a:ext>
            </a:extLst>
          </p:cNvPr>
          <p:cNvSpPr txBox="1"/>
          <p:nvPr/>
        </p:nvSpPr>
        <p:spPr>
          <a:xfrm>
            <a:off x="609600" y="2616200"/>
            <a:ext cx="10972800" cy="431800"/>
          </a:xfrm>
          <a:prstGeom prst="rect">
            <a:avLst/>
          </a:prstGeom>
          <a:noFill/>
        </p:spPr>
        <p:txBody>
          <a:bodyPr vert="horz" wrap="square" lIns="0" tIns="0" rIns="0" bIns="0" rtlCol="0" anchor="ctr">
            <a:noAutofit/>
          </a:bodyPr>
          <a:lstStyle/>
          <a:p>
            <a:pPr algn="ctr">
              <a:lnSpc>
                <a:spcPct val="110000"/>
              </a:lnSpc>
            </a:pPr>
            <a:r>
              <a:rPr lang="en-US" sz="1150">
                <a:solidFill>
                  <a:srgbClr val="5B6B80"/>
                </a:solidFill>
                <a:latin typeface="Segoe UI" panose="020B0502040204020203" pitchFamily="34" charset="0"/>
              </a:rPr>
              <a:t>IIoT integration  ·  smart sensors  ·  machine connectivity  ·  SCADA  ·  remote monitoring  ·  production data  ·  energy monitoring  ·  process optimization</a:t>
            </a:r>
          </a:p>
        </p:txBody>
      </p:sp>
      <p:sp>
        <p:nvSpPr>
          <p:cNvPr id="20" name="Rectangle: Rounded Corners 19">
            <a:extLst>
              <a:ext uri="{FF2B5EF4-FFF2-40B4-BE49-F238E27FC236}">
                <a16:creationId xmlns:a16="http://schemas.microsoft.com/office/drawing/2014/main" id="{FA0CCCF0-9729-F245-7C4B-A9747CBA52A3}"/>
              </a:ext>
            </a:extLst>
          </p:cNvPr>
          <p:cNvSpPr/>
          <p:nvPr/>
        </p:nvSpPr>
        <p:spPr>
          <a:xfrm>
            <a:off x="609600" y="3429000"/>
            <a:ext cx="2590800" cy="21590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22032C4-D5B0-283D-3A43-E5D77B4095A8}"/>
              </a:ext>
            </a:extLst>
          </p:cNvPr>
          <p:cNvSpPr/>
          <p:nvPr/>
        </p:nvSpPr>
        <p:spPr>
          <a:xfrm>
            <a:off x="609600" y="3429000"/>
            <a:ext cx="2590800" cy="635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FE7FE9F-8B45-5444-27EF-610F20B0F728}"/>
              </a:ext>
            </a:extLst>
          </p:cNvPr>
          <p:cNvSpPr txBox="1"/>
          <p:nvPr/>
        </p:nvSpPr>
        <p:spPr>
          <a:xfrm>
            <a:off x="863600" y="3759200"/>
            <a:ext cx="2082800" cy="304800"/>
          </a:xfrm>
          <a:prstGeom prst="rect">
            <a:avLst/>
          </a:prstGeom>
          <a:noFill/>
        </p:spPr>
        <p:txBody>
          <a:bodyPr vert="horz" wrap="square" lIns="0" tIns="0" rIns="0" bIns="0" rtlCol="0" anchor="t">
            <a:noAutofit/>
          </a:bodyPr>
          <a:lstStyle/>
          <a:p>
            <a:r>
              <a:rPr lang="en-US" sz="1500" b="1" spc="150">
                <a:solidFill>
                  <a:srgbClr val="0B1F3A"/>
                </a:solidFill>
                <a:latin typeface="Segoe UI Semibold" panose="020B0702040204020203" pitchFamily="34" charset="0"/>
              </a:rPr>
              <a:t>CONNECTED</a:t>
            </a:r>
          </a:p>
        </p:txBody>
      </p:sp>
      <p:sp>
        <p:nvSpPr>
          <p:cNvPr id="23" name="Rectangle 22">
            <a:extLst>
              <a:ext uri="{FF2B5EF4-FFF2-40B4-BE49-F238E27FC236}">
                <a16:creationId xmlns:a16="http://schemas.microsoft.com/office/drawing/2014/main" id="{92ACA5A7-7DFA-DBE2-707D-504B8B019A4F}"/>
              </a:ext>
            </a:extLst>
          </p:cNvPr>
          <p:cNvSpPr/>
          <p:nvPr/>
        </p:nvSpPr>
        <p:spPr>
          <a:xfrm>
            <a:off x="863600" y="4140200"/>
            <a:ext cx="355600" cy="381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C987672-6AAF-2973-42E7-C1EB6170B9BE}"/>
              </a:ext>
            </a:extLst>
          </p:cNvPr>
          <p:cNvSpPr txBox="1"/>
          <p:nvPr/>
        </p:nvSpPr>
        <p:spPr>
          <a:xfrm>
            <a:off x="863600" y="4343400"/>
            <a:ext cx="2082800" cy="1143000"/>
          </a:xfrm>
          <a:prstGeom prst="rect">
            <a:avLst/>
          </a:prstGeom>
          <a:noFill/>
        </p:spPr>
        <p:txBody>
          <a:bodyPr vert="horz" wrap="square" lIns="0" tIns="0" rIns="0" bIns="0" rtlCol="0" anchor="t">
            <a:noAutofit/>
          </a:bodyPr>
          <a:lstStyle/>
          <a:p>
            <a:pPr>
              <a:lnSpc>
                <a:spcPct val="120000"/>
              </a:lnSpc>
            </a:pPr>
            <a:r>
              <a:rPr lang="en-US" sz="1300">
                <a:solidFill>
                  <a:srgbClr val="5B6B80"/>
                </a:solidFill>
                <a:latin typeface="Segoe UI" panose="020B0502040204020203" pitchFamily="34" charset="0"/>
              </a:rPr>
              <a:t>Connect machines, sensors &amp; control systems.</a:t>
            </a:r>
          </a:p>
        </p:txBody>
      </p:sp>
      <p:sp>
        <p:nvSpPr>
          <p:cNvPr id="25" name="Rectangle: Rounded Corners 24">
            <a:extLst>
              <a:ext uri="{FF2B5EF4-FFF2-40B4-BE49-F238E27FC236}">
                <a16:creationId xmlns:a16="http://schemas.microsoft.com/office/drawing/2014/main" id="{EDFC4392-3F85-2545-9086-A7EF476A5BA5}"/>
              </a:ext>
            </a:extLst>
          </p:cNvPr>
          <p:cNvSpPr/>
          <p:nvPr/>
        </p:nvSpPr>
        <p:spPr>
          <a:xfrm>
            <a:off x="3403600" y="3429000"/>
            <a:ext cx="2590800" cy="21590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997596C-0B41-348D-131E-C8E12702DC22}"/>
              </a:ext>
            </a:extLst>
          </p:cNvPr>
          <p:cNvSpPr/>
          <p:nvPr/>
        </p:nvSpPr>
        <p:spPr>
          <a:xfrm>
            <a:off x="3403600" y="3429000"/>
            <a:ext cx="2590800" cy="635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9AD2C7E-B597-6A76-4EA5-EAD469218AD0}"/>
              </a:ext>
            </a:extLst>
          </p:cNvPr>
          <p:cNvSpPr txBox="1"/>
          <p:nvPr/>
        </p:nvSpPr>
        <p:spPr>
          <a:xfrm>
            <a:off x="3657600" y="3759200"/>
            <a:ext cx="2082800" cy="304800"/>
          </a:xfrm>
          <a:prstGeom prst="rect">
            <a:avLst/>
          </a:prstGeom>
          <a:noFill/>
        </p:spPr>
        <p:txBody>
          <a:bodyPr vert="horz" wrap="square" lIns="0" tIns="0" rIns="0" bIns="0" rtlCol="0" anchor="t">
            <a:noAutofit/>
          </a:bodyPr>
          <a:lstStyle/>
          <a:p>
            <a:r>
              <a:rPr lang="en-US" sz="1500" b="1" spc="150">
                <a:solidFill>
                  <a:srgbClr val="0B1F3A"/>
                </a:solidFill>
                <a:latin typeface="Segoe UI Semibold" panose="020B0702040204020203" pitchFamily="34" charset="0"/>
              </a:rPr>
              <a:t>VISIBLE</a:t>
            </a:r>
          </a:p>
        </p:txBody>
      </p:sp>
      <p:sp>
        <p:nvSpPr>
          <p:cNvPr id="28" name="Rectangle 27">
            <a:extLst>
              <a:ext uri="{FF2B5EF4-FFF2-40B4-BE49-F238E27FC236}">
                <a16:creationId xmlns:a16="http://schemas.microsoft.com/office/drawing/2014/main" id="{8390FEC3-7F60-4B04-7B8D-313A66BFC04A}"/>
              </a:ext>
            </a:extLst>
          </p:cNvPr>
          <p:cNvSpPr/>
          <p:nvPr/>
        </p:nvSpPr>
        <p:spPr>
          <a:xfrm>
            <a:off x="3657600" y="4140200"/>
            <a:ext cx="355600" cy="381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6DE81E51-9817-F8AA-76E1-4D464A171883}"/>
              </a:ext>
            </a:extLst>
          </p:cNvPr>
          <p:cNvSpPr txBox="1"/>
          <p:nvPr/>
        </p:nvSpPr>
        <p:spPr>
          <a:xfrm>
            <a:off x="3657600" y="4343400"/>
            <a:ext cx="2082800" cy="1143000"/>
          </a:xfrm>
          <a:prstGeom prst="rect">
            <a:avLst/>
          </a:prstGeom>
          <a:noFill/>
        </p:spPr>
        <p:txBody>
          <a:bodyPr vert="horz" wrap="square" lIns="0" tIns="0" rIns="0" bIns="0" rtlCol="0" anchor="t">
            <a:noAutofit/>
          </a:bodyPr>
          <a:lstStyle/>
          <a:p>
            <a:pPr>
              <a:lnSpc>
                <a:spcPct val="120000"/>
              </a:lnSpc>
            </a:pPr>
            <a:r>
              <a:rPr lang="en-US" sz="1300">
                <a:solidFill>
                  <a:srgbClr val="5B6B80"/>
                </a:solidFill>
                <a:latin typeface="Segoe UI" panose="020B0502040204020203" pitchFamily="34" charset="0"/>
              </a:rPr>
              <a:t>Make production &amp; process information easy to monitor.</a:t>
            </a:r>
          </a:p>
        </p:txBody>
      </p:sp>
      <p:sp>
        <p:nvSpPr>
          <p:cNvPr id="30" name="Rectangle: Rounded Corners 29">
            <a:extLst>
              <a:ext uri="{FF2B5EF4-FFF2-40B4-BE49-F238E27FC236}">
                <a16:creationId xmlns:a16="http://schemas.microsoft.com/office/drawing/2014/main" id="{CB1C3607-BF04-CFBB-04A4-0CF0875BB703}"/>
              </a:ext>
            </a:extLst>
          </p:cNvPr>
          <p:cNvSpPr/>
          <p:nvPr/>
        </p:nvSpPr>
        <p:spPr>
          <a:xfrm>
            <a:off x="6197600" y="3429000"/>
            <a:ext cx="2590800" cy="21590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BB1A1F29-8342-3B80-F756-EDAC369F04B5}"/>
              </a:ext>
            </a:extLst>
          </p:cNvPr>
          <p:cNvSpPr/>
          <p:nvPr/>
        </p:nvSpPr>
        <p:spPr>
          <a:xfrm>
            <a:off x="6197600" y="3429000"/>
            <a:ext cx="2590800" cy="635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4C8EC34E-1EAD-69D1-D535-60EE367088CB}"/>
              </a:ext>
            </a:extLst>
          </p:cNvPr>
          <p:cNvSpPr txBox="1"/>
          <p:nvPr/>
        </p:nvSpPr>
        <p:spPr>
          <a:xfrm>
            <a:off x="6451600" y="3759200"/>
            <a:ext cx="2082800" cy="304800"/>
          </a:xfrm>
          <a:prstGeom prst="rect">
            <a:avLst/>
          </a:prstGeom>
          <a:noFill/>
        </p:spPr>
        <p:txBody>
          <a:bodyPr vert="horz" wrap="square" lIns="0" tIns="0" rIns="0" bIns="0" rtlCol="0" anchor="t">
            <a:noAutofit/>
          </a:bodyPr>
          <a:lstStyle/>
          <a:p>
            <a:r>
              <a:rPr lang="en-US" sz="1500" b="1" spc="150">
                <a:solidFill>
                  <a:srgbClr val="0B1F3A"/>
                </a:solidFill>
                <a:latin typeface="Segoe UI Semibold" panose="020B0702040204020203" pitchFamily="34" charset="0"/>
              </a:rPr>
              <a:t>INTELLIGENT</a:t>
            </a:r>
          </a:p>
        </p:txBody>
      </p:sp>
      <p:sp>
        <p:nvSpPr>
          <p:cNvPr id="33" name="Rectangle 32">
            <a:extLst>
              <a:ext uri="{FF2B5EF4-FFF2-40B4-BE49-F238E27FC236}">
                <a16:creationId xmlns:a16="http://schemas.microsoft.com/office/drawing/2014/main" id="{439AE624-EB32-A630-AF91-F20F4ED40F89}"/>
              </a:ext>
            </a:extLst>
          </p:cNvPr>
          <p:cNvSpPr/>
          <p:nvPr/>
        </p:nvSpPr>
        <p:spPr>
          <a:xfrm>
            <a:off x="6451600" y="4140200"/>
            <a:ext cx="355600" cy="381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6997D573-A492-5644-0CF4-F20C8F34831A}"/>
              </a:ext>
            </a:extLst>
          </p:cNvPr>
          <p:cNvSpPr txBox="1"/>
          <p:nvPr/>
        </p:nvSpPr>
        <p:spPr>
          <a:xfrm>
            <a:off x="6451600" y="4343400"/>
            <a:ext cx="2082800" cy="1143000"/>
          </a:xfrm>
          <a:prstGeom prst="rect">
            <a:avLst/>
          </a:prstGeom>
          <a:noFill/>
        </p:spPr>
        <p:txBody>
          <a:bodyPr vert="horz" wrap="square" lIns="0" tIns="0" rIns="0" bIns="0" rtlCol="0" anchor="t">
            <a:noAutofit/>
          </a:bodyPr>
          <a:lstStyle/>
          <a:p>
            <a:pPr>
              <a:lnSpc>
                <a:spcPct val="120000"/>
              </a:lnSpc>
            </a:pPr>
            <a:r>
              <a:rPr lang="en-US" sz="1300">
                <a:solidFill>
                  <a:srgbClr val="5B6B80"/>
                </a:solidFill>
                <a:latin typeface="Segoe UI" panose="020B0502040204020203" pitchFamily="34" charset="0"/>
              </a:rPr>
              <a:t>Use data &amp; automation to support better decisions.</a:t>
            </a:r>
          </a:p>
        </p:txBody>
      </p:sp>
      <p:sp>
        <p:nvSpPr>
          <p:cNvPr id="35" name="Rectangle: Rounded Corners 34">
            <a:extLst>
              <a:ext uri="{FF2B5EF4-FFF2-40B4-BE49-F238E27FC236}">
                <a16:creationId xmlns:a16="http://schemas.microsoft.com/office/drawing/2014/main" id="{FF8CDC35-4FB9-23C9-6BF6-D218A8337C9C}"/>
              </a:ext>
            </a:extLst>
          </p:cNvPr>
          <p:cNvSpPr/>
          <p:nvPr/>
        </p:nvSpPr>
        <p:spPr>
          <a:xfrm>
            <a:off x="8991600" y="3429000"/>
            <a:ext cx="2590800" cy="21590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BFF3EDAD-612B-C361-4661-084EA3E3FA79}"/>
              </a:ext>
            </a:extLst>
          </p:cNvPr>
          <p:cNvSpPr/>
          <p:nvPr/>
        </p:nvSpPr>
        <p:spPr>
          <a:xfrm>
            <a:off x="8991600" y="3429000"/>
            <a:ext cx="2590800" cy="635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16FB3BCA-2009-663C-AA53-1F5579DDE2B3}"/>
              </a:ext>
            </a:extLst>
          </p:cNvPr>
          <p:cNvSpPr txBox="1"/>
          <p:nvPr/>
        </p:nvSpPr>
        <p:spPr>
          <a:xfrm>
            <a:off x="9245600" y="3759200"/>
            <a:ext cx="2082800" cy="304800"/>
          </a:xfrm>
          <a:prstGeom prst="rect">
            <a:avLst/>
          </a:prstGeom>
          <a:noFill/>
        </p:spPr>
        <p:txBody>
          <a:bodyPr vert="horz" wrap="square" lIns="0" tIns="0" rIns="0" bIns="0" rtlCol="0" anchor="t">
            <a:noAutofit/>
          </a:bodyPr>
          <a:lstStyle/>
          <a:p>
            <a:r>
              <a:rPr lang="en-US" sz="1500" b="1" spc="150">
                <a:solidFill>
                  <a:srgbClr val="0B1F3A"/>
                </a:solidFill>
                <a:latin typeface="Segoe UI Semibold" panose="020B0702040204020203" pitchFamily="34" charset="0"/>
              </a:rPr>
              <a:t>EFFICIENT</a:t>
            </a:r>
          </a:p>
        </p:txBody>
      </p:sp>
      <p:sp>
        <p:nvSpPr>
          <p:cNvPr id="38" name="Rectangle 37">
            <a:extLst>
              <a:ext uri="{FF2B5EF4-FFF2-40B4-BE49-F238E27FC236}">
                <a16:creationId xmlns:a16="http://schemas.microsoft.com/office/drawing/2014/main" id="{C5C9007E-EEAF-AC95-33B3-93AE08175E61}"/>
              </a:ext>
            </a:extLst>
          </p:cNvPr>
          <p:cNvSpPr/>
          <p:nvPr/>
        </p:nvSpPr>
        <p:spPr>
          <a:xfrm>
            <a:off x="9245600" y="4140200"/>
            <a:ext cx="355600" cy="381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1F30DB55-4E6E-3C2A-8142-AE4764577984}"/>
              </a:ext>
            </a:extLst>
          </p:cNvPr>
          <p:cNvSpPr txBox="1"/>
          <p:nvPr/>
        </p:nvSpPr>
        <p:spPr>
          <a:xfrm>
            <a:off x="9245600" y="4343400"/>
            <a:ext cx="2082800" cy="1143000"/>
          </a:xfrm>
          <a:prstGeom prst="rect">
            <a:avLst/>
          </a:prstGeom>
          <a:noFill/>
        </p:spPr>
        <p:txBody>
          <a:bodyPr vert="horz" wrap="square" lIns="0" tIns="0" rIns="0" bIns="0" rtlCol="0" anchor="t">
            <a:noAutofit/>
          </a:bodyPr>
          <a:lstStyle/>
          <a:p>
            <a:pPr>
              <a:lnSpc>
                <a:spcPct val="120000"/>
              </a:lnSpc>
            </a:pPr>
            <a:r>
              <a:rPr lang="en-US" sz="1300">
                <a:solidFill>
                  <a:srgbClr val="5B6B80"/>
                </a:solidFill>
                <a:latin typeface="Segoe UI" panose="020B0502040204020203" pitchFamily="34" charset="0"/>
              </a:rPr>
              <a:t>Reduce downtime &amp; optimize resources.</a:t>
            </a:r>
          </a:p>
        </p:txBody>
      </p:sp>
      <p:sp>
        <p:nvSpPr>
          <p:cNvPr id="40" name="Rectangle 39">
            <a:extLst>
              <a:ext uri="{FF2B5EF4-FFF2-40B4-BE49-F238E27FC236}">
                <a16:creationId xmlns:a16="http://schemas.microsoft.com/office/drawing/2014/main" id="{2EC925AA-25D3-72E2-0AA7-A6E95EFDDA22}"/>
              </a:ext>
            </a:extLst>
          </p:cNvPr>
          <p:cNvSpPr/>
          <p:nvPr/>
        </p:nvSpPr>
        <p:spPr>
          <a:xfrm>
            <a:off x="609600" y="6388100"/>
            <a:ext cx="109728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1CA2CC89-F185-9529-D991-E3BB439BFA73}"/>
              </a:ext>
            </a:extLst>
          </p:cNvPr>
          <p:cNvSpPr txBox="1"/>
          <p:nvPr/>
        </p:nvSpPr>
        <p:spPr>
          <a:xfrm>
            <a:off x="609600" y="6489700"/>
            <a:ext cx="6350000" cy="177800"/>
          </a:xfrm>
          <a:prstGeom prst="rect">
            <a:avLst/>
          </a:prstGeom>
          <a:noFill/>
        </p:spPr>
        <p:txBody>
          <a:bodyPr vert="horz" wrap="square" lIns="0" tIns="0" rIns="0" bIns="0" rtlCol="0" anchor="t">
            <a:noAutofit/>
          </a:bodyPr>
          <a:lstStyle/>
          <a:p>
            <a:r>
              <a:rPr lang="en-US" sz="850" spc="100">
                <a:solidFill>
                  <a:srgbClr val="5B6B80"/>
                </a:solidFill>
                <a:latin typeface="Segoe UI" panose="020B0502040204020203" pitchFamily="34" charset="0"/>
              </a:rPr>
              <a:t>MECHWARE  |  TECHNOLOGY FOR SMARTER SYSTEMS</a:t>
            </a:r>
          </a:p>
        </p:txBody>
      </p:sp>
      <p:sp>
        <p:nvSpPr>
          <p:cNvPr id="42" name="TextBox 41">
            <a:extLst>
              <a:ext uri="{FF2B5EF4-FFF2-40B4-BE49-F238E27FC236}">
                <a16:creationId xmlns:a16="http://schemas.microsoft.com/office/drawing/2014/main" id="{DD1921EB-3AE7-8B2D-081F-E0FBD9C51970}"/>
              </a:ext>
            </a:extLst>
          </p:cNvPr>
          <p:cNvSpPr txBox="1"/>
          <p:nvPr/>
        </p:nvSpPr>
        <p:spPr>
          <a:xfrm>
            <a:off x="7772400" y="6489700"/>
            <a:ext cx="3810000" cy="177800"/>
          </a:xfrm>
          <a:prstGeom prst="rect">
            <a:avLst/>
          </a:prstGeom>
          <a:noFill/>
        </p:spPr>
        <p:txBody>
          <a:bodyPr vert="horz" wrap="square" lIns="0" tIns="0" rIns="0" bIns="0" rtlCol="0" anchor="t">
            <a:noAutofit/>
          </a:bodyPr>
          <a:lstStyle/>
          <a:p>
            <a:pPr algn="r"/>
            <a:r>
              <a:rPr lang="en-US" sz="950" b="1">
                <a:solidFill>
                  <a:srgbClr val="0B1F3A"/>
                </a:solidFill>
                <a:latin typeface="Segoe UI Semibold" panose="020B0702040204020203" pitchFamily="34" charset="0"/>
              </a:rPr>
              <a:t>08</a:t>
            </a:r>
          </a:p>
        </p:txBody>
      </p:sp>
    </p:spTree>
    <p:extLst>
      <p:ext uri="{BB962C8B-B14F-4D97-AF65-F5344CB8AC3E}">
        <p14:creationId xmlns:p14="http://schemas.microsoft.com/office/powerpoint/2010/main" val="327218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B5CDE9-D40A-87A5-CF8E-92C607DD30D4}"/>
              </a:ext>
            </a:extLst>
          </p:cNvPr>
          <p:cNvSpPr/>
          <p:nvPr/>
        </p:nvSpPr>
        <p:spPr>
          <a:xfrm>
            <a:off x="0" y="0"/>
            <a:ext cx="12192000" cy="1016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60084B8-BF5C-47A3-8131-EF30DB6E279D}"/>
              </a:ext>
            </a:extLst>
          </p:cNvPr>
          <p:cNvSpPr/>
          <p:nvPr/>
        </p:nvSpPr>
        <p:spPr>
          <a:xfrm>
            <a:off x="0" y="0"/>
            <a:ext cx="2794000" cy="101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85728D8-2E8A-E64B-192F-6283783D3DD3}"/>
              </a:ext>
            </a:extLst>
          </p:cNvPr>
          <p:cNvSpPr txBox="1"/>
          <p:nvPr/>
        </p:nvSpPr>
        <p:spPr>
          <a:xfrm>
            <a:off x="609600" y="381000"/>
            <a:ext cx="8890000" cy="203200"/>
          </a:xfrm>
          <a:prstGeom prst="rect">
            <a:avLst/>
          </a:prstGeom>
          <a:noFill/>
        </p:spPr>
        <p:txBody>
          <a:bodyPr vert="horz" wrap="square" lIns="0" tIns="0" rIns="0" bIns="0" rtlCol="0" anchor="t">
            <a:noAutofit/>
          </a:bodyPr>
          <a:lstStyle/>
          <a:p>
            <a:r>
              <a:rPr lang="en-US" sz="1050" b="1" spc="250">
                <a:solidFill>
                  <a:srgbClr val="00B4D8"/>
                </a:solidFill>
                <a:latin typeface="Segoe UI Semibold" panose="020B0702040204020203" pitchFamily="34" charset="0"/>
              </a:rPr>
              <a:t>07  —  DELIVERY MODEL</a:t>
            </a:r>
          </a:p>
        </p:txBody>
      </p:sp>
      <p:sp>
        <p:nvSpPr>
          <p:cNvPr id="5" name="TextBox 4">
            <a:extLst>
              <a:ext uri="{FF2B5EF4-FFF2-40B4-BE49-F238E27FC236}">
                <a16:creationId xmlns:a16="http://schemas.microsoft.com/office/drawing/2014/main" id="{9B2DAE9C-CE47-F808-AE7A-255F8EE8998E}"/>
              </a:ext>
            </a:extLst>
          </p:cNvPr>
          <p:cNvSpPr txBox="1"/>
          <p:nvPr/>
        </p:nvSpPr>
        <p:spPr>
          <a:xfrm>
            <a:off x="609600" y="609600"/>
            <a:ext cx="9652000" cy="558800"/>
          </a:xfrm>
          <a:prstGeom prst="rect">
            <a:avLst/>
          </a:prstGeom>
          <a:noFill/>
        </p:spPr>
        <p:txBody>
          <a:bodyPr vert="horz" wrap="square" lIns="0" tIns="0" rIns="0" bIns="0" rtlCol="0" anchor="t">
            <a:noAutofit/>
          </a:bodyPr>
          <a:lstStyle/>
          <a:p>
            <a:r>
              <a:rPr lang="en-US" sz="2800" b="1">
                <a:solidFill>
                  <a:srgbClr val="0B1F3A"/>
                </a:solidFill>
                <a:latin typeface="Segoe UI Semibold" panose="020B0702040204020203" pitchFamily="34" charset="0"/>
              </a:rPr>
              <a:t>Our Engineering Process</a:t>
            </a:r>
          </a:p>
        </p:txBody>
      </p:sp>
      <p:sp>
        <p:nvSpPr>
          <p:cNvPr id="6" name="Rectangle 5">
            <a:extLst>
              <a:ext uri="{FF2B5EF4-FFF2-40B4-BE49-F238E27FC236}">
                <a16:creationId xmlns:a16="http://schemas.microsoft.com/office/drawing/2014/main" id="{305FED1E-3ECC-B750-76A2-15A3C988CFB1}"/>
              </a:ext>
            </a:extLst>
          </p:cNvPr>
          <p:cNvSpPr/>
          <p:nvPr/>
        </p:nvSpPr>
        <p:spPr>
          <a:xfrm>
            <a:off x="609600" y="1244600"/>
            <a:ext cx="711200" cy="50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0410B8B7-3DBA-1B4E-AFC9-0D7A20BFE05A}"/>
              </a:ext>
            </a:extLst>
          </p:cNvPr>
          <p:cNvPicPr>
            <a:picLocks/>
          </p:cNvPicPr>
          <p:nvPr/>
        </p:nvPicPr>
        <p:blipFill>
          <a:blip>
            <a:extLst>
              <a:ext uri="{96DAC541-7B7A-43D3-8B79-37D633B846F1}">
                <asvg:svgBlip xmlns:asvg="http://schemas.microsoft.com/office/drawing/2016/SVG/main" r:embed="rId2"/>
              </a:ext>
            </a:extLst>
          </a:blip>
          <a:srcRect l="11000" t="19000" r="11000" b="28000"/>
          <a:stretch>
            <a:fillRect/>
          </a:stretch>
        </p:blipFill>
        <p:spPr>
          <a:xfrm>
            <a:off x="10439400" y="381000"/>
            <a:ext cx="1143001" cy="776655"/>
          </a:xfrm>
          <a:prstGeom prst="rect">
            <a:avLst/>
          </a:prstGeom>
        </p:spPr>
      </p:pic>
      <p:sp>
        <p:nvSpPr>
          <p:cNvPr id="9" name="Rectangle: Rounded Corners 8">
            <a:extLst>
              <a:ext uri="{FF2B5EF4-FFF2-40B4-BE49-F238E27FC236}">
                <a16:creationId xmlns:a16="http://schemas.microsoft.com/office/drawing/2014/main" id="{0035FF8E-1BCF-5A71-082C-C6BCA01CF313}"/>
              </a:ext>
            </a:extLst>
          </p:cNvPr>
          <p:cNvSpPr/>
          <p:nvPr/>
        </p:nvSpPr>
        <p:spPr>
          <a:xfrm>
            <a:off x="609600" y="1625600"/>
            <a:ext cx="2590800" cy="20320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328D2D4-B220-5053-69DC-535C88CEE2DA}"/>
              </a:ext>
            </a:extLst>
          </p:cNvPr>
          <p:cNvSpPr/>
          <p:nvPr/>
        </p:nvSpPr>
        <p:spPr>
          <a:xfrm>
            <a:off x="838200" y="1828800"/>
            <a:ext cx="482600" cy="482600"/>
          </a:xfrm>
          <a:prstGeom prst="ellipse">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82C9193-2082-B3D3-4915-6892C3E73B9C}"/>
              </a:ext>
            </a:extLst>
          </p:cNvPr>
          <p:cNvSpPr txBox="1"/>
          <p:nvPr/>
        </p:nvSpPr>
        <p:spPr>
          <a:xfrm>
            <a:off x="838200" y="1828800"/>
            <a:ext cx="482600" cy="482600"/>
          </a:xfrm>
          <a:prstGeom prst="rect">
            <a:avLst/>
          </a:prstGeom>
          <a:noFill/>
        </p:spPr>
        <p:txBody>
          <a:bodyPr vert="horz" wrap="square" lIns="0" tIns="0" rIns="0" bIns="0" rtlCol="0" anchor="ctr">
            <a:noAutofit/>
          </a:bodyPr>
          <a:lstStyle/>
          <a:p>
            <a:pPr algn="ctr"/>
            <a:r>
              <a:rPr lang="en-US" sz="1300" b="1">
                <a:solidFill>
                  <a:srgbClr val="FFFFFF"/>
                </a:solidFill>
                <a:latin typeface="Segoe UI Semibold" panose="020B0702040204020203" pitchFamily="34" charset="0"/>
              </a:rPr>
              <a:t>01</a:t>
            </a:r>
          </a:p>
        </p:txBody>
      </p:sp>
      <p:sp>
        <p:nvSpPr>
          <p:cNvPr id="12" name="TextBox 11">
            <a:extLst>
              <a:ext uri="{FF2B5EF4-FFF2-40B4-BE49-F238E27FC236}">
                <a16:creationId xmlns:a16="http://schemas.microsoft.com/office/drawing/2014/main" id="{94509650-8137-CD23-B98F-F18E661550AF}"/>
              </a:ext>
            </a:extLst>
          </p:cNvPr>
          <p:cNvSpPr txBox="1"/>
          <p:nvPr/>
        </p:nvSpPr>
        <p:spPr>
          <a:xfrm>
            <a:off x="838200" y="2463800"/>
            <a:ext cx="2159000" cy="279400"/>
          </a:xfrm>
          <a:prstGeom prst="rect">
            <a:avLst/>
          </a:prstGeom>
          <a:noFill/>
        </p:spPr>
        <p:txBody>
          <a:bodyPr vert="horz" wrap="square" lIns="0" tIns="0" rIns="0" bIns="0" rtlCol="0" anchor="t">
            <a:noAutofit/>
          </a:bodyPr>
          <a:lstStyle/>
          <a:p>
            <a:r>
              <a:rPr lang="en-US" sz="1250" b="1" spc="100">
                <a:solidFill>
                  <a:srgbClr val="0B1F3A"/>
                </a:solidFill>
                <a:latin typeface="Segoe UI Semibold" panose="020B0702040204020203" pitchFamily="34" charset="0"/>
              </a:rPr>
              <a:t>CONSULTATION</a:t>
            </a:r>
          </a:p>
        </p:txBody>
      </p:sp>
      <p:sp>
        <p:nvSpPr>
          <p:cNvPr id="13" name="TextBox 12">
            <a:extLst>
              <a:ext uri="{FF2B5EF4-FFF2-40B4-BE49-F238E27FC236}">
                <a16:creationId xmlns:a16="http://schemas.microsoft.com/office/drawing/2014/main" id="{EE1247D0-83BC-A213-85A3-B0D31301B51A}"/>
              </a:ext>
            </a:extLst>
          </p:cNvPr>
          <p:cNvSpPr txBox="1"/>
          <p:nvPr/>
        </p:nvSpPr>
        <p:spPr>
          <a:xfrm>
            <a:off x="838200" y="2794000"/>
            <a:ext cx="2159000" cy="787400"/>
          </a:xfrm>
          <a:prstGeom prst="rect">
            <a:avLst/>
          </a:prstGeom>
          <a:noFill/>
        </p:spPr>
        <p:txBody>
          <a:bodyPr vert="horz" wrap="square" lIns="0" tIns="0" rIns="0" bIns="0" rtlCol="0" anchor="t">
            <a:noAutofit/>
          </a:bodyPr>
          <a:lstStyle/>
          <a:p>
            <a:pPr>
              <a:lnSpc>
                <a:spcPct val="115000"/>
              </a:lnSpc>
            </a:pPr>
            <a:r>
              <a:rPr lang="en-US" sz="1100">
                <a:solidFill>
                  <a:srgbClr val="5B6B80"/>
                </a:solidFill>
                <a:latin typeface="Segoe UI" panose="020B0502040204020203" pitchFamily="34" charset="0"/>
              </a:rPr>
              <a:t>Understand process, pain points &amp; project objectives.</a:t>
            </a:r>
          </a:p>
        </p:txBody>
      </p:sp>
      <p:sp>
        <p:nvSpPr>
          <p:cNvPr id="14" name="Rectangle: Rounded Corners 13">
            <a:extLst>
              <a:ext uri="{FF2B5EF4-FFF2-40B4-BE49-F238E27FC236}">
                <a16:creationId xmlns:a16="http://schemas.microsoft.com/office/drawing/2014/main" id="{D979F56B-1A06-FFD1-A387-2F0116658246}"/>
              </a:ext>
            </a:extLst>
          </p:cNvPr>
          <p:cNvSpPr/>
          <p:nvPr/>
        </p:nvSpPr>
        <p:spPr>
          <a:xfrm>
            <a:off x="3403600" y="1625600"/>
            <a:ext cx="2590800" cy="20320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0C35900-7595-C6D9-0CA5-3B339A5A1165}"/>
              </a:ext>
            </a:extLst>
          </p:cNvPr>
          <p:cNvSpPr/>
          <p:nvPr/>
        </p:nvSpPr>
        <p:spPr>
          <a:xfrm>
            <a:off x="3632200" y="1828800"/>
            <a:ext cx="482600" cy="482600"/>
          </a:xfrm>
          <a:prstGeom prst="ellipse">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26191D0-0718-0550-7E74-DB91512FF0DC}"/>
              </a:ext>
            </a:extLst>
          </p:cNvPr>
          <p:cNvSpPr txBox="1"/>
          <p:nvPr/>
        </p:nvSpPr>
        <p:spPr>
          <a:xfrm>
            <a:off x="3632200" y="1828800"/>
            <a:ext cx="482600" cy="482600"/>
          </a:xfrm>
          <a:prstGeom prst="rect">
            <a:avLst/>
          </a:prstGeom>
          <a:noFill/>
        </p:spPr>
        <p:txBody>
          <a:bodyPr vert="horz" wrap="square" lIns="0" tIns="0" rIns="0" bIns="0" rtlCol="0" anchor="ctr">
            <a:noAutofit/>
          </a:bodyPr>
          <a:lstStyle/>
          <a:p>
            <a:pPr algn="ctr"/>
            <a:r>
              <a:rPr lang="en-US" sz="1300" b="1">
                <a:solidFill>
                  <a:srgbClr val="FFFFFF"/>
                </a:solidFill>
                <a:latin typeface="Segoe UI Semibold" panose="020B0702040204020203" pitchFamily="34" charset="0"/>
              </a:rPr>
              <a:t>02</a:t>
            </a:r>
          </a:p>
        </p:txBody>
      </p:sp>
      <p:sp>
        <p:nvSpPr>
          <p:cNvPr id="17" name="TextBox 16">
            <a:extLst>
              <a:ext uri="{FF2B5EF4-FFF2-40B4-BE49-F238E27FC236}">
                <a16:creationId xmlns:a16="http://schemas.microsoft.com/office/drawing/2014/main" id="{21615DDE-A15B-DA5C-FF4D-B4A6A01A5E8E}"/>
              </a:ext>
            </a:extLst>
          </p:cNvPr>
          <p:cNvSpPr txBox="1"/>
          <p:nvPr/>
        </p:nvSpPr>
        <p:spPr>
          <a:xfrm>
            <a:off x="3632200" y="2463800"/>
            <a:ext cx="2159000" cy="279400"/>
          </a:xfrm>
          <a:prstGeom prst="rect">
            <a:avLst/>
          </a:prstGeom>
          <a:noFill/>
        </p:spPr>
        <p:txBody>
          <a:bodyPr vert="horz" wrap="square" lIns="0" tIns="0" rIns="0" bIns="0" rtlCol="0" anchor="t">
            <a:noAutofit/>
          </a:bodyPr>
          <a:lstStyle/>
          <a:p>
            <a:r>
              <a:rPr lang="en-US" sz="1250" b="1" spc="100">
                <a:solidFill>
                  <a:srgbClr val="0B1F3A"/>
                </a:solidFill>
                <a:latin typeface="Segoe UI Semibold" panose="020B0702040204020203" pitchFamily="34" charset="0"/>
              </a:rPr>
              <a:t>SITE SURVEY</a:t>
            </a:r>
          </a:p>
        </p:txBody>
      </p:sp>
      <p:sp>
        <p:nvSpPr>
          <p:cNvPr id="18" name="TextBox 17">
            <a:extLst>
              <a:ext uri="{FF2B5EF4-FFF2-40B4-BE49-F238E27FC236}">
                <a16:creationId xmlns:a16="http://schemas.microsoft.com/office/drawing/2014/main" id="{819588A8-B8C3-C755-B5DC-9908EEE782FE}"/>
              </a:ext>
            </a:extLst>
          </p:cNvPr>
          <p:cNvSpPr txBox="1"/>
          <p:nvPr/>
        </p:nvSpPr>
        <p:spPr>
          <a:xfrm>
            <a:off x="3632200" y="2794000"/>
            <a:ext cx="2159000" cy="787400"/>
          </a:xfrm>
          <a:prstGeom prst="rect">
            <a:avLst/>
          </a:prstGeom>
          <a:noFill/>
        </p:spPr>
        <p:txBody>
          <a:bodyPr vert="horz" wrap="square" lIns="0" tIns="0" rIns="0" bIns="0" rtlCol="0" anchor="t">
            <a:noAutofit/>
          </a:bodyPr>
          <a:lstStyle/>
          <a:p>
            <a:pPr>
              <a:lnSpc>
                <a:spcPct val="115000"/>
              </a:lnSpc>
            </a:pPr>
            <a:r>
              <a:rPr lang="en-US" sz="1100">
                <a:solidFill>
                  <a:srgbClr val="5B6B80"/>
                </a:solidFill>
                <a:latin typeface="Segoe UI" panose="020B0502040204020203" pitchFamily="34" charset="0"/>
              </a:rPr>
              <a:t>Assess existing machinery, electrical systems &amp; instrumentation.</a:t>
            </a:r>
          </a:p>
        </p:txBody>
      </p:sp>
      <p:sp>
        <p:nvSpPr>
          <p:cNvPr id="19" name="Rectangle: Rounded Corners 18">
            <a:extLst>
              <a:ext uri="{FF2B5EF4-FFF2-40B4-BE49-F238E27FC236}">
                <a16:creationId xmlns:a16="http://schemas.microsoft.com/office/drawing/2014/main" id="{189E25AB-7BE1-6CE3-CF90-84ABB69D53E8}"/>
              </a:ext>
            </a:extLst>
          </p:cNvPr>
          <p:cNvSpPr/>
          <p:nvPr/>
        </p:nvSpPr>
        <p:spPr>
          <a:xfrm>
            <a:off x="6197600" y="1625600"/>
            <a:ext cx="2590800" cy="20320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8EBD65C-11BC-8411-79D0-0DB78EFA190A}"/>
              </a:ext>
            </a:extLst>
          </p:cNvPr>
          <p:cNvSpPr/>
          <p:nvPr/>
        </p:nvSpPr>
        <p:spPr>
          <a:xfrm>
            <a:off x="6426200" y="1828800"/>
            <a:ext cx="482600" cy="482600"/>
          </a:xfrm>
          <a:prstGeom prst="ellipse">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B3E87B1-69D8-B21A-022C-46EE0DD8531A}"/>
              </a:ext>
            </a:extLst>
          </p:cNvPr>
          <p:cNvSpPr txBox="1"/>
          <p:nvPr/>
        </p:nvSpPr>
        <p:spPr>
          <a:xfrm>
            <a:off x="6426200" y="1828800"/>
            <a:ext cx="482600" cy="482600"/>
          </a:xfrm>
          <a:prstGeom prst="rect">
            <a:avLst/>
          </a:prstGeom>
          <a:noFill/>
        </p:spPr>
        <p:txBody>
          <a:bodyPr vert="horz" wrap="square" lIns="0" tIns="0" rIns="0" bIns="0" rtlCol="0" anchor="ctr">
            <a:noAutofit/>
          </a:bodyPr>
          <a:lstStyle/>
          <a:p>
            <a:pPr algn="ctr"/>
            <a:r>
              <a:rPr lang="en-US" sz="1300" b="1">
                <a:solidFill>
                  <a:srgbClr val="FFFFFF"/>
                </a:solidFill>
                <a:latin typeface="Segoe UI Semibold" panose="020B0702040204020203" pitchFamily="34" charset="0"/>
              </a:rPr>
              <a:t>03</a:t>
            </a:r>
          </a:p>
        </p:txBody>
      </p:sp>
      <p:sp>
        <p:nvSpPr>
          <p:cNvPr id="22" name="TextBox 21">
            <a:extLst>
              <a:ext uri="{FF2B5EF4-FFF2-40B4-BE49-F238E27FC236}">
                <a16:creationId xmlns:a16="http://schemas.microsoft.com/office/drawing/2014/main" id="{BC84B21C-5AB4-6B22-82EB-D2F20D4DD194}"/>
              </a:ext>
            </a:extLst>
          </p:cNvPr>
          <p:cNvSpPr txBox="1"/>
          <p:nvPr/>
        </p:nvSpPr>
        <p:spPr>
          <a:xfrm>
            <a:off x="6426200" y="2463800"/>
            <a:ext cx="2159000" cy="279400"/>
          </a:xfrm>
          <a:prstGeom prst="rect">
            <a:avLst/>
          </a:prstGeom>
          <a:noFill/>
        </p:spPr>
        <p:txBody>
          <a:bodyPr vert="horz" wrap="square" lIns="0" tIns="0" rIns="0" bIns="0" rtlCol="0" anchor="t">
            <a:noAutofit/>
          </a:bodyPr>
          <a:lstStyle/>
          <a:p>
            <a:r>
              <a:rPr lang="en-US" sz="1250" b="1" spc="100">
                <a:solidFill>
                  <a:srgbClr val="0B1F3A"/>
                </a:solidFill>
                <a:latin typeface="Segoe UI Semibold" panose="020B0702040204020203" pitchFamily="34" charset="0"/>
              </a:rPr>
              <a:t>ENGINEERING</a:t>
            </a:r>
          </a:p>
        </p:txBody>
      </p:sp>
      <p:sp>
        <p:nvSpPr>
          <p:cNvPr id="23" name="TextBox 22">
            <a:extLst>
              <a:ext uri="{FF2B5EF4-FFF2-40B4-BE49-F238E27FC236}">
                <a16:creationId xmlns:a16="http://schemas.microsoft.com/office/drawing/2014/main" id="{27520D8D-0B31-5CB2-8749-416538143821}"/>
              </a:ext>
            </a:extLst>
          </p:cNvPr>
          <p:cNvSpPr txBox="1"/>
          <p:nvPr/>
        </p:nvSpPr>
        <p:spPr>
          <a:xfrm>
            <a:off x="6426200" y="2794000"/>
            <a:ext cx="2159000" cy="787400"/>
          </a:xfrm>
          <a:prstGeom prst="rect">
            <a:avLst/>
          </a:prstGeom>
          <a:noFill/>
        </p:spPr>
        <p:txBody>
          <a:bodyPr vert="horz" wrap="square" lIns="0" tIns="0" rIns="0" bIns="0" rtlCol="0" anchor="t">
            <a:noAutofit/>
          </a:bodyPr>
          <a:lstStyle/>
          <a:p>
            <a:pPr>
              <a:lnSpc>
                <a:spcPct val="115000"/>
              </a:lnSpc>
            </a:pPr>
            <a:r>
              <a:rPr lang="en-US" sz="1100">
                <a:solidFill>
                  <a:srgbClr val="5B6B80"/>
                </a:solidFill>
                <a:latin typeface="Segoe UI" panose="020B0502040204020203" pitchFamily="34" charset="0"/>
              </a:rPr>
              <a:t>Develop architecture, control philosophy &amp; design.</a:t>
            </a:r>
          </a:p>
        </p:txBody>
      </p:sp>
      <p:sp>
        <p:nvSpPr>
          <p:cNvPr id="24" name="Rectangle: Rounded Corners 23">
            <a:extLst>
              <a:ext uri="{FF2B5EF4-FFF2-40B4-BE49-F238E27FC236}">
                <a16:creationId xmlns:a16="http://schemas.microsoft.com/office/drawing/2014/main" id="{24FECFBA-059B-4D8A-2691-6FACAE25F0DF}"/>
              </a:ext>
            </a:extLst>
          </p:cNvPr>
          <p:cNvSpPr/>
          <p:nvPr/>
        </p:nvSpPr>
        <p:spPr>
          <a:xfrm>
            <a:off x="8991600" y="1625600"/>
            <a:ext cx="2590800" cy="20320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F2D5D98-A494-41BE-84A0-39E0A87D5EE7}"/>
              </a:ext>
            </a:extLst>
          </p:cNvPr>
          <p:cNvSpPr/>
          <p:nvPr/>
        </p:nvSpPr>
        <p:spPr>
          <a:xfrm>
            <a:off x="9220200" y="1828800"/>
            <a:ext cx="482600" cy="482600"/>
          </a:xfrm>
          <a:prstGeom prst="ellipse">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2F24DA19-A112-F367-04A7-E99D256FC4DC}"/>
              </a:ext>
            </a:extLst>
          </p:cNvPr>
          <p:cNvSpPr txBox="1"/>
          <p:nvPr/>
        </p:nvSpPr>
        <p:spPr>
          <a:xfrm>
            <a:off x="9220200" y="1828800"/>
            <a:ext cx="482600" cy="482600"/>
          </a:xfrm>
          <a:prstGeom prst="rect">
            <a:avLst/>
          </a:prstGeom>
          <a:noFill/>
        </p:spPr>
        <p:txBody>
          <a:bodyPr vert="horz" wrap="square" lIns="0" tIns="0" rIns="0" bIns="0" rtlCol="0" anchor="ctr">
            <a:noAutofit/>
          </a:bodyPr>
          <a:lstStyle/>
          <a:p>
            <a:pPr algn="ctr"/>
            <a:r>
              <a:rPr lang="en-US" sz="1300" b="1">
                <a:solidFill>
                  <a:srgbClr val="FFFFFF"/>
                </a:solidFill>
                <a:latin typeface="Segoe UI Semibold" panose="020B0702040204020203" pitchFamily="34" charset="0"/>
              </a:rPr>
              <a:t>04</a:t>
            </a:r>
          </a:p>
        </p:txBody>
      </p:sp>
      <p:sp>
        <p:nvSpPr>
          <p:cNvPr id="27" name="TextBox 26">
            <a:extLst>
              <a:ext uri="{FF2B5EF4-FFF2-40B4-BE49-F238E27FC236}">
                <a16:creationId xmlns:a16="http://schemas.microsoft.com/office/drawing/2014/main" id="{985F2793-420F-0D8A-0E06-CD3E9ED132D7}"/>
              </a:ext>
            </a:extLst>
          </p:cNvPr>
          <p:cNvSpPr txBox="1"/>
          <p:nvPr/>
        </p:nvSpPr>
        <p:spPr>
          <a:xfrm>
            <a:off x="9220200" y="2463800"/>
            <a:ext cx="2159000" cy="279400"/>
          </a:xfrm>
          <a:prstGeom prst="rect">
            <a:avLst/>
          </a:prstGeom>
          <a:noFill/>
        </p:spPr>
        <p:txBody>
          <a:bodyPr vert="horz" wrap="square" lIns="0" tIns="0" rIns="0" bIns="0" rtlCol="0" anchor="t">
            <a:noAutofit/>
          </a:bodyPr>
          <a:lstStyle/>
          <a:p>
            <a:r>
              <a:rPr lang="en-US" sz="1250" b="1" spc="100">
                <a:solidFill>
                  <a:srgbClr val="0B1F3A"/>
                </a:solidFill>
                <a:latin typeface="Segoe UI Semibold" panose="020B0702040204020203" pitchFamily="34" charset="0"/>
              </a:rPr>
              <a:t>PROGRAMMING</a:t>
            </a:r>
          </a:p>
        </p:txBody>
      </p:sp>
      <p:sp>
        <p:nvSpPr>
          <p:cNvPr id="28" name="TextBox 27">
            <a:extLst>
              <a:ext uri="{FF2B5EF4-FFF2-40B4-BE49-F238E27FC236}">
                <a16:creationId xmlns:a16="http://schemas.microsoft.com/office/drawing/2014/main" id="{D4A22B4F-8735-D3B7-85D6-4FBC0A2D1200}"/>
              </a:ext>
            </a:extLst>
          </p:cNvPr>
          <p:cNvSpPr txBox="1"/>
          <p:nvPr/>
        </p:nvSpPr>
        <p:spPr>
          <a:xfrm>
            <a:off x="9220200" y="2794000"/>
            <a:ext cx="2159000" cy="787400"/>
          </a:xfrm>
          <a:prstGeom prst="rect">
            <a:avLst/>
          </a:prstGeom>
          <a:noFill/>
        </p:spPr>
        <p:txBody>
          <a:bodyPr vert="horz" wrap="square" lIns="0" tIns="0" rIns="0" bIns="0" rtlCol="0" anchor="t">
            <a:noAutofit/>
          </a:bodyPr>
          <a:lstStyle/>
          <a:p>
            <a:pPr>
              <a:lnSpc>
                <a:spcPct val="115000"/>
              </a:lnSpc>
            </a:pPr>
            <a:r>
              <a:rPr lang="en-US" sz="1100">
                <a:solidFill>
                  <a:srgbClr val="5B6B80"/>
                </a:solidFill>
                <a:latin typeface="Segoe UI" panose="020B0502040204020203" pitchFamily="34" charset="0"/>
              </a:rPr>
              <a:t>PLC, HMI, SCADA, drives, sensors &amp; communication integration.</a:t>
            </a:r>
          </a:p>
        </p:txBody>
      </p:sp>
      <p:sp>
        <p:nvSpPr>
          <p:cNvPr id="29" name="Rectangle: Rounded Corners 28">
            <a:extLst>
              <a:ext uri="{FF2B5EF4-FFF2-40B4-BE49-F238E27FC236}">
                <a16:creationId xmlns:a16="http://schemas.microsoft.com/office/drawing/2014/main" id="{552C0FA2-2B10-F77E-9209-D7E7B076724D}"/>
              </a:ext>
            </a:extLst>
          </p:cNvPr>
          <p:cNvSpPr/>
          <p:nvPr/>
        </p:nvSpPr>
        <p:spPr>
          <a:xfrm>
            <a:off x="609600" y="3886200"/>
            <a:ext cx="2590800" cy="20320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AB81784-2F04-B5DE-DC40-7EDC3CE334D4}"/>
              </a:ext>
            </a:extLst>
          </p:cNvPr>
          <p:cNvSpPr/>
          <p:nvPr/>
        </p:nvSpPr>
        <p:spPr>
          <a:xfrm>
            <a:off x="838200" y="4089400"/>
            <a:ext cx="482600" cy="482600"/>
          </a:xfrm>
          <a:prstGeom prst="ellipse">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28D9B2C1-E8CF-2A66-AAC1-5706EC2A81F8}"/>
              </a:ext>
            </a:extLst>
          </p:cNvPr>
          <p:cNvSpPr txBox="1"/>
          <p:nvPr/>
        </p:nvSpPr>
        <p:spPr>
          <a:xfrm>
            <a:off x="838200" y="4089400"/>
            <a:ext cx="482600" cy="482600"/>
          </a:xfrm>
          <a:prstGeom prst="rect">
            <a:avLst/>
          </a:prstGeom>
          <a:noFill/>
        </p:spPr>
        <p:txBody>
          <a:bodyPr vert="horz" wrap="square" lIns="0" tIns="0" rIns="0" bIns="0" rtlCol="0" anchor="ctr">
            <a:noAutofit/>
          </a:bodyPr>
          <a:lstStyle/>
          <a:p>
            <a:pPr algn="ctr"/>
            <a:r>
              <a:rPr lang="en-US" sz="1300" b="1">
                <a:solidFill>
                  <a:srgbClr val="FFFFFF"/>
                </a:solidFill>
                <a:latin typeface="Segoe UI Semibold" panose="020B0702040204020203" pitchFamily="34" charset="0"/>
              </a:rPr>
              <a:t>05</a:t>
            </a:r>
          </a:p>
        </p:txBody>
      </p:sp>
      <p:sp>
        <p:nvSpPr>
          <p:cNvPr id="32" name="TextBox 31">
            <a:extLst>
              <a:ext uri="{FF2B5EF4-FFF2-40B4-BE49-F238E27FC236}">
                <a16:creationId xmlns:a16="http://schemas.microsoft.com/office/drawing/2014/main" id="{9D3DC822-B35E-4060-0906-11BE979ABAFA}"/>
              </a:ext>
            </a:extLst>
          </p:cNvPr>
          <p:cNvSpPr txBox="1"/>
          <p:nvPr/>
        </p:nvSpPr>
        <p:spPr>
          <a:xfrm>
            <a:off x="838200" y="4724400"/>
            <a:ext cx="2159000" cy="279400"/>
          </a:xfrm>
          <a:prstGeom prst="rect">
            <a:avLst/>
          </a:prstGeom>
          <a:noFill/>
        </p:spPr>
        <p:txBody>
          <a:bodyPr vert="horz" wrap="square" lIns="0" tIns="0" rIns="0" bIns="0" rtlCol="0" anchor="t">
            <a:noAutofit/>
          </a:bodyPr>
          <a:lstStyle/>
          <a:p>
            <a:r>
              <a:rPr lang="en-US" sz="1250" b="1" spc="100">
                <a:solidFill>
                  <a:srgbClr val="0B1F3A"/>
                </a:solidFill>
                <a:latin typeface="Segoe UI Semibold" panose="020B0702040204020203" pitchFamily="34" charset="0"/>
              </a:rPr>
              <a:t>PANEL &amp; SYSTEM</a:t>
            </a:r>
          </a:p>
        </p:txBody>
      </p:sp>
      <p:sp>
        <p:nvSpPr>
          <p:cNvPr id="33" name="TextBox 32">
            <a:extLst>
              <a:ext uri="{FF2B5EF4-FFF2-40B4-BE49-F238E27FC236}">
                <a16:creationId xmlns:a16="http://schemas.microsoft.com/office/drawing/2014/main" id="{FD5D5CB7-146F-9759-329F-F844FDBA632C}"/>
              </a:ext>
            </a:extLst>
          </p:cNvPr>
          <p:cNvSpPr txBox="1"/>
          <p:nvPr/>
        </p:nvSpPr>
        <p:spPr>
          <a:xfrm>
            <a:off x="838200" y="5054600"/>
            <a:ext cx="2159000" cy="787400"/>
          </a:xfrm>
          <a:prstGeom prst="rect">
            <a:avLst/>
          </a:prstGeom>
          <a:noFill/>
        </p:spPr>
        <p:txBody>
          <a:bodyPr vert="horz" wrap="square" lIns="0" tIns="0" rIns="0" bIns="0" rtlCol="0" anchor="t">
            <a:noAutofit/>
          </a:bodyPr>
          <a:lstStyle/>
          <a:p>
            <a:pPr>
              <a:lnSpc>
                <a:spcPct val="115000"/>
              </a:lnSpc>
            </a:pPr>
            <a:r>
              <a:rPr lang="en-US" sz="1100">
                <a:solidFill>
                  <a:srgbClr val="5B6B80"/>
                </a:solidFill>
                <a:latin typeface="Segoe UI" panose="020B0502040204020203" pitchFamily="34" charset="0"/>
              </a:rPr>
              <a:t>Build, wire, test &amp; prepare the automation system.</a:t>
            </a:r>
          </a:p>
        </p:txBody>
      </p:sp>
      <p:sp>
        <p:nvSpPr>
          <p:cNvPr id="34" name="Rectangle: Rounded Corners 33">
            <a:extLst>
              <a:ext uri="{FF2B5EF4-FFF2-40B4-BE49-F238E27FC236}">
                <a16:creationId xmlns:a16="http://schemas.microsoft.com/office/drawing/2014/main" id="{DF00B4F2-7D48-1EEA-1169-2CA4AE8FAB6C}"/>
              </a:ext>
            </a:extLst>
          </p:cNvPr>
          <p:cNvSpPr/>
          <p:nvPr/>
        </p:nvSpPr>
        <p:spPr>
          <a:xfrm>
            <a:off x="3403600" y="3886200"/>
            <a:ext cx="2590800" cy="20320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053BF41D-10B9-6849-0238-925923F865BF}"/>
              </a:ext>
            </a:extLst>
          </p:cNvPr>
          <p:cNvSpPr/>
          <p:nvPr/>
        </p:nvSpPr>
        <p:spPr>
          <a:xfrm>
            <a:off x="3632200" y="4089400"/>
            <a:ext cx="482600" cy="482600"/>
          </a:xfrm>
          <a:prstGeom prst="ellipse">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ED28C5B5-6E11-2353-BF92-205B64EBBE98}"/>
              </a:ext>
            </a:extLst>
          </p:cNvPr>
          <p:cNvSpPr txBox="1"/>
          <p:nvPr/>
        </p:nvSpPr>
        <p:spPr>
          <a:xfrm>
            <a:off x="3632200" y="4089400"/>
            <a:ext cx="482600" cy="482600"/>
          </a:xfrm>
          <a:prstGeom prst="rect">
            <a:avLst/>
          </a:prstGeom>
          <a:noFill/>
        </p:spPr>
        <p:txBody>
          <a:bodyPr vert="horz" wrap="square" lIns="0" tIns="0" rIns="0" bIns="0" rtlCol="0" anchor="ctr">
            <a:noAutofit/>
          </a:bodyPr>
          <a:lstStyle/>
          <a:p>
            <a:pPr algn="ctr"/>
            <a:r>
              <a:rPr lang="en-US" sz="1300" b="1">
                <a:solidFill>
                  <a:srgbClr val="FFFFFF"/>
                </a:solidFill>
                <a:latin typeface="Segoe UI Semibold" panose="020B0702040204020203" pitchFamily="34" charset="0"/>
              </a:rPr>
              <a:t>06</a:t>
            </a:r>
          </a:p>
        </p:txBody>
      </p:sp>
      <p:sp>
        <p:nvSpPr>
          <p:cNvPr id="37" name="TextBox 36">
            <a:extLst>
              <a:ext uri="{FF2B5EF4-FFF2-40B4-BE49-F238E27FC236}">
                <a16:creationId xmlns:a16="http://schemas.microsoft.com/office/drawing/2014/main" id="{FCE6A655-1B81-8BD1-23CA-5428D7A878B2}"/>
              </a:ext>
            </a:extLst>
          </p:cNvPr>
          <p:cNvSpPr txBox="1"/>
          <p:nvPr/>
        </p:nvSpPr>
        <p:spPr>
          <a:xfrm>
            <a:off x="3632200" y="4724400"/>
            <a:ext cx="2159000" cy="279400"/>
          </a:xfrm>
          <a:prstGeom prst="rect">
            <a:avLst/>
          </a:prstGeom>
          <a:noFill/>
        </p:spPr>
        <p:txBody>
          <a:bodyPr vert="horz" wrap="square" lIns="0" tIns="0" rIns="0" bIns="0" rtlCol="0" anchor="t">
            <a:noAutofit/>
          </a:bodyPr>
          <a:lstStyle/>
          <a:p>
            <a:r>
              <a:rPr lang="en-US" sz="1250" b="1" spc="100">
                <a:solidFill>
                  <a:srgbClr val="0B1F3A"/>
                </a:solidFill>
                <a:latin typeface="Segoe UI Semibold" panose="020B0702040204020203" pitchFamily="34" charset="0"/>
              </a:rPr>
              <a:t>COMMISSIONING</a:t>
            </a:r>
          </a:p>
        </p:txBody>
      </p:sp>
      <p:sp>
        <p:nvSpPr>
          <p:cNvPr id="38" name="TextBox 37">
            <a:extLst>
              <a:ext uri="{FF2B5EF4-FFF2-40B4-BE49-F238E27FC236}">
                <a16:creationId xmlns:a16="http://schemas.microsoft.com/office/drawing/2014/main" id="{C475F0AD-58B6-1C5A-66A6-C73804259CFB}"/>
              </a:ext>
            </a:extLst>
          </p:cNvPr>
          <p:cNvSpPr txBox="1"/>
          <p:nvPr/>
        </p:nvSpPr>
        <p:spPr>
          <a:xfrm>
            <a:off x="3632200" y="5054600"/>
            <a:ext cx="2159000" cy="787400"/>
          </a:xfrm>
          <a:prstGeom prst="rect">
            <a:avLst/>
          </a:prstGeom>
          <a:noFill/>
        </p:spPr>
        <p:txBody>
          <a:bodyPr vert="horz" wrap="square" lIns="0" tIns="0" rIns="0" bIns="0" rtlCol="0" anchor="t">
            <a:noAutofit/>
          </a:bodyPr>
          <a:lstStyle/>
          <a:p>
            <a:pPr>
              <a:lnSpc>
                <a:spcPct val="115000"/>
              </a:lnSpc>
            </a:pPr>
            <a:r>
              <a:rPr lang="en-US" sz="1100">
                <a:solidFill>
                  <a:srgbClr val="5B6B80"/>
                </a:solidFill>
                <a:latin typeface="Segoe UI" panose="020B0502040204020203" pitchFamily="34" charset="0"/>
              </a:rPr>
              <a:t>Install, configure, test &amp; optimize on site.</a:t>
            </a:r>
          </a:p>
        </p:txBody>
      </p:sp>
      <p:sp>
        <p:nvSpPr>
          <p:cNvPr id="39" name="Rectangle: Rounded Corners 38">
            <a:extLst>
              <a:ext uri="{FF2B5EF4-FFF2-40B4-BE49-F238E27FC236}">
                <a16:creationId xmlns:a16="http://schemas.microsoft.com/office/drawing/2014/main" id="{64629773-9A60-CFDD-8F73-6E9DA97F14F2}"/>
              </a:ext>
            </a:extLst>
          </p:cNvPr>
          <p:cNvSpPr/>
          <p:nvPr/>
        </p:nvSpPr>
        <p:spPr>
          <a:xfrm>
            <a:off x="6197600" y="3886200"/>
            <a:ext cx="2590800" cy="20320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4B811FFC-C504-8BB9-1027-CD11BCCB9D0F}"/>
              </a:ext>
            </a:extLst>
          </p:cNvPr>
          <p:cNvSpPr/>
          <p:nvPr/>
        </p:nvSpPr>
        <p:spPr>
          <a:xfrm>
            <a:off x="6426200" y="4089400"/>
            <a:ext cx="482600" cy="482600"/>
          </a:xfrm>
          <a:prstGeom prst="ellipse">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593919E3-B782-18BF-9182-E518DC160872}"/>
              </a:ext>
            </a:extLst>
          </p:cNvPr>
          <p:cNvSpPr txBox="1"/>
          <p:nvPr/>
        </p:nvSpPr>
        <p:spPr>
          <a:xfrm>
            <a:off x="6426200" y="4089400"/>
            <a:ext cx="482600" cy="482600"/>
          </a:xfrm>
          <a:prstGeom prst="rect">
            <a:avLst/>
          </a:prstGeom>
          <a:noFill/>
        </p:spPr>
        <p:txBody>
          <a:bodyPr vert="horz" wrap="square" lIns="0" tIns="0" rIns="0" bIns="0" rtlCol="0" anchor="ctr">
            <a:noAutofit/>
          </a:bodyPr>
          <a:lstStyle/>
          <a:p>
            <a:pPr algn="ctr"/>
            <a:r>
              <a:rPr lang="en-US" sz="1300" b="1">
                <a:solidFill>
                  <a:srgbClr val="FFFFFF"/>
                </a:solidFill>
                <a:latin typeface="Segoe UI Semibold" panose="020B0702040204020203" pitchFamily="34" charset="0"/>
              </a:rPr>
              <a:t>07</a:t>
            </a:r>
          </a:p>
        </p:txBody>
      </p:sp>
      <p:sp>
        <p:nvSpPr>
          <p:cNvPr id="42" name="TextBox 41">
            <a:extLst>
              <a:ext uri="{FF2B5EF4-FFF2-40B4-BE49-F238E27FC236}">
                <a16:creationId xmlns:a16="http://schemas.microsoft.com/office/drawing/2014/main" id="{C223C009-8DFB-C04A-C140-A9AE6DCE87F6}"/>
              </a:ext>
            </a:extLst>
          </p:cNvPr>
          <p:cNvSpPr txBox="1"/>
          <p:nvPr/>
        </p:nvSpPr>
        <p:spPr>
          <a:xfrm>
            <a:off x="6426200" y="4724400"/>
            <a:ext cx="2159000" cy="279400"/>
          </a:xfrm>
          <a:prstGeom prst="rect">
            <a:avLst/>
          </a:prstGeom>
          <a:noFill/>
        </p:spPr>
        <p:txBody>
          <a:bodyPr vert="horz" wrap="square" lIns="0" tIns="0" rIns="0" bIns="0" rtlCol="0" anchor="t">
            <a:noAutofit/>
          </a:bodyPr>
          <a:lstStyle/>
          <a:p>
            <a:r>
              <a:rPr lang="en-US" sz="1250" b="1" spc="100">
                <a:solidFill>
                  <a:srgbClr val="0B1F3A"/>
                </a:solidFill>
                <a:latin typeface="Segoe UI Semibold" panose="020B0702040204020203" pitchFamily="34" charset="0"/>
              </a:rPr>
              <a:t>TRAINING</a:t>
            </a:r>
          </a:p>
        </p:txBody>
      </p:sp>
      <p:sp>
        <p:nvSpPr>
          <p:cNvPr id="43" name="TextBox 42">
            <a:extLst>
              <a:ext uri="{FF2B5EF4-FFF2-40B4-BE49-F238E27FC236}">
                <a16:creationId xmlns:a16="http://schemas.microsoft.com/office/drawing/2014/main" id="{97ABF7D5-54ED-432B-6212-47FF7CF8D81B}"/>
              </a:ext>
            </a:extLst>
          </p:cNvPr>
          <p:cNvSpPr txBox="1"/>
          <p:nvPr/>
        </p:nvSpPr>
        <p:spPr>
          <a:xfrm>
            <a:off x="6426200" y="5054600"/>
            <a:ext cx="2159000" cy="787400"/>
          </a:xfrm>
          <a:prstGeom prst="rect">
            <a:avLst/>
          </a:prstGeom>
          <a:noFill/>
        </p:spPr>
        <p:txBody>
          <a:bodyPr vert="horz" wrap="square" lIns="0" tIns="0" rIns="0" bIns="0" rtlCol="0" anchor="t">
            <a:noAutofit/>
          </a:bodyPr>
          <a:lstStyle/>
          <a:p>
            <a:pPr>
              <a:lnSpc>
                <a:spcPct val="115000"/>
              </a:lnSpc>
            </a:pPr>
            <a:r>
              <a:rPr lang="en-US" sz="1100">
                <a:solidFill>
                  <a:srgbClr val="5B6B80"/>
                </a:solidFill>
                <a:latin typeface="Segoe UI" panose="020B0502040204020203" pitchFamily="34" charset="0"/>
              </a:rPr>
              <a:t>Provide documentation, operator training &amp; knowledge transfer.</a:t>
            </a:r>
          </a:p>
        </p:txBody>
      </p:sp>
      <p:sp>
        <p:nvSpPr>
          <p:cNvPr id="44" name="Rectangle: Rounded Corners 43">
            <a:extLst>
              <a:ext uri="{FF2B5EF4-FFF2-40B4-BE49-F238E27FC236}">
                <a16:creationId xmlns:a16="http://schemas.microsoft.com/office/drawing/2014/main" id="{B36DFDCE-5AF0-D6BE-9B81-C2DD0346F505}"/>
              </a:ext>
            </a:extLst>
          </p:cNvPr>
          <p:cNvSpPr/>
          <p:nvPr/>
        </p:nvSpPr>
        <p:spPr>
          <a:xfrm>
            <a:off x="8991600" y="3886200"/>
            <a:ext cx="2590800" cy="20320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A9B6E247-2244-2982-A47B-40039E4C0F3F}"/>
              </a:ext>
            </a:extLst>
          </p:cNvPr>
          <p:cNvSpPr/>
          <p:nvPr/>
        </p:nvSpPr>
        <p:spPr>
          <a:xfrm>
            <a:off x="9220200" y="4089400"/>
            <a:ext cx="482600" cy="482600"/>
          </a:xfrm>
          <a:prstGeom prst="ellipse">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35795843-1641-6DB1-20DB-3EF21043C860}"/>
              </a:ext>
            </a:extLst>
          </p:cNvPr>
          <p:cNvSpPr txBox="1"/>
          <p:nvPr/>
        </p:nvSpPr>
        <p:spPr>
          <a:xfrm>
            <a:off x="9220200" y="4089400"/>
            <a:ext cx="482600" cy="482600"/>
          </a:xfrm>
          <a:prstGeom prst="rect">
            <a:avLst/>
          </a:prstGeom>
          <a:noFill/>
        </p:spPr>
        <p:txBody>
          <a:bodyPr vert="horz" wrap="square" lIns="0" tIns="0" rIns="0" bIns="0" rtlCol="0" anchor="ctr">
            <a:noAutofit/>
          </a:bodyPr>
          <a:lstStyle/>
          <a:p>
            <a:pPr algn="ctr"/>
            <a:r>
              <a:rPr lang="en-US" sz="1300" b="1">
                <a:solidFill>
                  <a:srgbClr val="FFFFFF"/>
                </a:solidFill>
                <a:latin typeface="Segoe UI Semibold" panose="020B0702040204020203" pitchFamily="34" charset="0"/>
              </a:rPr>
              <a:t>08</a:t>
            </a:r>
          </a:p>
        </p:txBody>
      </p:sp>
      <p:sp>
        <p:nvSpPr>
          <p:cNvPr id="47" name="TextBox 46">
            <a:extLst>
              <a:ext uri="{FF2B5EF4-FFF2-40B4-BE49-F238E27FC236}">
                <a16:creationId xmlns:a16="http://schemas.microsoft.com/office/drawing/2014/main" id="{0FACBD48-268E-C0FC-8526-20A8FA3053FF}"/>
              </a:ext>
            </a:extLst>
          </p:cNvPr>
          <p:cNvSpPr txBox="1"/>
          <p:nvPr/>
        </p:nvSpPr>
        <p:spPr>
          <a:xfrm>
            <a:off x="9220200" y="4724400"/>
            <a:ext cx="2159000" cy="279400"/>
          </a:xfrm>
          <a:prstGeom prst="rect">
            <a:avLst/>
          </a:prstGeom>
          <a:noFill/>
        </p:spPr>
        <p:txBody>
          <a:bodyPr vert="horz" wrap="square" lIns="0" tIns="0" rIns="0" bIns="0" rtlCol="0" anchor="t">
            <a:noAutofit/>
          </a:bodyPr>
          <a:lstStyle/>
          <a:p>
            <a:r>
              <a:rPr lang="en-US" sz="1250" b="1" spc="100">
                <a:solidFill>
                  <a:srgbClr val="0B1F3A"/>
                </a:solidFill>
                <a:latin typeface="Segoe UI Semibold" panose="020B0702040204020203" pitchFamily="34" charset="0"/>
              </a:rPr>
              <a:t>SUPPORT</a:t>
            </a:r>
          </a:p>
        </p:txBody>
      </p:sp>
      <p:sp>
        <p:nvSpPr>
          <p:cNvPr id="48" name="TextBox 47">
            <a:extLst>
              <a:ext uri="{FF2B5EF4-FFF2-40B4-BE49-F238E27FC236}">
                <a16:creationId xmlns:a16="http://schemas.microsoft.com/office/drawing/2014/main" id="{10D7E6CB-7B2C-36D0-163D-B20C4723C9DB}"/>
              </a:ext>
            </a:extLst>
          </p:cNvPr>
          <p:cNvSpPr txBox="1"/>
          <p:nvPr/>
        </p:nvSpPr>
        <p:spPr>
          <a:xfrm>
            <a:off x="9220200" y="5054600"/>
            <a:ext cx="2159000" cy="787400"/>
          </a:xfrm>
          <a:prstGeom prst="rect">
            <a:avLst/>
          </a:prstGeom>
          <a:noFill/>
        </p:spPr>
        <p:txBody>
          <a:bodyPr vert="horz" wrap="square" lIns="0" tIns="0" rIns="0" bIns="0" rtlCol="0" anchor="t">
            <a:noAutofit/>
          </a:bodyPr>
          <a:lstStyle/>
          <a:p>
            <a:pPr>
              <a:lnSpc>
                <a:spcPct val="115000"/>
              </a:lnSpc>
            </a:pPr>
            <a:r>
              <a:rPr lang="en-US" sz="1100">
                <a:solidFill>
                  <a:srgbClr val="5B6B80"/>
                </a:solidFill>
                <a:latin typeface="Segoe UI" panose="020B0502040204020203" pitchFamily="34" charset="0"/>
              </a:rPr>
              <a:t>Maintenance, troubleshooting, retrofit &amp; optimization.</a:t>
            </a:r>
          </a:p>
        </p:txBody>
      </p:sp>
      <p:sp>
        <p:nvSpPr>
          <p:cNvPr id="49" name="Rectangle 48">
            <a:extLst>
              <a:ext uri="{FF2B5EF4-FFF2-40B4-BE49-F238E27FC236}">
                <a16:creationId xmlns:a16="http://schemas.microsoft.com/office/drawing/2014/main" id="{C9CBEE90-2005-E64C-ED60-5826382F5775}"/>
              </a:ext>
            </a:extLst>
          </p:cNvPr>
          <p:cNvSpPr/>
          <p:nvPr/>
        </p:nvSpPr>
        <p:spPr>
          <a:xfrm>
            <a:off x="609600" y="6388100"/>
            <a:ext cx="109728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AC066C4A-2271-3AF9-9625-40CA97320A3E}"/>
              </a:ext>
            </a:extLst>
          </p:cNvPr>
          <p:cNvSpPr txBox="1"/>
          <p:nvPr/>
        </p:nvSpPr>
        <p:spPr>
          <a:xfrm>
            <a:off x="609600" y="6489700"/>
            <a:ext cx="6350000" cy="177800"/>
          </a:xfrm>
          <a:prstGeom prst="rect">
            <a:avLst/>
          </a:prstGeom>
          <a:noFill/>
        </p:spPr>
        <p:txBody>
          <a:bodyPr vert="horz" wrap="square" lIns="0" tIns="0" rIns="0" bIns="0" rtlCol="0" anchor="t">
            <a:noAutofit/>
          </a:bodyPr>
          <a:lstStyle/>
          <a:p>
            <a:r>
              <a:rPr lang="en-US" sz="850" spc="100">
                <a:solidFill>
                  <a:srgbClr val="5B6B80"/>
                </a:solidFill>
                <a:latin typeface="Segoe UI" panose="020B0502040204020203" pitchFamily="34" charset="0"/>
              </a:rPr>
              <a:t>MECHWARE  |  TECHNOLOGY FOR SMARTER SYSTEMS</a:t>
            </a:r>
          </a:p>
        </p:txBody>
      </p:sp>
      <p:sp>
        <p:nvSpPr>
          <p:cNvPr id="51" name="TextBox 50">
            <a:extLst>
              <a:ext uri="{FF2B5EF4-FFF2-40B4-BE49-F238E27FC236}">
                <a16:creationId xmlns:a16="http://schemas.microsoft.com/office/drawing/2014/main" id="{B917F8E4-7FD4-376E-06B9-F702814A3F67}"/>
              </a:ext>
            </a:extLst>
          </p:cNvPr>
          <p:cNvSpPr txBox="1"/>
          <p:nvPr/>
        </p:nvSpPr>
        <p:spPr>
          <a:xfrm>
            <a:off x="7772400" y="6489700"/>
            <a:ext cx="3810000" cy="177800"/>
          </a:xfrm>
          <a:prstGeom prst="rect">
            <a:avLst/>
          </a:prstGeom>
          <a:noFill/>
        </p:spPr>
        <p:txBody>
          <a:bodyPr vert="horz" wrap="square" lIns="0" tIns="0" rIns="0" bIns="0" rtlCol="0" anchor="t">
            <a:noAutofit/>
          </a:bodyPr>
          <a:lstStyle/>
          <a:p>
            <a:pPr algn="r"/>
            <a:r>
              <a:rPr lang="en-US" sz="950" b="1">
                <a:solidFill>
                  <a:srgbClr val="0B1F3A"/>
                </a:solidFill>
                <a:latin typeface="Segoe UI Semibold" panose="020B0702040204020203" pitchFamily="34" charset="0"/>
              </a:rPr>
              <a:t>09</a:t>
            </a:r>
          </a:p>
        </p:txBody>
      </p:sp>
    </p:spTree>
    <p:extLst>
      <p:ext uri="{BB962C8B-B14F-4D97-AF65-F5344CB8AC3E}">
        <p14:creationId xmlns:p14="http://schemas.microsoft.com/office/powerpoint/2010/main" val="1540531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3A8E2F-93F7-DD1B-3221-1E1A8FCB174C}"/>
              </a:ext>
            </a:extLst>
          </p:cNvPr>
          <p:cNvSpPr/>
          <p:nvPr/>
        </p:nvSpPr>
        <p:spPr>
          <a:xfrm>
            <a:off x="0" y="0"/>
            <a:ext cx="12192000" cy="1016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3C02ABE-6C16-0FFA-76B1-F0CD59A5888A}"/>
              </a:ext>
            </a:extLst>
          </p:cNvPr>
          <p:cNvSpPr/>
          <p:nvPr/>
        </p:nvSpPr>
        <p:spPr>
          <a:xfrm>
            <a:off x="0" y="0"/>
            <a:ext cx="2794000" cy="101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1DA0301-8365-7B6E-C17E-768960F1B190}"/>
              </a:ext>
            </a:extLst>
          </p:cNvPr>
          <p:cNvSpPr txBox="1"/>
          <p:nvPr/>
        </p:nvSpPr>
        <p:spPr>
          <a:xfrm>
            <a:off x="609600" y="381000"/>
            <a:ext cx="8890000" cy="203200"/>
          </a:xfrm>
          <a:prstGeom prst="rect">
            <a:avLst/>
          </a:prstGeom>
          <a:noFill/>
        </p:spPr>
        <p:txBody>
          <a:bodyPr vert="horz" wrap="square" lIns="0" tIns="0" rIns="0" bIns="0" rtlCol="0" anchor="t">
            <a:noAutofit/>
          </a:bodyPr>
          <a:lstStyle/>
          <a:p>
            <a:r>
              <a:rPr lang="en-US" sz="1050" b="1" spc="250">
                <a:solidFill>
                  <a:srgbClr val="00B4D8"/>
                </a:solidFill>
                <a:latin typeface="Segoe UI Semibold" panose="020B0702040204020203" pitchFamily="34" charset="0"/>
              </a:rPr>
              <a:t>08  —  DIFFERENTIATORS</a:t>
            </a:r>
          </a:p>
        </p:txBody>
      </p:sp>
      <p:sp>
        <p:nvSpPr>
          <p:cNvPr id="5" name="TextBox 4">
            <a:extLst>
              <a:ext uri="{FF2B5EF4-FFF2-40B4-BE49-F238E27FC236}">
                <a16:creationId xmlns:a16="http://schemas.microsoft.com/office/drawing/2014/main" id="{E1D66D9F-C652-9411-8B87-E721A5A5ECD9}"/>
              </a:ext>
            </a:extLst>
          </p:cNvPr>
          <p:cNvSpPr txBox="1"/>
          <p:nvPr/>
        </p:nvSpPr>
        <p:spPr>
          <a:xfrm>
            <a:off x="609600" y="609600"/>
            <a:ext cx="9652000" cy="558800"/>
          </a:xfrm>
          <a:prstGeom prst="rect">
            <a:avLst/>
          </a:prstGeom>
          <a:noFill/>
        </p:spPr>
        <p:txBody>
          <a:bodyPr vert="horz" wrap="square" lIns="0" tIns="0" rIns="0" bIns="0" rtlCol="0" anchor="t">
            <a:noAutofit/>
          </a:bodyPr>
          <a:lstStyle/>
          <a:p>
            <a:r>
              <a:rPr lang="en-US" sz="2800" b="1">
                <a:solidFill>
                  <a:srgbClr val="0B1F3A"/>
                </a:solidFill>
                <a:latin typeface="Segoe UI Semibold" panose="020B0702040204020203" pitchFamily="34" charset="0"/>
              </a:rPr>
              <a:t>Why MechWare?</a:t>
            </a:r>
          </a:p>
        </p:txBody>
      </p:sp>
      <p:sp>
        <p:nvSpPr>
          <p:cNvPr id="6" name="Rectangle 5">
            <a:extLst>
              <a:ext uri="{FF2B5EF4-FFF2-40B4-BE49-F238E27FC236}">
                <a16:creationId xmlns:a16="http://schemas.microsoft.com/office/drawing/2014/main" id="{3B1F81F0-AEDA-623A-1516-7182CBFB2172}"/>
              </a:ext>
            </a:extLst>
          </p:cNvPr>
          <p:cNvSpPr/>
          <p:nvPr/>
        </p:nvSpPr>
        <p:spPr>
          <a:xfrm>
            <a:off x="609600" y="1244600"/>
            <a:ext cx="711200" cy="50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9B6EF127-5AA4-5118-2C93-72BFB50B8761}"/>
              </a:ext>
            </a:extLst>
          </p:cNvPr>
          <p:cNvPicPr>
            <a:picLocks/>
          </p:cNvPicPr>
          <p:nvPr/>
        </p:nvPicPr>
        <p:blipFill>
          <a:blip>
            <a:extLst>
              <a:ext uri="{96DAC541-7B7A-43D3-8B79-37D633B846F1}">
                <asvg:svgBlip xmlns:asvg="http://schemas.microsoft.com/office/drawing/2016/SVG/main" r:embed="rId2"/>
              </a:ext>
            </a:extLst>
          </a:blip>
          <a:srcRect l="11000" t="19000" r="11000" b="28000"/>
          <a:stretch>
            <a:fillRect/>
          </a:stretch>
        </p:blipFill>
        <p:spPr>
          <a:xfrm>
            <a:off x="10439400" y="381000"/>
            <a:ext cx="1143001" cy="776655"/>
          </a:xfrm>
          <a:prstGeom prst="rect">
            <a:avLst/>
          </a:prstGeom>
        </p:spPr>
      </p:pic>
      <p:sp>
        <p:nvSpPr>
          <p:cNvPr id="9" name="Rectangle: Rounded Corners 8">
            <a:extLst>
              <a:ext uri="{FF2B5EF4-FFF2-40B4-BE49-F238E27FC236}">
                <a16:creationId xmlns:a16="http://schemas.microsoft.com/office/drawing/2014/main" id="{CA44E672-9722-98BE-73D0-1F1842817582}"/>
              </a:ext>
            </a:extLst>
          </p:cNvPr>
          <p:cNvSpPr/>
          <p:nvPr/>
        </p:nvSpPr>
        <p:spPr>
          <a:xfrm>
            <a:off x="609600" y="1600200"/>
            <a:ext cx="3454400" cy="15748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5AEEB57-7A38-F6B1-987C-32D2C966BE8A}"/>
              </a:ext>
            </a:extLst>
          </p:cNvPr>
          <p:cNvSpPr/>
          <p:nvPr/>
        </p:nvSpPr>
        <p:spPr>
          <a:xfrm>
            <a:off x="609600" y="1828800"/>
            <a:ext cx="50800" cy="355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F63C185-9063-9292-7F2E-F83B5D76FB4C}"/>
              </a:ext>
            </a:extLst>
          </p:cNvPr>
          <p:cNvSpPr txBox="1"/>
          <p:nvPr/>
        </p:nvSpPr>
        <p:spPr>
          <a:xfrm>
            <a:off x="863600" y="1803400"/>
            <a:ext cx="2997200" cy="279400"/>
          </a:xfrm>
          <a:prstGeom prst="rect">
            <a:avLst/>
          </a:prstGeom>
          <a:noFill/>
        </p:spPr>
        <p:txBody>
          <a:bodyPr vert="horz" wrap="square" lIns="0" tIns="0" rIns="0" bIns="0" rtlCol="0" anchor="ctr">
            <a:noAutofit/>
          </a:bodyPr>
          <a:lstStyle/>
          <a:p>
            <a:r>
              <a:rPr lang="en-US" sz="1400" b="1">
                <a:solidFill>
                  <a:srgbClr val="0B1F3A"/>
                </a:solidFill>
                <a:latin typeface="Segoe UI Semibold" panose="020B0702040204020203" pitchFamily="34" charset="0"/>
              </a:rPr>
              <a:t>Customized Engineering</a:t>
            </a:r>
          </a:p>
        </p:txBody>
      </p:sp>
      <p:sp>
        <p:nvSpPr>
          <p:cNvPr id="12" name="TextBox 11">
            <a:extLst>
              <a:ext uri="{FF2B5EF4-FFF2-40B4-BE49-F238E27FC236}">
                <a16:creationId xmlns:a16="http://schemas.microsoft.com/office/drawing/2014/main" id="{DDFE8981-C352-3290-B6A9-3930B87BCA47}"/>
              </a:ext>
            </a:extLst>
          </p:cNvPr>
          <p:cNvSpPr txBox="1"/>
          <p:nvPr/>
        </p:nvSpPr>
        <p:spPr>
          <a:xfrm>
            <a:off x="863600" y="2235200"/>
            <a:ext cx="2997200" cy="838200"/>
          </a:xfrm>
          <a:prstGeom prst="rect">
            <a:avLst/>
          </a:prstGeom>
          <a:noFill/>
        </p:spPr>
        <p:txBody>
          <a:bodyPr vert="horz" wrap="square" lIns="0" tIns="0" rIns="0" bIns="0" rtlCol="0" anchor="t">
            <a:noAutofit/>
          </a:bodyPr>
          <a:lstStyle/>
          <a:p>
            <a:pPr>
              <a:lnSpc>
                <a:spcPct val="110000"/>
              </a:lnSpc>
            </a:pPr>
            <a:r>
              <a:rPr lang="en-US" sz="1200">
                <a:solidFill>
                  <a:srgbClr val="5B6B80"/>
                </a:solidFill>
                <a:latin typeface="Segoe UI" panose="020B0502040204020203" pitchFamily="34" charset="0"/>
              </a:rPr>
              <a:t>Solutions designed around the actual process, machine &amp; operational requirement.</a:t>
            </a:r>
          </a:p>
        </p:txBody>
      </p:sp>
      <p:sp>
        <p:nvSpPr>
          <p:cNvPr id="13" name="Rectangle: Rounded Corners 12">
            <a:extLst>
              <a:ext uri="{FF2B5EF4-FFF2-40B4-BE49-F238E27FC236}">
                <a16:creationId xmlns:a16="http://schemas.microsoft.com/office/drawing/2014/main" id="{CB705622-3C43-F79D-1F4C-BE5D421E0320}"/>
              </a:ext>
            </a:extLst>
          </p:cNvPr>
          <p:cNvSpPr/>
          <p:nvPr/>
        </p:nvSpPr>
        <p:spPr>
          <a:xfrm>
            <a:off x="4368800" y="1600200"/>
            <a:ext cx="3454400" cy="15748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B5A5894-F674-84BF-1F6E-BD31148EA291}"/>
              </a:ext>
            </a:extLst>
          </p:cNvPr>
          <p:cNvSpPr/>
          <p:nvPr/>
        </p:nvSpPr>
        <p:spPr>
          <a:xfrm>
            <a:off x="4368800" y="1828800"/>
            <a:ext cx="50800" cy="355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0C1A498-74E1-2B4C-5325-D09E41CFA14E}"/>
              </a:ext>
            </a:extLst>
          </p:cNvPr>
          <p:cNvSpPr txBox="1"/>
          <p:nvPr/>
        </p:nvSpPr>
        <p:spPr>
          <a:xfrm>
            <a:off x="4622800" y="1803400"/>
            <a:ext cx="2997200" cy="279400"/>
          </a:xfrm>
          <a:prstGeom prst="rect">
            <a:avLst/>
          </a:prstGeom>
          <a:noFill/>
        </p:spPr>
        <p:txBody>
          <a:bodyPr vert="horz" wrap="square" lIns="0" tIns="0" rIns="0" bIns="0" rtlCol="0" anchor="ctr">
            <a:noAutofit/>
          </a:bodyPr>
          <a:lstStyle/>
          <a:p>
            <a:r>
              <a:rPr lang="en-US" sz="1400" b="1">
                <a:solidFill>
                  <a:srgbClr val="0B1F3A"/>
                </a:solidFill>
                <a:latin typeface="Segoe UI Semibold" panose="020B0702040204020203" pitchFamily="34" charset="0"/>
              </a:rPr>
              <a:t>End-to-End Delivery</a:t>
            </a:r>
          </a:p>
        </p:txBody>
      </p:sp>
      <p:sp>
        <p:nvSpPr>
          <p:cNvPr id="16" name="TextBox 15">
            <a:extLst>
              <a:ext uri="{FF2B5EF4-FFF2-40B4-BE49-F238E27FC236}">
                <a16:creationId xmlns:a16="http://schemas.microsoft.com/office/drawing/2014/main" id="{A37A79C3-B035-4726-3F3B-0F720286DA79}"/>
              </a:ext>
            </a:extLst>
          </p:cNvPr>
          <p:cNvSpPr txBox="1"/>
          <p:nvPr/>
        </p:nvSpPr>
        <p:spPr>
          <a:xfrm>
            <a:off x="4622800" y="2235200"/>
            <a:ext cx="2997200" cy="838200"/>
          </a:xfrm>
          <a:prstGeom prst="rect">
            <a:avLst/>
          </a:prstGeom>
          <a:noFill/>
        </p:spPr>
        <p:txBody>
          <a:bodyPr vert="horz" wrap="square" lIns="0" tIns="0" rIns="0" bIns="0" rtlCol="0" anchor="t">
            <a:noAutofit/>
          </a:bodyPr>
          <a:lstStyle/>
          <a:p>
            <a:pPr>
              <a:lnSpc>
                <a:spcPct val="110000"/>
              </a:lnSpc>
            </a:pPr>
            <a:r>
              <a:rPr lang="en-US" sz="1200">
                <a:solidFill>
                  <a:srgbClr val="5B6B80"/>
                </a:solidFill>
                <a:latin typeface="Segoe UI" panose="020B0502040204020203" pitchFamily="34" charset="0"/>
              </a:rPr>
              <a:t>Engineering, programming, integration, commissioning &amp; technical support.</a:t>
            </a:r>
          </a:p>
        </p:txBody>
      </p:sp>
      <p:sp>
        <p:nvSpPr>
          <p:cNvPr id="17" name="Rectangle: Rounded Corners 16">
            <a:extLst>
              <a:ext uri="{FF2B5EF4-FFF2-40B4-BE49-F238E27FC236}">
                <a16:creationId xmlns:a16="http://schemas.microsoft.com/office/drawing/2014/main" id="{807ED8EC-C11C-9F6D-1426-91C2EB35E01B}"/>
              </a:ext>
            </a:extLst>
          </p:cNvPr>
          <p:cNvSpPr/>
          <p:nvPr/>
        </p:nvSpPr>
        <p:spPr>
          <a:xfrm>
            <a:off x="8128000" y="1600200"/>
            <a:ext cx="3454400" cy="15748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32EC2A8-2BBF-7C16-B767-67F7629008ED}"/>
              </a:ext>
            </a:extLst>
          </p:cNvPr>
          <p:cNvSpPr/>
          <p:nvPr/>
        </p:nvSpPr>
        <p:spPr>
          <a:xfrm>
            <a:off x="8128000" y="1828800"/>
            <a:ext cx="50800" cy="355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C5FEF88-1994-BF31-5D82-CF5270C3CC16}"/>
              </a:ext>
            </a:extLst>
          </p:cNvPr>
          <p:cNvSpPr txBox="1"/>
          <p:nvPr/>
        </p:nvSpPr>
        <p:spPr>
          <a:xfrm>
            <a:off x="8382000" y="1803400"/>
            <a:ext cx="2997200" cy="279400"/>
          </a:xfrm>
          <a:prstGeom prst="rect">
            <a:avLst/>
          </a:prstGeom>
          <a:noFill/>
        </p:spPr>
        <p:txBody>
          <a:bodyPr vert="horz" wrap="square" lIns="0" tIns="0" rIns="0" bIns="0" rtlCol="0" anchor="ctr">
            <a:noAutofit/>
          </a:bodyPr>
          <a:lstStyle/>
          <a:p>
            <a:r>
              <a:rPr lang="en-US" sz="1400" b="1">
                <a:solidFill>
                  <a:srgbClr val="0B1F3A"/>
                </a:solidFill>
                <a:latin typeface="Segoe UI Semibold" panose="020B0702040204020203" pitchFamily="34" charset="0"/>
              </a:rPr>
              <a:t>Multi-Platform Expertise</a:t>
            </a:r>
          </a:p>
        </p:txBody>
      </p:sp>
      <p:sp>
        <p:nvSpPr>
          <p:cNvPr id="20" name="TextBox 19">
            <a:extLst>
              <a:ext uri="{FF2B5EF4-FFF2-40B4-BE49-F238E27FC236}">
                <a16:creationId xmlns:a16="http://schemas.microsoft.com/office/drawing/2014/main" id="{5F62E63F-5818-7640-9B04-E0A19D3CB4EE}"/>
              </a:ext>
            </a:extLst>
          </p:cNvPr>
          <p:cNvSpPr txBox="1"/>
          <p:nvPr/>
        </p:nvSpPr>
        <p:spPr>
          <a:xfrm>
            <a:off x="8382000" y="2235200"/>
            <a:ext cx="2997200" cy="838200"/>
          </a:xfrm>
          <a:prstGeom prst="rect">
            <a:avLst/>
          </a:prstGeom>
          <a:noFill/>
        </p:spPr>
        <p:txBody>
          <a:bodyPr vert="horz" wrap="square" lIns="0" tIns="0" rIns="0" bIns="0" rtlCol="0" anchor="t">
            <a:noAutofit/>
          </a:bodyPr>
          <a:lstStyle/>
          <a:p>
            <a:pPr>
              <a:lnSpc>
                <a:spcPct val="110000"/>
              </a:lnSpc>
            </a:pPr>
            <a:r>
              <a:rPr lang="en-US" sz="1200">
                <a:solidFill>
                  <a:srgbClr val="5B6B80"/>
                </a:solidFill>
                <a:latin typeface="Segoe UI" panose="020B0502040204020203" pitchFamily="34" charset="0"/>
              </a:rPr>
              <a:t>Working knowledge across Siemens, Mitsubishi Electric, Delta &amp; Omron technologies.</a:t>
            </a:r>
          </a:p>
        </p:txBody>
      </p:sp>
      <p:sp>
        <p:nvSpPr>
          <p:cNvPr id="21" name="Rectangle: Rounded Corners 20">
            <a:extLst>
              <a:ext uri="{FF2B5EF4-FFF2-40B4-BE49-F238E27FC236}">
                <a16:creationId xmlns:a16="http://schemas.microsoft.com/office/drawing/2014/main" id="{EFAF8AFF-40C2-CDCB-2196-7F154681405B}"/>
              </a:ext>
            </a:extLst>
          </p:cNvPr>
          <p:cNvSpPr/>
          <p:nvPr/>
        </p:nvSpPr>
        <p:spPr>
          <a:xfrm>
            <a:off x="609600" y="3403600"/>
            <a:ext cx="3454400" cy="15748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2F28F32-4551-CA48-06C5-D7242FAF6BDE}"/>
              </a:ext>
            </a:extLst>
          </p:cNvPr>
          <p:cNvSpPr/>
          <p:nvPr/>
        </p:nvSpPr>
        <p:spPr>
          <a:xfrm>
            <a:off x="609600" y="3632200"/>
            <a:ext cx="50800" cy="355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C72D482D-AF53-D7AF-2B1D-AE4F6C40CF10}"/>
              </a:ext>
            </a:extLst>
          </p:cNvPr>
          <p:cNvSpPr txBox="1"/>
          <p:nvPr/>
        </p:nvSpPr>
        <p:spPr>
          <a:xfrm>
            <a:off x="863600" y="3606800"/>
            <a:ext cx="2997200" cy="279400"/>
          </a:xfrm>
          <a:prstGeom prst="rect">
            <a:avLst/>
          </a:prstGeom>
          <a:noFill/>
        </p:spPr>
        <p:txBody>
          <a:bodyPr vert="horz" wrap="square" lIns="0" tIns="0" rIns="0" bIns="0" rtlCol="0" anchor="ctr">
            <a:noAutofit/>
          </a:bodyPr>
          <a:lstStyle/>
          <a:p>
            <a:r>
              <a:rPr lang="en-US" sz="1400" b="1">
                <a:solidFill>
                  <a:srgbClr val="0B1F3A"/>
                </a:solidFill>
                <a:latin typeface="Segoe UI Semibold" panose="020B0702040204020203" pitchFamily="34" charset="0"/>
              </a:rPr>
              <a:t>Retrofit Capability</a:t>
            </a:r>
          </a:p>
        </p:txBody>
      </p:sp>
      <p:sp>
        <p:nvSpPr>
          <p:cNvPr id="24" name="TextBox 23">
            <a:extLst>
              <a:ext uri="{FF2B5EF4-FFF2-40B4-BE49-F238E27FC236}">
                <a16:creationId xmlns:a16="http://schemas.microsoft.com/office/drawing/2014/main" id="{14C060A6-8E6C-A977-BEA6-B583696C38BF}"/>
              </a:ext>
            </a:extLst>
          </p:cNvPr>
          <p:cNvSpPr txBox="1"/>
          <p:nvPr/>
        </p:nvSpPr>
        <p:spPr>
          <a:xfrm>
            <a:off x="863600" y="4038600"/>
            <a:ext cx="2997200" cy="838200"/>
          </a:xfrm>
          <a:prstGeom prst="rect">
            <a:avLst/>
          </a:prstGeom>
          <a:noFill/>
        </p:spPr>
        <p:txBody>
          <a:bodyPr vert="horz" wrap="square" lIns="0" tIns="0" rIns="0" bIns="0" rtlCol="0" anchor="t">
            <a:noAutofit/>
          </a:bodyPr>
          <a:lstStyle/>
          <a:p>
            <a:pPr>
              <a:lnSpc>
                <a:spcPct val="110000"/>
              </a:lnSpc>
            </a:pPr>
            <a:r>
              <a:rPr lang="en-US" sz="1200">
                <a:solidFill>
                  <a:srgbClr val="5B6B80"/>
                </a:solidFill>
                <a:latin typeface="Segoe UI" panose="020B0502040204020203" pitchFamily="34" charset="0"/>
              </a:rPr>
              <a:t>Modernize existing machinery &amp; controls while protecting practical investments.</a:t>
            </a:r>
          </a:p>
        </p:txBody>
      </p:sp>
      <p:sp>
        <p:nvSpPr>
          <p:cNvPr id="25" name="Rectangle: Rounded Corners 24">
            <a:extLst>
              <a:ext uri="{FF2B5EF4-FFF2-40B4-BE49-F238E27FC236}">
                <a16:creationId xmlns:a16="http://schemas.microsoft.com/office/drawing/2014/main" id="{DAD724ED-8471-1963-CCBA-DAF8AFA6B8B1}"/>
              </a:ext>
            </a:extLst>
          </p:cNvPr>
          <p:cNvSpPr/>
          <p:nvPr/>
        </p:nvSpPr>
        <p:spPr>
          <a:xfrm>
            <a:off x="4368800" y="3403600"/>
            <a:ext cx="3454400" cy="15748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E6308EC-110A-3F59-59FA-008BC5FCCEEE}"/>
              </a:ext>
            </a:extLst>
          </p:cNvPr>
          <p:cNvSpPr/>
          <p:nvPr/>
        </p:nvSpPr>
        <p:spPr>
          <a:xfrm>
            <a:off x="4368800" y="3632200"/>
            <a:ext cx="50800" cy="355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8A566587-90B6-769A-FE16-E91892F69751}"/>
              </a:ext>
            </a:extLst>
          </p:cNvPr>
          <p:cNvSpPr txBox="1"/>
          <p:nvPr/>
        </p:nvSpPr>
        <p:spPr>
          <a:xfrm>
            <a:off x="4622800" y="3606800"/>
            <a:ext cx="2997200" cy="279400"/>
          </a:xfrm>
          <a:prstGeom prst="rect">
            <a:avLst/>
          </a:prstGeom>
          <a:noFill/>
        </p:spPr>
        <p:txBody>
          <a:bodyPr vert="horz" wrap="square" lIns="0" tIns="0" rIns="0" bIns="0" rtlCol="0" anchor="ctr">
            <a:noAutofit/>
          </a:bodyPr>
          <a:lstStyle/>
          <a:p>
            <a:r>
              <a:rPr lang="en-US" sz="1400" b="1">
                <a:solidFill>
                  <a:srgbClr val="0B1F3A"/>
                </a:solidFill>
                <a:latin typeface="Segoe UI Semibold" panose="020B0702040204020203" pitchFamily="34" charset="0"/>
              </a:rPr>
              <a:t>Modern Technology</a:t>
            </a:r>
          </a:p>
        </p:txBody>
      </p:sp>
      <p:sp>
        <p:nvSpPr>
          <p:cNvPr id="28" name="TextBox 27">
            <a:extLst>
              <a:ext uri="{FF2B5EF4-FFF2-40B4-BE49-F238E27FC236}">
                <a16:creationId xmlns:a16="http://schemas.microsoft.com/office/drawing/2014/main" id="{040BAF3E-45AE-B3AB-D0FB-68490810BA2C}"/>
              </a:ext>
            </a:extLst>
          </p:cNvPr>
          <p:cNvSpPr txBox="1"/>
          <p:nvPr/>
        </p:nvSpPr>
        <p:spPr>
          <a:xfrm>
            <a:off x="4622800" y="4038600"/>
            <a:ext cx="2997200" cy="838200"/>
          </a:xfrm>
          <a:prstGeom prst="rect">
            <a:avLst/>
          </a:prstGeom>
          <a:noFill/>
        </p:spPr>
        <p:txBody>
          <a:bodyPr vert="horz" wrap="square" lIns="0" tIns="0" rIns="0" bIns="0" rtlCol="0" anchor="t">
            <a:noAutofit/>
          </a:bodyPr>
          <a:lstStyle/>
          <a:p>
            <a:pPr>
              <a:lnSpc>
                <a:spcPct val="110000"/>
              </a:lnSpc>
            </a:pPr>
            <a:r>
              <a:rPr lang="en-US" sz="1200">
                <a:solidFill>
                  <a:srgbClr val="5B6B80"/>
                </a:solidFill>
                <a:latin typeface="Segoe UI" panose="020B0502040204020203" pitchFamily="34" charset="0"/>
              </a:rPr>
              <a:t>Automation combined with IIoT, smart sensors, SCADA &amp; Industry 4.0 concepts.</a:t>
            </a:r>
          </a:p>
        </p:txBody>
      </p:sp>
      <p:sp>
        <p:nvSpPr>
          <p:cNvPr id="29" name="Rectangle: Rounded Corners 28">
            <a:extLst>
              <a:ext uri="{FF2B5EF4-FFF2-40B4-BE49-F238E27FC236}">
                <a16:creationId xmlns:a16="http://schemas.microsoft.com/office/drawing/2014/main" id="{1353CC7C-7445-C1B5-403E-7C8F48FD1A00}"/>
              </a:ext>
            </a:extLst>
          </p:cNvPr>
          <p:cNvSpPr/>
          <p:nvPr/>
        </p:nvSpPr>
        <p:spPr>
          <a:xfrm>
            <a:off x="8128000" y="3403600"/>
            <a:ext cx="3454400" cy="15748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49B125B-06DC-3163-C960-5B66EAC61568}"/>
              </a:ext>
            </a:extLst>
          </p:cNvPr>
          <p:cNvSpPr/>
          <p:nvPr/>
        </p:nvSpPr>
        <p:spPr>
          <a:xfrm>
            <a:off x="8128000" y="3632200"/>
            <a:ext cx="50800" cy="355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FEDEB88F-95B4-D7C7-1734-94CD8F6BC487}"/>
              </a:ext>
            </a:extLst>
          </p:cNvPr>
          <p:cNvSpPr txBox="1"/>
          <p:nvPr/>
        </p:nvSpPr>
        <p:spPr>
          <a:xfrm>
            <a:off x="8382000" y="3606800"/>
            <a:ext cx="2997200" cy="279400"/>
          </a:xfrm>
          <a:prstGeom prst="rect">
            <a:avLst/>
          </a:prstGeom>
          <a:noFill/>
        </p:spPr>
        <p:txBody>
          <a:bodyPr vert="horz" wrap="square" lIns="0" tIns="0" rIns="0" bIns="0" rtlCol="0" anchor="ctr">
            <a:noAutofit/>
          </a:bodyPr>
          <a:lstStyle/>
          <a:p>
            <a:r>
              <a:rPr lang="en-US" sz="1400" b="1">
                <a:solidFill>
                  <a:srgbClr val="0B1F3A"/>
                </a:solidFill>
                <a:latin typeface="Segoe UI Semibold" panose="020B0702040204020203" pitchFamily="34" charset="0"/>
              </a:rPr>
              <a:t>Technical Support</a:t>
            </a:r>
          </a:p>
        </p:txBody>
      </p:sp>
      <p:sp>
        <p:nvSpPr>
          <p:cNvPr id="32" name="TextBox 31">
            <a:extLst>
              <a:ext uri="{FF2B5EF4-FFF2-40B4-BE49-F238E27FC236}">
                <a16:creationId xmlns:a16="http://schemas.microsoft.com/office/drawing/2014/main" id="{28A1CDFF-FB5C-B5C8-1301-FEA7D53E5198}"/>
              </a:ext>
            </a:extLst>
          </p:cNvPr>
          <p:cNvSpPr txBox="1"/>
          <p:nvPr/>
        </p:nvSpPr>
        <p:spPr>
          <a:xfrm>
            <a:off x="8382000" y="4038600"/>
            <a:ext cx="2997200" cy="838200"/>
          </a:xfrm>
          <a:prstGeom prst="rect">
            <a:avLst/>
          </a:prstGeom>
          <a:noFill/>
        </p:spPr>
        <p:txBody>
          <a:bodyPr vert="horz" wrap="square" lIns="0" tIns="0" rIns="0" bIns="0" rtlCol="0" anchor="t">
            <a:noAutofit/>
          </a:bodyPr>
          <a:lstStyle/>
          <a:p>
            <a:pPr>
              <a:lnSpc>
                <a:spcPct val="110000"/>
              </a:lnSpc>
            </a:pPr>
            <a:r>
              <a:rPr lang="en-US" sz="1200">
                <a:solidFill>
                  <a:srgbClr val="5B6B80"/>
                </a:solidFill>
                <a:latin typeface="Segoe UI" panose="020B0502040204020203" pitchFamily="34" charset="0"/>
              </a:rPr>
              <a:t>Support continues through troubleshooting, maintenance &amp; optimization.</a:t>
            </a:r>
          </a:p>
        </p:txBody>
      </p:sp>
      <p:sp>
        <p:nvSpPr>
          <p:cNvPr id="33" name="Rectangle: Rounded Corners 32">
            <a:extLst>
              <a:ext uri="{FF2B5EF4-FFF2-40B4-BE49-F238E27FC236}">
                <a16:creationId xmlns:a16="http://schemas.microsoft.com/office/drawing/2014/main" id="{280F3595-9994-CACA-DC05-81EF2BAE248A}"/>
              </a:ext>
            </a:extLst>
          </p:cNvPr>
          <p:cNvSpPr/>
          <p:nvPr/>
        </p:nvSpPr>
        <p:spPr>
          <a:xfrm>
            <a:off x="609600" y="5486400"/>
            <a:ext cx="10972800" cy="711200"/>
          </a:xfrm>
          <a:prstGeom prst="roundRect">
            <a:avLst>
              <a:gd name="adj" fmla="val 15000"/>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976D839E-3BB1-CE14-6A92-D1B6C71443D9}"/>
              </a:ext>
            </a:extLst>
          </p:cNvPr>
          <p:cNvSpPr txBox="1"/>
          <p:nvPr/>
        </p:nvSpPr>
        <p:spPr>
          <a:xfrm>
            <a:off x="914400" y="5486400"/>
            <a:ext cx="10363200" cy="711200"/>
          </a:xfrm>
          <a:prstGeom prst="rect">
            <a:avLst/>
          </a:prstGeom>
          <a:noFill/>
        </p:spPr>
        <p:txBody>
          <a:bodyPr vert="horz" wrap="square" lIns="0" tIns="0" rIns="0" bIns="0" rtlCol="0" anchor="ctr">
            <a:noAutofit/>
          </a:bodyPr>
          <a:lstStyle/>
          <a:p>
            <a:pPr algn="ctr">
              <a:lnSpc>
                <a:spcPct val="110000"/>
              </a:lnSpc>
            </a:pPr>
            <a:r>
              <a:rPr lang="en-US" sz="1250" i="1">
                <a:solidFill>
                  <a:srgbClr val="FFFFFF"/>
                </a:solidFill>
                <a:latin typeface="Segoe UI" panose="020B0502040204020203" pitchFamily="34" charset="0"/>
              </a:rPr>
              <a:t>“Successful automation is not simply installing technology — it is making industrial operations more reliable, visible and intelligent.”</a:t>
            </a:r>
          </a:p>
        </p:txBody>
      </p:sp>
      <p:sp>
        <p:nvSpPr>
          <p:cNvPr id="35" name="Rectangle 34">
            <a:extLst>
              <a:ext uri="{FF2B5EF4-FFF2-40B4-BE49-F238E27FC236}">
                <a16:creationId xmlns:a16="http://schemas.microsoft.com/office/drawing/2014/main" id="{C990B1A2-EBFB-618B-4574-5DF2CCE4FA33}"/>
              </a:ext>
            </a:extLst>
          </p:cNvPr>
          <p:cNvSpPr/>
          <p:nvPr/>
        </p:nvSpPr>
        <p:spPr>
          <a:xfrm>
            <a:off x="609600" y="6388100"/>
            <a:ext cx="109728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84B94EE0-7F18-09FC-EC4D-66B087B9D0D8}"/>
              </a:ext>
            </a:extLst>
          </p:cNvPr>
          <p:cNvSpPr txBox="1"/>
          <p:nvPr/>
        </p:nvSpPr>
        <p:spPr>
          <a:xfrm>
            <a:off x="609600" y="6489700"/>
            <a:ext cx="6350000" cy="177800"/>
          </a:xfrm>
          <a:prstGeom prst="rect">
            <a:avLst/>
          </a:prstGeom>
          <a:noFill/>
        </p:spPr>
        <p:txBody>
          <a:bodyPr vert="horz" wrap="square" lIns="0" tIns="0" rIns="0" bIns="0" rtlCol="0" anchor="t">
            <a:noAutofit/>
          </a:bodyPr>
          <a:lstStyle/>
          <a:p>
            <a:r>
              <a:rPr lang="en-US" sz="850" spc="100">
                <a:solidFill>
                  <a:srgbClr val="5B6B80"/>
                </a:solidFill>
                <a:latin typeface="Segoe UI" panose="020B0502040204020203" pitchFamily="34" charset="0"/>
              </a:rPr>
              <a:t>MECHWARE  |  TECHNOLOGY FOR SMARTER SYSTEMS</a:t>
            </a:r>
          </a:p>
        </p:txBody>
      </p:sp>
      <p:sp>
        <p:nvSpPr>
          <p:cNvPr id="37" name="TextBox 36">
            <a:extLst>
              <a:ext uri="{FF2B5EF4-FFF2-40B4-BE49-F238E27FC236}">
                <a16:creationId xmlns:a16="http://schemas.microsoft.com/office/drawing/2014/main" id="{D8C842B7-90F9-47D0-A214-670808610BF8}"/>
              </a:ext>
            </a:extLst>
          </p:cNvPr>
          <p:cNvSpPr txBox="1"/>
          <p:nvPr/>
        </p:nvSpPr>
        <p:spPr>
          <a:xfrm>
            <a:off x="7772400" y="6489700"/>
            <a:ext cx="3810000" cy="177800"/>
          </a:xfrm>
          <a:prstGeom prst="rect">
            <a:avLst/>
          </a:prstGeom>
          <a:noFill/>
        </p:spPr>
        <p:txBody>
          <a:bodyPr vert="horz" wrap="square" lIns="0" tIns="0" rIns="0" bIns="0" rtlCol="0" anchor="t">
            <a:noAutofit/>
          </a:bodyPr>
          <a:lstStyle/>
          <a:p>
            <a:pPr algn="r"/>
            <a:r>
              <a:rPr lang="en-US" sz="950" b="1">
                <a:solidFill>
                  <a:srgbClr val="0B1F3A"/>
                </a:solidFill>
                <a:latin typeface="Segoe UI Semibold" panose="020B0702040204020203" pitchFamily="34" charset="0"/>
              </a:rPr>
              <a:t>10</a:t>
            </a:r>
          </a:p>
        </p:txBody>
      </p:sp>
    </p:spTree>
    <p:extLst>
      <p:ext uri="{BB962C8B-B14F-4D97-AF65-F5344CB8AC3E}">
        <p14:creationId xmlns:p14="http://schemas.microsoft.com/office/powerpoint/2010/main" val="2593267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E3CEED-DFED-9A18-51EC-B5E66FCAA60F}"/>
              </a:ext>
            </a:extLst>
          </p:cNvPr>
          <p:cNvSpPr/>
          <p:nvPr/>
        </p:nvSpPr>
        <p:spPr>
          <a:xfrm>
            <a:off x="0" y="0"/>
            <a:ext cx="12192000" cy="1016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AC445E8-F590-02F4-D361-346786E61030}"/>
              </a:ext>
            </a:extLst>
          </p:cNvPr>
          <p:cNvSpPr/>
          <p:nvPr/>
        </p:nvSpPr>
        <p:spPr>
          <a:xfrm>
            <a:off x="0" y="0"/>
            <a:ext cx="2794000" cy="101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B963823-843B-FCA8-6347-1CDBEED99DC0}"/>
              </a:ext>
            </a:extLst>
          </p:cNvPr>
          <p:cNvSpPr txBox="1"/>
          <p:nvPr/>
        </p:nvSpPr>
        <p:spPr>
          <a:xfrm>
            <a:off x="609600" y="381000"/>
            <a:ext cx="8890000" cy="203200"/>
          </a:xfrm>
          <a:prstGeom prst="rect">
            <a:avLst/>
          </a:prstGeom>
          <a:noFill/>
        </p:spPr>
        <p:txBody>
          <a:bodyPr vert="horz" wrap="square" lIns="0" tIns="0" rIns="0" bIns="0" rtlCol="0" anchor="t">
            <a:noAutofit/>
          </a:bodyPr>
          <a:lstStyle/>
          <a:p>
            <a:r>
              <a:rPr lang="en-US" sz="1050" b="1" spc="250">
                <a:solidFill>
                  <a:srgbClr val="00B4D8"/>
                </a:solidFill>
                <a:latin typeface="Segoe UI Semibold" panose="020B0702040204020203" pitchFamily="34" charset="0"/>
              </a:rPr>
              <a:t>09  —  PORTFOLIO</a:t>
            </a:r>
          </a:p>
        </p:txBody>
      </p:sp>
      <p:sp>
        <p:nvSpPr>
          <p:cNvPr id="5" name="TextBox 4">
            <a:extLst>
              <a:ext uri="{FF2B5EF4-FFF2-40B4-BE49-F238E27FC236}">
                <a16:creationId xmlns:a16="http://schemas.microsoft.com/office/drawing/2014/main" id="{7B400C2F-38FB-8D63-9992-6DD58C8068B9}"/>
              </a:ext>
            </a:extLst>
          </p:cNvPr>
          <p:cNvSpPr txBox="1"/>
          <p:nvPr/>
        </p:nvSpPr>
        <p:spPr>
          <a:xfrm>
            <a:off x="609600" y="609600"/>
            <a:ext cx="9652000" cy="558800"/>
          </a:xfrm>
          <a:prstGeom prst="rect">
            <a:avLst/>
          </a:prstGeom>
          <a:noFill/>
        </p:spPr>
        <p:txBody>
          <a:bodyPr vert="horz" wrap="square" lIns="0" tIns="0" rIns="0" bIns="0" rtlCol="0" anchor="t">
            <a:noAutofit/>
          </a:bodyPr>
          <a:lstStyle/>
          <a:p>
            <a:r>
              <a:rPr lang="en-US" sz="2800" b="1">
                <a:solidFill>
                  <a:srgbClr val="0B1F3A"/>
                </a:solidFill>
                <a:latin typeface="Segoe UI Semibold" panose="020B0702040204020203" pitchFamily="34" charset="0"/>
              </a:rPr>
              <a:t>Selected Projects</a:t>
            </a:r>
          </a:p>
        </p:txBody>
      </p:sp>
      <p:sp>
        <p:nvSpPr>
          <p:cNvPr id="6" name="Rectangle 5">
            <a:extLst>
              <a:ext uri="{FF2B5EF4-FFF2-40B4-BE49-F238E27FC236}">
                <a16:creationId xmlns:a16="http://schemas.microsoft.com/office/drawing/2014/main" id="{5E7F8ADC-B7C9-8DE3-6D08-3E19A64BAFF8}"/>
              </a:ext>
            </a:extLst>
          </p:cNvPr>
          <p:cNvSpPr/>
          <p:nvPr/>
        </p:nvSpPr>
        <p:spPr>
          <a:xfrm>
            <a:off x="609600" y="1244600"/>
            <a:ext cx="711200" cy="50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1F67118-1F12-2FEC-1C64-A37226EEBBBE}"/>
              </a:ext>
            </a:extLst>
          </p:cNvPr>
          <p:cNvSpPr txBox="1"/>
          <p:nvPr/>
        </p:nvSpPr>
        <p:spPr>
          <a:xfrm>
            <a:off x="5588000" y="812800"/>
            <a:ext cx="3810000" cy="228600"/>
          </a:xfrm>
          <a:prstGeom prst="rect">
            <a:avLst/>
          </a:prstGeom>
          <a:noFill/>
        </p:spPr>
        <p:txBody>
          <a:bodyPr vert="horz" wrap="square" lIns="0" tIns="0" rIns="0" bIns="0" rtlCol="0" anchor="ctr">
            <a:noAutofit/>
          </a:bodyPr>
          <a:lstStyle/>
          <a:p>
            <a:pPr algn="r"/>
            <a:r>
              <a:rPr lang="en-US" sz="1100">
                <a:solidFill>
                  <a:srgbClr val="5B6B80"/>
                </a:solidFill>
                <a:latin typeface="Segoe UI" panose="020B0502040204020203" pitchFamily="34" charset="0"/>
              </a:rPr>
              <a:t>Projects 01 – 06  of  18</a:t>
            </a:r>
          </a:p>
        </p:txBody>
      </p:sp>
      <p:pic>
        <p:nvPicPr>
          <p:cNvPr id="9" name="Graphic 8">
            <a:extLst>
              <a:ext uri="{FF2B5EF4-FFF2-40B4-BE49-F238E27FC236}">
                <a16:creationId xmlns:a16="http://schemas.microsoft.com/office/drawing/2014/main" id="{335E0678-C365-B7A4-9F2C-78B94E38C912}"/>
              </a:ext>
            </a:extLst>
          </p:cNvPr>
          <p:cNvPicPr>
            <a:picLocks/>
          </p:cNvPicPr>
          <p:nvPr/>
        </p:nvPicPr>
        <p:blipFill>
          <a:blip>
            <a:extLst>
              <a:ext uri="{96DAC541-7B7A-43D3-8B79-37D633B846F1}">
                <asvg:svgBlip xmlns:asvg="http://schemas.microsoft.com/office/drawing/2016/SVG/main" r:embed="rId2"/>
              </a:ext>
            </a:extLst>
          </a:blip>
          <a:srcRect l="11000" t="19000" r="11000" b="28000"/>
          <a:stretch>
            <a:fillRect/>
          </a:stretch>
        </p:blipFill>
        <p:spPr>
          <a:xfrm>
            <a:off x="10693400" y="431800"/>
            <a:ext cx="914402" cy="621324"/>
          </a:xfrm>
          <a:prstGeom prst="rect">
            <a:avLst/>
          </a:prstGeom>
        </p:spPr>
      </p:pic>
      <p:pic>
        <p:nvPicPr>
          <p:cNvPr id="11" name="Picture 10">
            <a:extLst>
              <a:ext uri="{FF2B5EF4-FFF2-40B4-BE49-F238E27FC236}">
                <a16:creationId xmlns:a16="http://schemas.microsoft.com/office/drawing/2014/main" id="{79551E76-173D-8A1B-AD68-D6A8B15AE1B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727700" y="434975"/>
            <a:ext cx="736600" cy="863600"/>
          </a:xfrm>
          <a:prstGeom prst="rect">
            <a:avLst/>
          </a:prstGeom>
        </p:spPr>
      </p:pic>
      <p:sp>
        <p:nvSpPr>
          <p:cNvPr id="12" name="Rectangle: Rounded Corners 11">
            <a:extLst>
              <a:ext uri="{FF2B5EF4-FFF2-40B4-BE49-F238E27FC236}">
                <a16:creationId xmlns:a16="http://schemas.microsoft.com/office/drawing/2014/main" id="{11B93C61-897A-6AEA-F442-7078D4D46CB0}"/>
              </a:ext>
            </a:extLst>
          </p:cNvPr>
          <p:cNvSpPr/>
          <p:nvPr/>
        </p:nvSpPr>
        <p:spPr>
          <a:xfrm>
            <a:off x="609600" y="1549400"/>
            <a:ext cx="3454400" cy="22352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9CA9EDF-1F8F-39F4-C3DC-E134FD743DC8}"/>
              </a:ext>
            </a:extLst>
          </p:cNvPr>
          <p:cNvSpPr/>
          <p:nvPr/>
        </p:nvSpPr>
        <p:spPr>
          <a:xfrm>
            <a:off x="609600" y="1549400"/>
            <a:ext cx="3454400" cy="635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FF66971-C4AF-84CA-EC5F-8300F90F42C9}"/>
              </a:ext>
            </a:extLst>
          </p:cNvPr>
          <p:cNvSpPr txBox="1"/>
          <p:nvPr/>
        </p:nvSpPr>
        <p:spPr>
          <a:xfrm>
            <a:off x="812800" y="1752600"/>
            <a:ext cx="1524000" cy="177800"/>
          </a:xfrm>
          <a:prstGeom prst="rect">
            <a:avLst/>
          </a:prstGeom>
          <a:noFill/>
        </p:spPr>
        <p:txBody>
          <a:bodyPr vert="horz" wrap="square" lIns="0" tIns="0" rIns="0" bIns="0" rtlCol="0" anchor="t">
            <a:noAutofit/>
          </a:bodyPr>
          <a:lstStyle/>
          <a:p>
            <a:r>
              <a:rPr lang="en-US" sz="900" b="1" spc="150">
                <a:solidFill>
                  <a:srgbClr val="00B4D8"/>
                </a:solidFill>
                <a:latin typeface="Segoe UI Semibold" panose="020B0702040204020203" pitchFamily="34" charset="0"/>
              </a:rPr>
              <a:t>PROJECT 01</a:t>
            </a:r>
          </a:p>
        </p:txBody>
      </p:sp>
      <p:sp>
        <p:nvSpPr>
          <p:cNvPr id="15" name="Rectangle: Rounded Corners 14">
            <a:extLst>
              <a:ext uri="{FF2B5EF4-FFF2-40B4-BE49-F238E27FC236}">
                <a16:creationId xmlns:a16="http://schemas.microsoft.com/office/drawing/2014/main" id="{D278059E-3403-F699-CEFB-43B1F760DC7E}"/>
              </a:ext>
            </a:extLst>
          </p:cNvPr>
          <p:cNvSpPr/>
          <p:nvPr/>
        </p:nvSpPr>
        <p:spPr>
          <a:xfrm>
            <a:off x="2514600" y="1727200"/>
            <a:ext cx="1346200" cy="215900"/>
          </a:xfrm>
          <a:prstGeom prst="roundRect">
            <a:avLst>
              <a:gd name="adj" fmla="val 50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8C639D0-05E7-DFE0-7E17-60C35A670977}"/>
              </a:ext>
            </a:extLst>
          </p:cNvPr>
          <p:cNvSpPr txBox="1"/>
          <p:nvPr/>
        </p:nvSpPr>
        <p:spPr>
          <a:xfrm>
            <a:off x="2514600" y="1727200"/>
            <a:ext cx="1346200" cy="215900"/>
          </a:xfrm>
          <a:prstGeom prst="rect">
            <a:avLst/>
          </a:prstGeom>
          <a:noFill/>
        </p:spPr>
        <p:txBody>
          <a:bodyPr vert="horz" wrap="square" lIns="0" tIns="0" rIns="0" bIns="0" rtlCol="0" anchor="ctr">
            <a:noAutofit/>
          </a:bodyPr>
          <a:lstStyle/>
          <a:p>
            <a:pPr algn="ctr"/>
            <a:r>
              <a:rPr lang="en-US" sz="650" b="1" spc="50">
                <a:solidFill>
                  <a:srgbClr val="1F6F8B"/>
                </a:solidFill>
                <a:latin typeface="Segoe UI Semibold" panose="020B0702040204020203" pitchFamily="34" charset="0"/>
              </a:rPr>
              <a:t>MADE IN BANGLADESH</a:t>
            </a:r>
          </a:p>
        </p:txBody>
      </p:sp>
      <p:sp>
        <p:nvSpPr>
          <p:cNvPr id="17" name="TextBox 16">
            <a:extLst>
              <a:ext uri="{FF2B5EF4-FFF2-40B4-BE49-F238E27FC236}">
                <a16:creationId xmlns:a16="http://schemas.microsoft.com/office/drawing/2014/main" id="{52371115-A164-F55B-B6D7-597CC5363626}"/>
              </a:ext>
            </a:extLst>
          </p:cNvPr>
          <p:cNvSpPr txBox="1"/>
          <p:nvPr/>
        </p:nvSpPr>
        <p:spPr>
          <a:xfrm>
            <a:off x="812800" y="2006600"/>
            <a:ext cx="3048000" cy="457200"/>
          </a:xfrm>
          <a:prstGeom prst="rect">
            <a:avLst/>
          </a:prstGeom>
          <a:noFill/>
        </p:spPr>
        <p:txBody>
          <a:bodyPr vert="horz" wrap="square" lIns="0" tIns="0" rIns="0" bIns="0" rtlCol="0" anchor="t">
            <a:noAutofit/>
          </a:bodyPr>
          <a:lstStyle/>
          <a:p>
            <a:r>
              <a:rPr lang="en-US" sz="1250" b="1">
                <a:solidFill>
                  <a:srgbClr val="0B1F3A"/>
                </a:solidFill>
                <a:latin typeface="Segoe UI Semibold" panose="020B0702040204020203" pitchFamily="34" charset="0"/>
              </a:rPr>
              <a:t>Web-Based ETP SCADA</a:t>
            </a:r>
          </a:p>
        </p:txBody>
      </p:sp>
      <p:sp>
        <p:nvSpPr>
          <p:cNvPr id="18" name="TextBox 17">
            <a:extLst>
              <a:ext uri="{FF2B5EF4-FFF2-40B4-BE49-F238E27FC236}">
                <a16:creationId xmlns:a16="http://schemas.microsoft.com/office/drawing/2014/main" id="{A225A516-1420-C571-4C9C-EC9BC40DFD6E}"/>
              </a:ext>
            </a:extLst>
          </p:cNvPr>
          <p:cNvSpPr txBox="1"/>
          <p:nvPr/>
        </p:nvSpPr>
        <p:spPr>
          <a:xfrm>
            <a:off x="812800" y="2489200"/>
            <a:ext cx="3048000" cy="381000"/>
          </a:xfrm>
          <a:prstGeom prst="rect">
            <a:avLst/>
          </a:prstGeom>
          <a:noFill/>
        </p:spPr>
        <p:txBody>
          <a:bodyPr vert="horz" wrap="square" lIns="0" tIns="0" rIns="0" bIns="0" rtlCol="0" anchor="t">
            <a:noAutofit/>
          </a:bodyPr>
          <a:lstStyle/>
          <a:p>
            <a:pPr>
              <a:lnSpc>
                <a:spcPct val="105000"/>
              </a:lnSpc>
            </a:pPr>
            <a:r>
              <a:rPr lang="en-US" sz="1000">
                <a:solidFill>
                  <a:srgbClr val="5B6B80"/>
                </a:solidFill>
                <a:latin typeface="Segoe UI" panose="020B0502040204020203" pitchFamily="34" charset="0"/>
              </a:rPr>
              <a:t>Made in Bangladesh — control system accessible anywhere in the world.</a:t>
            </a:r>
          </a:p>
        </p:txBody>
      </p:sp>
      <p:sp>
        <p:nvSpPr>
          <p:cNvPr id="19" name="Rectangle 18">
            <a:extLst>
              <a:ext uri="{FF2B5EF4-FFF2-40B4-BE49-F238E27FC236}">
                <a16:creationId xmlns:a16="http://schemas.microsoft.com/office/drawing/2014/main" id="{C134C0C4-C1B8-8B3E-F406-1327BC2597CB}"/>
              </a:ext>
            </a:extLst>
          </p:cNvPr>
          <p:cNvSpPr/>
          <p:nvPr/>
        </p:nvSpPr>
        <p:spPr>
          <a:xfrm>
            <a:off x="812800" y="2946400"/>
            <a:ext cx="30480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0939176-B892-EAFA-614A-B02A2B123BF4}"/>
              </a:ext>
            </a:extLst>
          </p:cNvPr>
          <p:cNvSpPr txBox="1"/>
          <p:nvPr/>
        </p:nvSpPr>
        <p:spPr>
          <a:xfrm>
            <a:off x="812800" y="3022600"/>
            <a:ext cx="3048000" cy="685800"/>
          </a:xfrm>
          <a:prstGeom prst="rect">
            <a:avLst/>
          </a:prstGeom>
          <a:noFill/>
        </p:spPr>
        <p:txBody>
          <a:bodyPr vert="horz" wrap="square" lIns="0" tIns="0" rIns="0" bIns="0" rtlCol="0" anchor="t">
            <a:noAutofit/>
          </a:bodyPr>
          <a:lstStyle/>
          <a:p>
            <a:pPr>
              <a:lnSpc>
                <a:spcPct val="115000"/>
              </a:lnSpc>
            </a:pPr>
            <a:r>
              <a:rPr lang="en-US" sz="900" b="1">
                <a:solidFill>
                  <a:srgbClr val="1F6F8B"/>
                </a:solidFill>
                <a:latin typeface="Segoe UI" panose="020B0502040204020203" pitchFamily="34" charset="0"/>
              </a:rPr>
              <a:t>Client:</a:t>
            </a:r>
            <a:r>
              <a:rPr lang="en-US" sz="900">
                <a:solidFill>
                  <a:srgbClr val="1B2B40"/>
                </a:solidFill>
                <a:latin typeface="Segoe UI" panose="020B0502040204020203" pitchFamily="34" charset="0"/>
              </a:rPr>
              <a:t>  Naturub Accessories Bangladesh (Pvt) Ltd</a:t>
            </a:r>
          </a:p>
          <a:p>
            <a:pPr>
              <a:lnSpc>
                <a:spcPct val="115000"/>
              </a:lnSpc>
            </a:pPr>
            <a:r>
              <a:rPr lang="en-US" sz="900" b="1">
                <a:solidFill>
                  <a:srgbClr val="1F6F8B"/>
                </a:solidFill>
                <a:latin typeface="Segoe UI" panose="020B0502040204020203" pitchFamily="34" charset="0"/>
              </a:rPr>
              <a:t>Industry:</a:t>
            </a:r>
            <a:r>
              <a:rPr lang="en-US" sz="900">
                <a:solidFill>
                  <a:srgbClr val="1B2B40"/>
                </a:solidFill>
                <a:latin typeface="Segoe UI" panose="020B0502040204020203" pitchFamily="34" charset="0"/>
              </a:rPr>
              <a:t>  Garment exporter</a:t>
            </a:r>
          </a:p>
          <a:p>
            <a:pPr>
              <a:lnSpc>
                <a:spcPct val="115000"/>
              </a:lnSpc>
            </a:pPr>
            <a:r>
              <a:rPr lang="en-US" sz="900" b="1">
                <a:solidFill>
                  <a:srgbClr val="1F6F8B"/>
                </a:solidFill>
                <a:latin typeface="Segoe UI" panose="020B0502040204020203" pitchFamily="34" charset="0"/>
              </a:rPr>
              <a:t>Technology:</a:t>
            </a:r>
            <a:r>
              <a:rPr lang="en-US" sz="900">
                <a:solidFill>
                  <a:srgbClr val="1B2B40"/>
                </a:solidFill>
                <a:latin typeface="Segoe UI" panose="020B0502040204020203" pitchFamily="34" charset="0"/>
              </a:rPr>
              <a:t>  Siemens</a:t>
            </a:r>
          </a:p>
        </p:txBody>
      </p:sp>
      <p:sp>
        <p:nvSpPr>
          <p:cNvPr id="21" name="Rectangle: Rounded Corners 20">
            <a:extLst>
              <a:ext uri="{FF2B5EF4-FFF2-40B4-BE49-F238E27FC236}">
                <a16:creationId xmlns:a16="http://schemas.microsoft.com/office/drawing/2014/main" id="{E4401748-483D-E46C-9B83-457311BC6823}"/>
              </a:ext>
            </a:extLst>
          </p:cNvPr>
          <p:cNvSpPr/>
          <p:nvPr/>
        </p:nvSpPr>
        <p:spPr>
          <a:xfrm>
            <a:off x="4368800" y="1549400"/>
            <a:ext cx="3454400" cy="22352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5D8F68B-E523-E641-3804-007DE491D376}"/>
              </a:ext>
            </a:extLst>
          </p:cNvPr>
          <p:cNvSpPr/>
          <p:nvPr/>
        </p:nvSpPr>
        <p:spPr>
          <a:xfrm>
            <a:off x="4368800" y="1549400"/>
            <a:ext cx="3454400" cy="635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0DD9B37-629C-F737-781B-1FA152B6122E}"/>
              </a:ext>
            </a:extLst>
          </p:cNvPr>
          <p:cNvSpPr txBox="1"/>
          <p:nvPr/>
        </p:nvSpPr>
        <p:spPr>
          <a:xfrm>
            <a:off x="4572000" y="1752600"/>
            <a:ext cx="1524000" cy="177800"/>
          </a:xfrm>
          <a:prstGeom prst="rect">
            <a:avLst/>
          </a:prstGeom>
          <a:noFill/>
        </p:spPr>
        <p:txBody>
          <a:bodyPr vert="horz" wrap="square" lIns="0" tIns="0" rIns="0" bIns="0" rtlCol="0" anchor="t">
            <a:noAutofit/>
          </a:bodyPr>
          <a:lstStyle/>
          <a:p>
            <a:r>
              <a:rPr lang="en-US" sz="900" b="1" spc="150">
                <a:solidFill>
                  <a:srgbClr val="00B4D8"/>
                </a:solidFill>
                <a:latin typeface="Segoe UI Semibold" panose="020B0702040204020203" pitchFamily="34" charset="0"/>
              </a:rPr>
              <a:t>PROJECT 02</a:t>
            </a:r>
          </a:p>
        </p:txBody>
      </p:sp>
      <p:sp>
        <p:nvSpPr>
          <p:cNvPr id="24" name="TextBox 23">
            <a:extLst>
              <a:ext uri="{FF2B5EF4-FFF2-40B4-BE49-F238E27FC236}">
                <a16:creationId xmlns:a16="http://schemas.microsoft.com/office/drawing/2014/main" id="{AF1F7A5C-93E5-C5E6-7EB8-CE12D3ADB853}"/>
              </a:ext>
            </a:extLst>
          </p:cNvPr>
          <p:cNvSpPr txBox="1"/>
          <p:nvPr/>
        </p:nvSpPr>
        <p:spPr>
          <a:xfrm>
            <a:off x="4572000" y="2006600"/>
            <a:ext cx="3048000" cy="457200"/>
          </a:xfrm>
          <a:prstGeom prst="rect">
            <a:avLst/>
          </a:prstGeom>
          <a:noFill/>
        </p:spPr>
        <p:txBody>
          <a:bodyPr vert="horz" wrap="square" lIns="0" tIns="0" rIns="0" bIns="0" rtlCol="0" anchor="t">
            <a:noAutofit/>
          </a:bodyPr>
          <a:lstStyle/>
          <a:p>
            <a:r>
              <a:rPr lang="en-US" sz="1250" b="1">
                <a:solidFill>
                  <a:srgbClr val="0B1F3A"/>
                </a:solidFill>
                <a:latin typeface="Segoe UI Semibold" panose="020B0702040204020203" pitchFamily="34" charset="0"/>
              </a:rPr>
              <a:t>Washing Machine Production Plant</a:t>
            </a:r>
          </a:p>
        </p:txBody>
      </p:sp>
      <p:sp>
        <p:nvSpPr>
          <p:cNvPr id="25" name="TextBox 24">
            <a:extLst>
              <a:ext uri="{FF2B5EF4-FFF2-40B4-BE49-F238E27FC236}">
                <a16:creationId xmlns:a16="http://schemas.microsoft.com/office/drawing/2014/main" id="{647463B5-B8CB-90E1-6CB2-BB73CBEA9616}"/>
              </a:ext>
            </a:extLst>
          </p:cNvPr>
          <p:cNvSpPr txBox="1"/>
          <p:nvPr/>
        </p:nvSpPr>
        <p:spPr>
          <a:xfrm>
            <a:off x="4572000" y="2489200"/>
            <a:ext cx="3048000" cy="381000"/>
          </a:xfrm>
          <a:prstGeom prst="rect">
            <a:avLst/>
          </a:prstGeom>
          <a:noFill/>
        </p:spPr>
        <p:txBody>
          <a:bodyPr vert="horz" wrap="square" lIns="0" tIns="0" rIns="0" bIns="0" rtlCol="0" anchor="t">
            <a:noAutofit/>
          </a:bodyPr>
          <a:lstStyle/>
          <a:p>
            <a:pPr>
              <a:lnSpc>
                <a:spcPct val="105000"/>
              </a:lnSpc>
            </a:pPr>
            <a:r>
              <a:rPr lang="en-US" sz="1000">
                <a:solidFill>
                  <a:srgbClr val="5B6B80"/>
                </a:solidFill>
                <a:latin typeface="Segoe UI" panose="020B0502040204020203" pitchFamily="34" charset="0"/>
              </a:rPr>
              <a:t>Installation, commissioning &amp; programming.</a:t>
            </a:r>
          </a:p>
        </p:txBody>
      </p:sp>
      <p:sp>
        <p:nvSpPr>
          <p:cNvPr id="26" name="Rectangle 25">
            <a:extLst>
              <a:ext uri="{FF2B5EF4-FFF2-40B4-BE49-F238E27FC236}">
                <a16:creationId xmlns:a16="http://schemas.microsoft.com/office/drawing/2014/main" id="{39079FF8-9A0F-B4D2-CE07-8DB639D31ACD}"/>
              </a:ext>
            </a:extLst>
          </p:cNvPr>
          <p:cNvSpPr/>
          <p:nvPr/>
        </p:nvSpPr>
        <p:spPr>
          <a:xfrm>
            <a:off x="4572000" y="2946400"/>
            <a:ext cx="30480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A9A24548-0CB8-1F63-C4A4-4F2EE137783D}"/>
              </a:ext>
            </a:extLst>
          </p:cNvPr>
          <p:cNvSpPr txBox="1"/>
          <p:nvPr/>
        </p:nvSpPr>
        <p:spPr>
          <a:xfrm>
            <a:off x="4572000" y="3022600"/>
            <a:ext cx="3048000" cy="685800"/>
          </a:xfrm>
          <a:prstGeom prst="rect">
            <a:avLst/>
          </a:prstGeom>
          <a:noFill/>
        </p:spPr>
        <p:txBody>
          <a:bodyPr vert="horz" wrap="square" lIns="0" tIns="0" rIns="0" bIns="0" rtlCol="0" anchor="t">
            <a:noAutofit/>
          </a:bodyPr>
          <a:lstStyle/>
          <a:p>
            <a:pPr>
              <a:lnSpc>
                <a:spcPct val="115000"/>
              </a:lnSpc>
            </a:pPr>
            <a:r>
              <a:rPr lang="en-US" sz="900" b="1">
                <a:solidFill>
                  <a:srgbClr val="1F6F8B"/>
                </a:solidFill>
                <a:latin typeface="Segoe UI" panose="020B0502040204020203" pitchFamily="34" charset="0"/>
              </a:rPr>
              <a:t>Client:</a:t>
            </a:r>
            <a:r>
              <a:rPr lang="en-US" sz="900">
                <a:solidFill>
                  <a:srgbClr val="1B2B40"/>
                </a:solidFill>
                <a:latin typeface="Segoe UI" panose="020B0502040204020203" pitchFamily="34" charset="0"/>
              </a:rPr>
              <a:t>  Fair Electronics, Hisense</a:t>
            </a:r>
          </a:p>
          <a:p>
            <a:pPr>
              <a:lnSpc>
                <a:spcPct val="115000"/>
              </a:lnSpc>
            </a:pPr>
            <a:r>
              <a:rPr lang="en-US" sz="900" b="1">
                <a:solidFill>
                  <a:srgbClr val="1F6F8B"/>
                </a:solidFill>
                <a:latin typeface="Segoe UI" panose="020B0502040204020203" pitchFamily="34" charset="0"/>
              </a:rPr>
              <a:t>Industry:</a:t>
            </a:r>
            <a:r>
              <a:rPr lang="en-US" sz="900">
                <a:solidFill>
                  <a:srgbClr val="1B2B40"/>
                </a:solidFill>
                <a:latin typeface="Segoe UI" panose="020B0502040204020203" pitchFamily="34" charset="0"/>
              </a:rPr>
              <a:t>  Electronics</a:t>
            </a:r>
          </a:p>
          <a:p>
            <a:pPr>
              <a:lnSpc>
                <a:spcPct val="115000"/>
              </a:lnSpc>
            </a:pPr>
            <a:r>
              <a:rPr lang="en-US" sz="900" b="1">
                <a:solidFill>
                  <a:srgbClr val="1F6F8B"/>
                </a:solidFill>
                <a:latin typeface="Segoe UI" panose="020B0502040204020203" pitchFamily="34" charset="0"/>
              </a:rPr>
              <a:t>Technology:</a:t>
            </a:r>
            <a:r>
              <a:rPr lang="en-US" sz="900">
                <a:solidFill>
                  <a:srgbClr val="1B2B40"/>
                </a:solidFill>
                <a:latin typeface="Segoe UI" panose="020B0502040204020203" pitchFamily="34" charset="0"/>
              </a:rPr>
              <a:t>  Mitsubishi</a:t>
            </a:r>
          </a:p>
        </p:txBody>
      </p:sp>
      <p:sp>
        <p:nvSpPr>
          <p:cNvPr id="28" name="Rectangle: Rounded Corners 27">
            <a:extLst>
              <a:ext uri="{FF2B5EF4-FFF2-40B4-BE49-F238E27FC236}">
                <a16:creationId xmlns:a16="http://schemas.microsoft.com/office/drawing/2014/main" id="{09AC6B13-F99B-48E1-9AEF-55D24F5E0E75}"/>
              </a:ext>
            </a:extLst>
          </p:cNvPr>
          <p:cNvSpPr/>
          <p:nvPr/>
        </p:nvSpPr>
        <p:spPr>
          <a:xfrm>
            <a:off x="8128000" y="1549400"/>
            <a:ext cx="3454400" cy="22352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5531E53-A5C3-81EB-F90D-D2F0DCF38F7F}"/>
              </a:ext>
            </a:extLst>
          </p:cNvPr>
          <p:cNvSpPr/>
          <p:nvPr/>
        </p:nvSpPr>
        <p:spPr>
          <a:xfrm>
            <a:off x="8128000" y="1549400"/>
            <a:ext cx="3454400" cy="635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6A5B20B0-E871-C082-6683-DD2446697CF7}"/>
              </a:ext>
            </a:extLst>
          </p:cNvPr>
          <p:cNvSpPr txBox="1"/>
          <p:nvPr/>
        </p:nvSpPr>
        <p:spPr>
          <a:xfrm>
            <a:off x="8331200" y="1752600"/>
            <a:ext cx="1524000" cy="177800"/>
          </a:xfrm>
          <a:prstGeom prst="rect">
            <a:avLst/>
          </a:prstGeom>
          <a:noFill/>
        </p:spPr>
        <p:txBody>
          <a:bodyPr vert="horz" wrap="square" lIns="0" tIns="0" rIns="0" bIns="0" rtlCol="0" anchor="t">
            <a:noAutofit/>
          </a:bodyPr>
          <a:lstStyle/>
          <a:p>
            <a:r>
              <a:rPr lang="en-US" sz="900" b="1" spc="150">
                <a:solidFill>
                  <a:srgbClr val="00B4D8"/>
                </a:solidFill>
                <a:latin typeface="Segoe UI Semibold" panose="020B0702040204020203" pitchFamily="34" charset="0"/>
              </a:rPr>
              <a:t>PROJECT 03</a:t>
            </a:r>
          </a:p>
        </p:txBody>
      </p:sp>
      <p:sp>
        <p:nvSpPr>
          <p:cNvPr id="31" name="TextBox 30">
            <a:extLst>
              <a:ext uri="{FF2B5EF4-FFF2-40B4-BE49-F238E27FC236}">
                <a16:creationId xmlns:a16="http://schemas.microsoft.com/office/drawing/2014/main" id="{623DF14E-AA38-D63C-C1CF-1E5B31DDE8B0}"/>
              </a:ext>
            </a:extLst>
          </p:cNvPr>
          <p:cNvSpPr txBox="1"/>
          <p:nvPr/>
        </p:nvSpPr>
        <p:spPr>
          <a:xfrm>
            <a:off x="8331200" y="2006600"/>
            <a:ext cx="3048000" cy="457200"/>
          </a:xfrm>
          <a:prstGeom prst="rect">
            <a:avLst/>
          </a:prstGeom>
          <a:noFill/>
        </p:spPr>
        <p:txBody>
          <a:bodyPr vert="horz" wrap="square" lIns="0" tIns="0" rIns="0" bIns="0" rtlCol="0" anchor="t">
            <a:noAutofit/>
          </a:bodyPr>
          <a:lstStyle/>
          <a:p>
            <a:r>
              <a:rPr lang="en-US" sz="1250" b="1">
                <a:solidFill>
                  <a:srgbClr val="0B1F3A"/>
                </a:solidFill>
                <a:latin typeface="Segoe UI Semibold" panose="020B0702040204020203" pitchFamily="34" charset="0"/>
              </a:rPr>
              <a:t>Refrigerator Back Panel Sheet Cutting Machine</a:t>
            </a:r>
          </a:p>
        </p:txBody>
      </p:sp>
      <p:sp>
        <p:nvSpPr>
          <p:cNvPr id="32" name="TextBox 31">
            <a:extLst>
              <a:ext uri="{FF2B5EF4-FFF2-40B4-BE49-F238E27FC236}">
                <a16:creationId xmlns:a16="http://schemas.microsoft.com/office/drawing/2014/main" id="{BC9DC7FA-5089-9848-EB41-8C18EB1D442C}"/>
              </a:ext>
            </a:extLst>
          </p:cNvPr>
          <p:cNvSpPr txBox="1"/>
          <p:nvPr/>
        </p:nvSpPr>
        <p:spPr>
          <a:xfrm>
            <a:off x="8331200" y="2489200"/>
            <a:ext cx="3048000" cy="381000"/>
          </a:xfrm>
          <a:prstGeom prst="rect">
            <a:avLst/>
          </a:prstGeom>
          <a:noFill/>
        </p:spPr>
        <p:txBody>
          <a:bodyPr vert="horz" wrap="square" lIns="0" tIns="0" rIns="0" bIns="0" rtlCol="0" anchor="t">
            <a:noAutofit/>
          </a:bodyPr>
          <a:lstStyle/>
          <a:p>
            <a:pPr>
              <a:lnSpc>
                <a:spcPct val="105000"/>
              </a:lnSpc>
            </a:pPr>
            <a:r>
              <a:rPr lang="en-US" sz="1000">
                <a:solidFill>
                  <a:srgbClr val="5B6B80"/>
                </a:solidFill>
                <a:latin typeface="Segoe UI" panose="020B0502040204020203" pitchFamily="34" charset="0"/>
              </a:rPr>
              <a:t>Machine automation.</a:t>
            </a:r>
          </a:p>
        </p:txBody>
      </p:sp>
      <p:sp>
        <p:nvSpPr>
          <p:cNvPr id="33" name="Rectangle 32">
            <a:extLst>
              <a:ext uri="{FF2B5EF4-FFF2-40B4-BE49-F238E27FC236}">
                <a16:creationId xmlns:a16="http://schemas.microsoft.com/office/drawing/2014/main" id="{0C2E32C0-58E7-58B2-0FB9-136CB646990B}"/>
              </a:ext>
            </a:extLst>
          </p:cNvPr>
          <p:cNvSpPr/>
          <p:nvPr/>
        </p:nvSpPr>
        <p:spPr>
          <a:xfrm>
            <a:off x="8331200" y="2946400"/>
            <a:ext cx="30480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B76FFB2A-411E-35EB-B9F4-E44828645651}"/>
              </a:ext>
            </a:extLst>
          </p:cNvPr>
          <p:cNvSpPr txBox="1"/>
          <p:nvPr/>
        </p:nvSpPr>
        <p:spPr>
          <a:xfrm>
            <a:off x="8331200" y="3022600"/>
            <a:ext cx="3048000" cy="685800"/>
          </a:xfrm>
          <a:prstGeom prst="rect">
            <a:avLst/>
          </a:prstGeom>
          <a:noFill/>
        </p:spPr>
        <p:txBody>
          <a:bodyPr vert="horz" wrap="square" lIns="0" tIns="0" rIns="0" bIns="0" rtlCol="0" anchor="t">
            <a:noAutofit/>
          </a:bodyPr>
          <a:lstStyle/>
          <a:p>
            <a:pPr>
              <a:lnSpc>
                <a:spcPct val="115000"/>
              </a:lnSpc>
            </a:pPr>
            <a:r>
              <a:rPr lang="en-US" sz="900" b="1">
                <a:solidFill>
                  <a:srgbClr val="1F6F8B"/>
                </a:solidFill>
                <a:latin typeface="Segoe UI" panose="020B0502040204020203" pitchFamily="34" charset="0"/>
              </a:rPr>
              <a:t>Client:</a:t>
            </a:r>
            <a:r>
              <a:rPr lang="en-US" sz="900">
                <a:solidFill>
                  <a:srgbClr val="1B2B40"/>
                </a:solidFill>
                <a:latin typeface="Segoe UI" panose="020B0502040204020203" pitchFamily="34" charset="0"/>
              </a:rPr>
              <a:t>  Rangs Electronics</a:t>
            </a:r>
          </a:p>
          <a:p>
            <a:pPr>
              <a:lnSpc>
                <a:spcPct val="115000"/>
              </a:lnSpc>
            </a:pPr>
            <a:r>
              <a:rPr lang="en-US" sz="900" b="1">
                <a:solidFill>
                  <a:srgbClr val="1F6F8B"/>
                </a:solidFill>
                <a:latin typeface="Segoe UI" panose="020B0502040204020203" pitchFamily="34" charset="0"/>
              </a:rPr>
              <a:t>Industry:</a:t>
            </a:r>
            <a:r>
              <a:rPr lang="en-US" sz="900">
                <a:solidFill>
                  <a:srgbClr val="1B2B40"/>
                </a:solidFill>
                <a:latin typeface="Segoe UI" panose="020B0502040204020203" pitchFamily="34" charset="0"/>
              </a:rPr>
              <a:t>  Electronics</a:t>
            </a:r>
          </a:p>
          <a:p>
            <a:pPr>
              <a:lnSpc>
                <a:spcPct val="115000"/>
              </a:lnSpc>
            </a:pPr>
            <a:r>
              <a:rPr lang="en-US" sz="900" b="1">
                <a:solidFill>
                  <a:srgbClr val="1F6F8B"/>
                </a:solidFill>
                <a:latin typeface="Segoe UI" panose="020B0502040204020203" pitchFamily="34" charset="0"/>
              </a:rPr>
              <a:t>Technology:</a:t>
            </a:r>
            <a:r>
              <a:rPr lang="en-US" sz="900">
                <a:solidFill>
                  <a:srgbClr val="1B2B40"/>
                </a:solidFill>
                <a:latin typeface="Segoe UI" panose="020B0502040204020203" pitchFamily="34" charset="0"/>
              </a:rPr>
              <a:t>  Mitsubishi</a:t>
            </a:r>
          </a:p>
        </p:txBody>
      </p:sp>
      <p:sp>
        <p:nvSpPr>
          <p:cNvPr id="35" name="Rectangle: Rounded Corners 34">
            <a:extLst>
              <a:ext uri="{FF2B5EF4-FFF2-40B4-BE49-F238E27FC236}">
                <a16:creationId xmlns:a16="http://schemas.microsoft.com/office/drawing/2014/main" id="{976C7616-F002-C8D4-9757-E734F713262A}"/>
              </a:ext>
            </a:extLst>
          </p:cNvPr>
          <p:cNvSpPr/>
          <p:nvPr/>
        </p:nvSpPr>
        <p:spPr>
          <a:xfrm>
            <a:off x="609600" y="3962400"/>
            <a:ext cx="3454400" cy="22352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8560276-626A-D3E2-DCC4-7C320FD115FD}"/>
              </a:ext>
            </a:extLst>
          </p:cNvPr>
          <p:cNvSpPr/>
          <p:nvPr/>
        </p:nvSpPr>
        <p:spPr>
          <a:xfrm>
            <a:off x="609600" y="3962400"/>
            <a:ext cx="3454400" cy="635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F24F36B2-8DCC-A19B-3D08-F61636CEDB36}"/>
              </a:ext>
            </a:extLst>
          </p:cNvPr>
          <p:cNvSpPr txBox="1"/>
          <p:nvPr/>
        </p:nvSpPr>
        <p:spPr>
          <a:xfrm>
            <a:off x="812800" y="4165600"/>
            <a:ext cx="1524000" cy="177800"/>
          </a:xfrm>
          <a:prstGeom prst="rect">
            <a:avLst/>
          </a:prstGeom>
          <a:noFill/>
        </p:spPr>
        <p:txBody>
          <a:bodyPr vert="horz" wrap="square" lIns="0" tIns="0" rIns="0" bIns="0" rtlCol="0" anchor="t">
            <a:noAutofit/>
          </a:bodyPr>
          <a:lstStyle/>
          <a:p>
            <a:r>
              <a:rPr lang="en-US" sz="900" b="1" spc="150">
                <a:solidFill>
                  <a:srgbClr val="00B4D8"/>
                </a:solidFill>
                <a:latin typeface="Segoe UI Semibold" panose="020B0702040204020203" pitchFamily="34" charset="0"/>
              </a:rPr>
              <a:t>PROJECT 04</a:t>
            </a:r>
          </a:p>
        </p:txBody>
      </p:sp>
      <p:sp>
        <p:nvSpPr>
          <p:cNvPr id="38" name="TextBox 37">
            <a:extLst>
              <a:ext uri="{FF2B5EF4-FFF2-40B4-BE49-F238E27FC236}">
                <a16:creationId xmlns:a16="http://schemas.microsoft.com/office/drawing/2014/main" id="{E58F7C0A-4264-CE36-8239-F1A3F6658403}"/>
              </a:ext>
            </a:extLst>
          </p:cNvPr>
          <p:cNvSpPr txBox="1"/>
          <p:nvPr/>
        </p:nvSpPr>
        <p:spPr>
          <a:xfrm>
            <a:off x="812800" y="4419600"/>
            <a:ext cx="3048000" cy="457200"/>
          </a:xfrm>
          <a:prstGeom prst="rect">
            <a:avLst/>
          </a:prstGeom>
          <a:noFill/>
        </p:spPr>
        <p:txBody>
          <a:bodyPr vert="horz" wrap="square" lIns="0" tIns="0" rIns="0" bIns="0" rtlCol="0" anchor="t">
            <a:noAutofit/>
          </a:bodyPr>
          <a:lstStyle/>
          <a:p>
            <a:r>
              <a:rPr lang="en-US" sz="1250" b="1">
                <a:solidFill>
                  <a:srgbClr val="0B1F3A"/>
                </a:solidFill>
                <a:latin typeface="Segoe UI Semibold" panose="020B0702040204020203" pitchFamily="34" charset="0"/>
              </a:rPr>
              <a:t>High-Speed Duplex Paper Cutting Plant</a:t>
            </a:r>
          </a:p>
        </p:txBody>
      </p:sp>
      <p:sp>
        <p:nvSpPr>
          <p:cNvPr id="39" name="TextBox 38">
            <a:extLst>
              <a:ext uri="{FF2B5EF4-FFF2-40B4-BE49-F238E27FC236}">
                <a16:creationId xmlns:a16="http://schemas.microsoft.com/office/drawing/2014/main" id="{50A647CC-023F-4043-4BFD-DCE005F46885}"/>
              </a:ext>
            </a:extLst>
          </p:cNvPr>
          <p:cNvSpPr txBox="1"/>
          <p:nvPr/>
        </p:nvSpPr>
        <p:spPr>
          <a:xfrm>
            <a:off x="812800" y="4902200"/>
            <a:ext cx="3048000" cy="381000"/>
          </a:xfrm>
          <a:prstGeom prst="rect">
            <a:avLst/>
          </a:prstGeom>
          <a:noFill/>
        </p:spPr>
        <p:txBody>
          <a:bodyPr vert="horz" wrap="square" lIns="0" tIns="0" rIns="0" bIns="0" rtlCol="0" anchor="t">
            <a:noAutofit/>
          </a:bodyPr>
          <a:lstStyle/>
          <a:p>
            <a:pPr>
              <a:lnSpc>
                <a:spcPct val="105000"/>
              </a:lnSpc>
            </a:pPr>
            <a:r>
              <a:rPr lang="en-US" sz="1000">
                <a:solidFill>
                  <a:srgbClr val="5B6B80"/>
                </a:solidFill>
                <a:latin typeface="Segoe UI" panose="020B0502040204020203" pitchFamily="34" charset="0"/>
              </a:rPr>
              <a:t>Plant commissioning at 300 PPM.</a:t>
            </a:r>
          </a:p>
        </p:txBody>
      </p:sp>
      <p:sp>
        <p:nvSpPr>
          <p:cNvPr id="40" name="Rectangle 39">
            <a:extLst>
              <a:ext uri="{FF2B5EF4-FFF2-40B4-BE49-F238E27FC236}">
                <a16:creationId xmlns:a16="http://schemas.microsoft.com/office/drawing/2014/main" id="{323949A6-41FF-27A8-8B10-C4B9A4122A67}"/>
              </a:ext>
            </a:extLst>
          </p:cNvPr>
          <p:cNvSpPr/>
          <p:nvPr/>
        </p:nvSpPr>
        <p:spPr>
          <a:xfrm>
            <a:off x="812800" y="5359400"/>
            <a:ext cx="30480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0B9AFD00-36CF-6598-0F37-A6DA375288B5}"/>
              </a:ext>
            </a:extLst>
          </p:cNvPr>
          <p:cNvSpPr txBox="1"/>
          <p:nvPr/>
        </p:nvSpPr>
        <p:spPr>
          <a:xfrm>
            <a:off x="812800" y="5435600"/>
            <a:ext cx="3048000" cy="685800"/>
          </a:xfrm>
          <a:prstGeom prst="rect">
            <a:avLst/>
          </a:prstGeom>
          <a:noFill/>
        </p:spPr>
        <p:txBody>
          <a:bodyPr vert="horz" wrap="square" lIns="0" tIns="0" rIns="0" bIns="0" rtlCol="0" anchor="t">
            <a:noAutofit/>
          </a:bodyPr>
          <a:lstStyle/>
          <a:p>
            <a:pPr>
              <a:lnSpc>
                <a:spcPct val="115000"/>
              </a:lnSpc>
            </a:pPr>
            <a:r>
              <a:rPr lang="en-US" sz="900" b="1">
                <a:solidFill>
                  <a:srgbClr val="1F6F8B"/>
                </a:solidFill>
                <a:latin typeface="Segoe UI" panose="020B0502040204020203" pitchFamily="34" charset="0"/>
              </a:rPr>
              <a:t>Client:</a:t>
            </a:r>
            <a:r>
              <a:rPr lang="en-US" sz="900">
                <a:solidFill>
                  <a:srgbClr val="1B2B40"/>
                </a:solidFill>
                <a:latin typeface="Segoe UI" panose="020B0502040204020203" pitchFamily="34" charset="0"/>
              </a:rPr>
              <a:t>  Jamuna Paper Mills Ltd</a:t>
            </a:r>
          </a:p>
          <a:p>
            <a:pPr>
              <a:lnSpc>
                <a:spcPct val="115000"/>
              </a:lnSpc>
            </a:pPr>
            <a:r>
              <a:rPr lang="en-US" sz="900" b="1">
                <a:solidFill>
                  <a:srgbClr val="1F6F8B"/>
                </a:solidFill>
                <a:latin typeface="Segoe UI" panose="020B0502040204020203" pitchFamily="34" charset="0"/>
              </a:rPr>
              <a:t>Industry:</a:t>
            </a:r>
            <a:r>
              <a:rPr lang="en-US" sz="900">
                <a:solidFill>
                  <a:srgbClr val="1B2B40"/>
                </a:solidFill>
                <a:latin typeface="Segoe UI" panose="020B0502040204020203" pitchFamily="34" charset="0"/>
              </a:rPr>
              <a:t>  Paper</a:t>
            </a:r>
          </a:p>
          <a:p>
            <a:pPr>
              <a:lnSpc>
                <a:spcPct val="115000"/>
              </a:lnSpc>
            </a:pPr>
            <a:r>
              <a:rPr lang="en-US" sz="900" b="1">
                <a:solidFill>
                  <a:srgbClr val="1F6F8B"/>
                </a:solidFill>
                <a:latin typeface="Segoe UI" panose="020B0502040204020203" pitchFamily="34" charset="0"/>
              </a:rPr>
              <a:t>Technology:</a:t>
            </a:r>
            <a:r>
              <a:rPr lang="en-US" sz="900">
                <a:solidFill>
                  <a:srgbClr val="1B2B40"/>
                </a:solidFill>
                <a:latin typeface="Segoe UI" panose="020B0502040204020203" pitchFamily="34" charset="0"/>
              </a:rPr>
              <a:t>  Siemens</a:t>
            </a:r>
          </a:p>
        </p:txBody>
      </p:sp>
      <p:sp>
        <p:nvSpPr>
          <p:cNvPr id="42" name="Rectangle: Rounded Corners 41">
            <a:extLst>
              <a:ext uri="{FF2B5EF4-FFF2-40B4-BE49-F238E27FC236}">
                <a16:creationId xmlns:a16="http://schemas.microsoft.com/office/drawing/2014/main" id="{6DE590E0-872A-2A28-3840-397E59CF2C35}"/>
              </a:ext>
            </a:extLst>
          </p:cNvPr>
          <p:cNvSpPr/>
          <p:nvPr/>
        </p:nvSpPr>
        <p:spPr>
          <a:xfrm>
            <a:off x="4368800" y="3962400"/>
            <a:ext cx="3454400" cy="22352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0FDD9AC9-06BF-2C5E-D332-85DBC034F8F6}"/>
              </a:ext>
            </a:extLst>
          </p:cNvPr>
          <p:cNvSpPr/>
          <p:nvPr/>
        </p:nvSpPr>
        <p:spPr>
          <a:xfrm>
            <a:off x="4368800" y="3962400"/>
            <a:ext cx="3454400" cy="635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0E0A9D89-3A47-49BE-144B-4A962BC33E3F}"/>
              </a:ext>
            </a:extLst>
          </p:cNvPr>
          <p:cNvSpPr txBox="1"/>
          <p:nvPr/>
        </p:nvSpPr>
        <p:spPr>
          <a:xfrm>
            <a:off x="4572000" y="4165600"/>
            <a:ext cx="1524000" cy="177800"/>
          </a:xfrm>
          <a:prstGeom prst="rect">
            <a:avLst/>
          </a:prstGeom>
          <a:noFill/>
        </p:spPr>
        <p:txBody>
          <a:bodyPr vert="horz" wrap="square" lIns="0" tIns="0" rIns="0" bIns="0" rtlCol="0" anchor="t">
            <a:noAutofit/>
          </a:bodyPr>
          <a:lstStyle/>
          <a:p>
            <a:r>
              <a:rPr lang="en-US" sz="900" b="1" spc="150">
                <a:solidFill>
                  <a:srgbClr val="00B4D8"/>
                </a:solidFill>
                <a:latin typeface="Segoe UI Semibold" panose="020B0702040204020203" pitchFamily="34" charset="0"/>
              </a:rPr>
              <a:t>PROJECT 05</a:t>
            </a:r>
          </a:p>
        </p:txBody>
      </p:sp>
      <p:sp>
        <p:nvSpPr>
          <p:cNvPr id="45" name="Rectangle: Rounded Corners 44">
            <a:extLst>
              <a:ext uri="{FF2B5EF4-FFF2-40B4-BE49-F238E27FC236}">
                <a16:creationId xmlns:a16="http://schemas.microsoft.com/office/drawing/2014/main" id="{B6FF4CB5-AF09-4ECF-1849-3FA984DCE8FD}"/>
              </a:ext>
            </a:extLst>
          </p:cNvPr>
          <p:cNvSpPr/>
          <p:nvPr/>
        </p:nvSpPr>
        <p:spPr>
          <a:xfrm>
            <a:off x="6273800" y="4140200"/>
            <a:ext cx="1346200" cy="215900"/>
          </a:xfrm>
          <a:prstGeom prst="roundRect">
            <a:avLst>
              <a:gd name="adj" fmla="val 50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F785741A-1449-3A20-E693-7ED73077E38F}"/>
              </a:ext>
            </a:extLst>
          </p:cNvPr>
          <p:cNvSpPr txBox="1"/>
          <p:nvPr/>
        </p:nvSpPr>
        <p:spPr>
          <a:xfrm>
            <a:off x="6273800" y="4140200"/>
            <a:ext cx="1346200" cy="215900"/>
          </a:xfrm>
          <a:prstGeom prst="rect">
            <a:avLst/>
          </a:prstGeom>
          <a:noFill/>
        </p:spPr>
        <p:txBody>
          <a:bodyPr vert="horz" wrap="square" lIns="0" tIns="0" rIns="0" bIns="0" rtlCol="0" anchor="ctr">
            <a:noAutofit/>
          </a:bodyPr>
          <a:lstStyle/>
          <a:p>
            <a:pPr algn="ctr"/>
            <a:r>
              <a:rPr lang="en-US" sz="650" b="1" spc="50">
                <a:solidFill>
                  <a:srgbClr val="1F6F8B"/>
                </a:solidFill>
                <a:latin typeface="Segoe UI Semibold" panose="020B0702040204020203" pitchFamily="34" charset="0"/>
              </a:rPr>
              <a:t>MADE IN BANGLADESH</a:t>
            </a:r>
          </a:p>
        </p:txBody>
      </p:sp>
      <p:sp>
        <p:nvSpPr>
          <p:cNvPr id="47" name="TextBox 46">
            <a:extLst>
              <a:ext uri="{FF2B5EF4-FFF2-40B4-BE49-F238E27FC236}">
                <a16:creationId xmlns:a16="http://schemas.microsoft.com/office/drawing/2014/main" id="{AE6B63ED-C084-99F2-D5EC-7AD800C842F1}"/>
              </a:ext>
            </a:extLst>
          </p:cNvPr>
          <p:cNvSpPr txBox="1"/>
          <p:nvPr/>
        </p:nvSpPr>
        <p:spPr>
          <a:xfrm>
            <a:off x="4572000" y="4419600"/>
            <a:ext cx="3048000" cy="457200"/>
          </a:xfrm>
          <a:prstGeom prst="rect">
            <a:avLst/>
          </a:prstGeom>
          <a:noFill/>
        </p:spPr>
        <p:txBody>
          <a:bodyPr vert="horz" wrap="square" lIns="0" tIns="0" rIns="0" bIns="0" rtlCol="0" anchor="t">
            <a:noAutofit/>
          </a:bodyPr>
          <a:lstStyle/>
          <a:p>
            <a:r>
              <a:rPr lang="en-US" sz="1250" b="1">
                <a:solidFill>
                  <a:srgbClr val="0B1F3A"/>
                </a:solidFill>
                <a:latin typeface="Segoe UI Semibold" panose="020B0702040204020203" pitchFamily="34" charset="0"/>
              </a:rPr>
              <a:t>Automatic Carpet Aging Machine</a:t>
            </a:r>
          </a:p>
        </p:txBody>
      </p:sp>
      <p:sp>
        <p:nvSpPr>
          <p:cNvPr id="48" name="TextBox 47">
            <a:extLst>
              <a:ext uri="{FF2B5EF4-FFF2-40B4-BE49-F238E27FC236}">
                <a16:creationId xmlns:a16="http://schemas.microsoft.com/office/drawing/2014/main" id="{A0D84CEA-642C-5CF3-11B3-CA8F2940BDA7}"/>
              </a:ext>
            </a:extLst>
          </p:cNvPr>
          <p:cNvSpPr txBox="1"/>
          <p:nvPr/>
        </p:nvSpPr>
        <p:spPr>
          <a:xfrm>
            <a:off x="4572000" y="4902200"/>
            <a:ext cx="3048000" cy="381000"/>
          </a:xfrm>
          <a:prstGeom prst="rect">
            <a:avLst/>
          </a:prstGeom>
          <a:noFill/>
        </p:spPr>
        <p:txBody>
          <a:bodyPr vert="horz" wrap="square" lIns="0" tIns="0" rIns="0" bIns="0" rtlCol="0" anchor="t">
            <a:noAutofit/>
          </a:bodyPr>
          <a:lstStyle/>
          <a:p>
            <a:pPr>
              <a:lnSpc>
                <a:spcPct val="105000"/>
              </a:lnSpc>
            </a:pPr>
            <a:r>
              <a:rPr lang="en-US" sz="1000">
                <a:solidFill>
                  <a:srgbClr val="5B6B80"/>
                </a:solidFill>
                <a:latin typeface="Segoe UI" panose="020B0502040204020203" pitchFamily="34" charset="0"/>
              </a:rPr>
              <a:t>Locally built machine automation.</a:t>
            </a:r>
          </a:p>
        </p:txBody>
      </p:sp>
      <p:sp>
        <p:nvSpPr>
          <p:cNvPr id="49" name="Rectangle 48">
            <a:extLst>
              <a:ext uri="{FF2B5EF4-FFF2-40B4-BE49-F238E27FC236}">
                <a16:creationId xmlns:a16="http://schemas.microsoft.com/office/drawing/2014/main" id="{F9828378-E3AF-1A2A-8A5D-4DED607F618D}"/>
              </a:ext>
            </a:extLst>
          </p:cNvPr>
          <p:cNvSpPr/>
          <p:nvPr/>
        </p:nvSpPr>
        <p:spPr>
          <a:xfrm>
            <a:off x="4572000" y="5359400"/>
            <a:ext cx="30480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379B124F-DD91-E7C6-6331-DFBD1CC6CB99}"/>
              </a:ext>
            </a:extLst>
          </p:cNvPr>
          <p:cNvSpPr txBox="1"/>
          <p:nvPr/>
        </p:nvSpPr>
        <p:spPr>
          <a:xfrm>
            <a:off x="4572000" y="5435600"/>
            <a:ext cx="3048000" cy="685800"/>
          </a:xfrm>
          <a:prstGeom prst="rect">
            <a:avLst/>
          </a:prstGeom>
          <a:noFill/>
        </p:spPr>
        <p:txBody>
          <a:bodyPr vert="horz" wrap="square" lIns="0" tIns="0" rIns="0" bIns="0" rtlCol="0" anchor="t">
            <a:noAutofit/>
          </a:bodyPr>
          <a:lstStyle/>
          <a:p>
            <a:pPr>
              <a:lnSpc>
                <a:spcPct val="115000"/>
              </a:lnSpc>
            </a:pPr>
            <a:r>
              <a:rPr lang="en-US" sz="900" b="1">
                <a:solidFill>
                  <a:srgbClr val="1F6F8B"/>
                </a:solidFill>
                <a:latin typeface="Segoe UI" panose="020B0502040204020203" pitchFamily="34" charset="0"/>
              </a:rPr>
              <a:t>Client:</a:t>
            </a:r>
            <a:r>
              <a:rPr lang="en-US" sz="900">
                <a:solidFill>
                  <a:srgbClr val="1B2B40"/>
                </a:solidFill>
                <a:latin typeface="Segoe UI" panose="020B0502040204020203" pitchFamily="34" charset="0"/>
              </a:rPr>
              <a:t>  Mamun Group of Industries</a:t>
            </a:r>
          </a:p>
          <a:p>
            <a:pPr>
              <a:lnSpc>
                <a:spcPct val="115000"/>
              </a:lnSpc>
            </a:pPr>
            <a:r>
              <a:rPr lang="en-US" sz="900" b="1">
                <a:solidFill>
                  <a:srgbClr val="1F6F8B"/>
                </a:solidFill>
                <a:latin typeface="Segoe UI" panose="020B0502040204020203" pitchFamily="34" charset="0"/>
              </a:rPr>
              <a:t>Industry:</a:t>
            </a:r>
            <a:r>
              <a:rPr lang="en-US" sz="900">
                <a:solidFill>
                  <a:srgbClr val="1B2B40"/>
                </a:solidFill>
                <a:latin typeface="Segoe UI" panose="020B0502040204020203" pitchFamily="34" charset="0"/>
              </a:rPr>
              <a:t>  Textile</a:t>
            </a:r>
          </a:p>
          <a:p>
            <a:pPr>
              <a:lnSpc>
                <a:spcPct val="115000"/>
              </a:lnSpc>
            </a:pPr>
            <a:r>
              <a:rPr lang="en-US" sz="900" b="1">
                <a:solidFill>
                  <a:srgbClr val="1F6F8B"/>
                </a:solidFill>
                <a:latin typeface="Segoe UI" panose="020B0502040204020203" pitchFamily="34" charset="0"/>
              </a:rPr>
              <a:t>Technology:</a:t>
            </a:r>
            <a:r>
              <a:rPr lang="en-US" sz="900">
                <a:solidFill>
                  <a:srgbClr val="1B2B40"/>
                </a:solidFill>
                <a:latin typeface="Segoe UI" panose="020B0502040204020203" pitchFamily="34" charset="0"/>
              </a:rPr>
              <a:t>  Siemens</a:t>
            </a:r>
          </a:p>
        </p:txBody>
      </p:sp>
      <p:sp>
        <p:nvSpPr>
          <p:cNvPr id="51" name="Rectangle: Rounded Corners 50">
            <a:extLst>
              <a:ext uri="{FF2B5EF4-FFF2-40B4-BE49-F238E27FC236}">
                <a16:creationId xmlns:a16="http://schemas.microsoft.com/office/drawing/2014/main" id="{A4F54C70-655C-F115-424A-B3C2719362A5}"/>
              </a:ext>
            </a:extLst>
          </p:cNvPr>
          <p:cNvSpPr/>
          <p:nvPr/>
        </p:nvSpPr>
        <p:spPr>
          <a:xfrm>
            <a:off x="8128000" y="3962400"/>
            <a:ext cx="3454400" cy="22352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89FD88C5-EC31-E754-7745-1970D6CC9892}"/>
              </a:ext>
            </a:extLst>
          </p:cNvPr>
          <p:cNvSpPr/>
          <p:nvPr/>
        </p:nvSpPr>
        <p:spPr>
          <a:xfrm>
            <a:off x="8128000" y="3962400"/>
            <a:ext cx="3454400" cy="635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D23DD6B0-CD91-202E-03B4-95E690D4196A}"/>
              </a:ext>
            </a:extLst>
          </p:cNvPr>
          <p:cNvSpPr txBox="1"/>
          <p:nvPr/>
        </p:nvSpPr>
        <p:spPr>
          <a:xfrm>
            <a:off x="8331200" y="4165600"/>
            <a:ext cx="1524000" cy="177800"/>
          </a:xfrm>
          <a:prstGeom prst="rect">
            <a:avLst/>
          </a:prstGeom>
          <a:noFill/>
        </p:spPr>
        <p:txBody>
          <a:bodyPr vert="horz" wrap="square" lIns="0" tIns="0" rIns="0" bIns="0" rtlCol="0" anchor="t">
            <a:noAutofit/>
          </a:bodyPr>
          <a:lstStyle/>
          <a:p>
            <a:r>
              <a:rPr lang="en-US" sz="900" b="1" spc="150">
                <a:solidFill>
                  <a:srgbClr val="00B4D8"/>
                </a:solidFill>
                <a:latin typeface="Segoe UI Semibold" panose="020B0702040204020203" pitchFamily="34" charset="0"/>
              </a:rPr>
              <a:t>PROJECT 06</a:t>
            </a:r>
          </a:p>
        </p:txBody>
      </p:sp>
      <p:sp>
        <p:nvSpPr>
          <p:cNvPr id="54" name="TextBox 53">
            <a:extLst>
              <a:ext uri="{FF2B5EF4-FFF2-40B4-BE49-F238E27FC236}">
                <a16:creationId xmlns:a16="http://schemas.microsoft.com/office/drawing/2014/main" id="{14711714-6210-904D-3D34-0388E5A0BAC9}"/>
              </a:ext>
            </a:extLst>
          </p:cNvPr>
          <p:cNvSpPr txBox="1"/>
          <p:nvPr/>
        </p:nvSpPr>
        <p:spPr>
          <a:xfrm>
            <a:off x="8331200" y="4419600"/>
            <a:ext cx="3048000" cy="457200"/>
          </a:xfrm>
          <a:prstGeom prst="rect">
            <a:avLst/>
          </a:prstGeom>
          <a:noFill/>
        </p:spPr>
        <p:txBody>
          <a:bodyPr vert="horz" wrap="square" lIns="0" tIns="0" rIns="0" bIns="0" rtlCol="0" anchor="t">
            <a:noAutofit/>
          </a:bodyPr>
          <a:lstStyle/>
          <a:p>
            <a:r>
              <a:rPr lang="en-US" sz="1250" b="1">
                <a:solidFill>
                  <a:srgbClr val="0B1F3A"/>
                </a:solidFill>
                <a:latin typeface="Segoe UI Semibold" panose="020B0702040204020203" pitchFamily="34" charset="0"/>
              </a:rPr>
              <a:t>Ammonia Cracker Machine</a:t>
            </a:r>
          </a:p>
        </p:txBody>
      </p:sp>
      <p:sp>
        <p:nvSpPr>
          <p:cNvPr id="55" name="TextBox 54">
            <a:extLst>
              <a:ext uri="{FF2B5EF4-FFF2-40B4-BE49-F238E27FC236}">
                <a16:creationId xmlns:a16="http://schemas.microsoft.com/office/drawing/2014/main" id="{EAB51D66-09EC-42AD-1F98-B8D30ADAFD72}"/>
              </a:ext>
            </a:extLst>
          </p:cNvPr>
          <p:cNvSpPr txBox="1"/>
          <p:nvPr/>
        </p:nvSpPr>
        <p:spPr>
          <a:xfrm>
            <a:off x="8331200" y="4902200"/>
            <a:ext cx="3048000" cy="381000"/>
          </a:xfrm>
          <a:prstGeom prst="rect">
            <a:avLst/>
          </a:prstGeom>
          <a:noFill/>
        </p:spPr>
        <p:txBody>
          <a:bodyPr vert="horz" wrap="square" lIns="0" tIns="0" rIns="0" bIns="0" rtlCol="0" anchor="t">
            <a:noAutofit/>
          </a:bodyPr>
          <a:lstStyle/>
          <a:p>
            <a:pPr>
              <a:lnSpc>
                <a:spcPct val="105000"/>
              </a:lnSpc>
            </a:pPr>
            <a:r>
              <a:rPr lang="en-US" sz="1000">
                <a:solidFill>
                  <a:srgbClr val="5B6B80"/>
                </a:solidFill>
                <a:latin typeface="Segoe UI" panose="020B0502040204020203" pitchFamily="34" charset="0"/>
              </a:rPr>
              <a:t>Reprogrammed &amp; retrofitted for optimized industrial performance.</a:t>
            </a:r>
          </a:p>
        </p:txBody>
      </p:sp>
      <p:sp>
        <p:nvSpPr>
          <p:cNvPr id="56" name="Rectangle 55">
            <a:extLst>
              <a:ext uri="{FF2B5EF4-FFF2-40B4-BE49-F238E27FC236}">
                <a16:creationId xmlns:a16="http://schemas.microsoft.com/office/drawing/2014/main" id="{5C64EDC8-E770-E9B5-C9C5-4858BA5CB4F3}"/>
              </a:ext>
            </a:extLst>
          </p:cNvPr>
          <p:cNvSpPr/>
          <p:nvPr/>
        </p:nvSpPr>
        <p:spPr>
          <a:xfrm>
            <a:off x="8331200" y="5359400"/>
            <a:ext cx="30480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92F8D21E-41A3-EF17-6985-4EA3A56803E0}"/>
              </a:ext>
            </a:extLst>
          </p:cNvPr>
          <p:cNvSpPr txBox="1"/>
          <p:nvPr/>
        </p:nvSpPr>
        <p:spPr>
          <a:xfrm>
            <a:off x="8331200" y="5435600"/>
            <a:ext cx="3048000" cy="685800"/>
          </a:xfrm>
          <a:prstGeom prst="rect">
            <a:avLst/>
          </a:prstGeom>
          <a:noFill/>
        </p:spPr>
        <p:txBody>
          <a:bodyPr vert="horz" wrap="square" lIns="0" tIns="0" rIns="0" bIns="0" rtlCol="0" anchor="t">
            <a:noAutofit/>
          </a:bodyPr>
          <a:lstStyle/>
          <a:p>
            <a:pPr>
              <a:lnSpc>
                <a:spcPct val="115000"/>
              </a:lnSpc>
            </a:pPr>
            <a:r>
              <a:rPr lang="en-US" sz="900" b="1">
                <a:solidFill>
                  <a:srgbClr val="1F6F8B"/>
                </a:solidFill>
                <a:latin typeface="Segoe UI" panose="020B0502040204020203" pitchFamily="34" charset="0"/>
              </a:rPr>
              <a:t>Client:</a:t>
            </a:r>
            <a:r>
              <a:rPr lang="en-US" sz="900">
                <a:solidFill>
                  <a:srgbClr val="1B2B40"/>
                </a:solidFill>
                <a:latin typeface="Segoe UI" panose="020B0502040204020203" pitchFamily="34" charset="0"/>
              </a:rPr>
              <a:t>  Bangladesh Blade Factory Limited</a:t>
            </a:r>
          </a:p>
          <a:p>
            <a:pPr>
              <a:lnSpc>
                <a:spcPct val="115000"/>
              </a:lnSpc>
            </a:pPr>
            <a:r>
              <a:rPr lang="en-US" sz="900" b="1">
                <a:solidFill>
                  <a:srgbClr val="1F6F8B"/>
                </a:solidFill>
                <a:latin typeface="Segoe UI" panose="020B0502040204020203" pitchFamily="34" charset="0"/>
              </a:rPr>
              <a:t>Industry:</a:t>
            </a:r>
            <a:r>
              <a:rPr lang="en-US" sz="900">
                <a:solidFill>
                  <a:srgbClr val="1B2B40"/>
                </a:solidFill>
                <a:latin typeface="Segoe UI" panose="020B0502040204020203" pitchFamily="34" charset="0"/>
              </a:rPr>
              <a:t>  Blade manufacturing</a:t>
            </a:r>
          </a:p>
          <a:p>
            <a:pPr>
              <a:lnSpc>
                <a:spcPct val="115000"/>
              </a:lnSpc>
            </a:pPr>
            <a:r>
              <a:rPr lang="en-US" sz="900" b="1">
                <a:solidFill>
                  <a:srgbClr val="1F6F8B"/>
                </a:solidFill>
                <a:latin typeface="Segoe UI" panose="020B0502040204020203" pitchFamily="34" charset="0"/>
              </a:rPr>
              <a:t>Technology:</a:t>
            </a:r>
            <a:r>
              <a:rPr lang="en-US" sz="900">
                <a:solidFill>
                  <a:srgbClr val="1B2B40"/>
                </a:solidFill>
                <a:latin typeface="Segoe UI" panose="020B0502040204020203" pitchFamily="34" charset="0"/>
              </a:rPr>
              <a:t>  Siemens</a:t>
            </a:r>
          </a:p>
        </p:txBody>
      </p:sp>
      <p:sp>
        <p:nvSpPr>
          <p:cNvPr id="58" name="Rectangle 57">
            <a:extLst>
              <a:ext uri="{FF2B5EF4-FFF2-40B4-BE49-F238E27FC236}">
                <a16:creationId xmlns:a16="http://schemas.microsoft.com/office/drawing/2014/main" id="{EBCF9315-13CA-5FC2-F3DC-7C4D52C935D9}"/>
              </a:ext>
            </a:extLst>
          </p:cNvPr>
          <p:cNvSpPr/>
          <p:nvPr/>
        </p:nvSpPr>
        <p:spPr>
          <a:xfrm>
            <a:off x="609600" y="6388100"/>
            <a:ext cx="109728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6F6DEEBB-9AE5-120B-1737-9323A8CEC29F}"/>
              </a:ext>
            </a:extLst>
          </p:cNvPr>
          <p:cNvSpPr txBox="1"/>
          <p:nvPr/>
        </p:nvSpPr>
        <p:spPr>
          <a:xfrm>
            <a:off x="609600" y="6489700"/>
            <a:ext cx="6350000" cy="177800"/>
          </a:xfrm>
          <a:prstGeom prst="rect">
            <a:avLst/>
          </a:prstGeom>
          <a:noFill/>
        </p:spPr>
        <p:txBody>
          <a:bodyPr vert="horz" wrap="square" lIns="0" tIns="0" rIns="0" bIns="0" rtlCol="0" anchor="t">
            <a:noAutofit/>
          </a:bodyPr>
          <a:lstStyle/>
          <a:p>
            <a:r>
              <a:rPr lang="en-US" sz="850" spc="100">
                <a:solidFill>
                  <a:srgbClr val="5B6B80"/>
                </a:solidFill>
                <a:latin typeface="Segoe UI" panose="020B0502040204020203" pitchFamily="34" charset="0"/>
              </a:rPr>
              <a:t>MECHWARE  |  TECHNOLOGY FOR SMARTER SYSTEMS</a:t>
            </a:r>
          </a:p>
        </p:txBody>
      </p:sp>
      <p:sp>
        <p:nvSpPr>
          <p:cNvPr id="60" name="TextBox 59">
            <a:extLst>
              <a:ext uri="{FF2B5EF4-FFF2-40B4-BE49-F238E27FC236}">
                <a16:creationId xmlns:a16="http://schemas.microsoft.com/office/drawing/2014/main" id="{15EAA98E-25FF-0042-A7F0-861AE704F632}"/>
              </a:ext>
            </a:extLst>
          </p:cNvPr>
          <p:cNvSpPr txBox="1"/>
          <p:nvPr/>
        </p:nvSpPr>
        <p:spPr>
          <a:xfrm>
            <a:off x="7772400" y="6489700"/>
            <a:ext cx="3810000" cy="177800"/>
          </a:xfrm>
          <a:prstGeom prst="rect">
            <a:avLst/>
          </a:prstGeom>
          <a:noFill/>
        </p:spPr>
        <p:txBody>
          <a:bodyPr vert="horz" wrap="square" lIns="0" tIns="0" rIns="0" bIns="0" rtlCol="0" anchor="t">
            <a:noAutofit/>
          </a:bodyPr>
          <a:lstStyle/>
          <a:p>
            <a:pPr algn="r"/>
            <a:r>
              <a:rPr lang="en-US" sz="950" b="1">
                <a:solidFill>
                  <a:srgbClr val="0B1F3A"/>
                </a:solidFill>
                <a:latin typeface="Segoe UI Semibold" panose="020B0702040204020203" pitchFamily="34" charset="0"/>
              </a:rPr>
              <a:t>11</a:t>
            </a:r>
          </a:p>
        </p:txBody>
      </p:sp>
    </p:spTree>
    <p:extLst>
      <p:ext uri="{BB962C8B-B14F-4D97-AF65-F5344CB8AC3E}">
        <p14:creationId xmlns:p14="http://schemas.microsoft.com/office/powerpoint/2010/main" val="1419416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A20BED-5E87-32EC-B7E2-CB708E6B09B7}"/>
              </a:ext>
            </a:extLst>
          </p:cNvPr>
          <p:cNvSpPr/>
          <p:nvPr/>
        </p:nvSpPr>
        <p:spPr>
          <a:xfrm>
            <a:off x="0" y="0"/>
            <a:ext cx="12192000" cy="1016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F467A66-DD65-79A7-F1B1-EF4C6EC88399}"/>
              </a:ext>
            </a:extLst>
          </p:cNvPr>
          <p:cNvSpPr/>
          <p:nvPr/>
        </p:nvSpPr>
        <p:spPr>
          <a:xfrm>
            <a:off x="0" y="0"/>
            <a:ext cx="2794000" cy="101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E9227F0-0C3A-44B2-3774-771C4A6C544B}"/>
              </a:ext>
            </a:extLst>
          </p:cNvPr>
          <p:cNvSpPr txBox="1"/>
          <p:nvPr/>
        </p:nvSpPr>
        <p:spPr>
          <a:xfrm>
            <a:off x="609600" y="381000"/>
            <a:ext cx="8890000" cy="203200"/>
          </a:xfrm>
          <a:prstGeom prst="rect">
            <a:avLst/>
          </a:prstGeom>
          <a:noFill/>
        </p:spPr>
        <p:txBody>
          <a:bodyPr vert="horz" wrap="square" lIns="0" tIns="0" rIns="0" bIns="0" rtlCol="0" anchor="t">
            <a:noAutofit/>
          </a:bodyPr>
          <a:lstStyle/>
          <a:p>
            <a:r>
              <a:rPr lang="en-US" sz="1050" b="1" spc="250">
                <a:solidFill>
                  <a:srgbClr val="00B4D8"/>
                </a:solidFill>
                <a:latin typeface="Segoe UI Semibold" panose="020B0702040204020203" pitchFamily="34" charset="0"/>
              </a:rPr>
              <a:t>09  —  PORTFOLIO</a:t>
            </a:r>
          </a:p>
        </p:txBody>
      </p:sp>
      <p:sp>
        <p:nvSpPr>
          <p:cNvPr id="5" name="TextBox 4">
            <a:extLst>
              <a:ext uri="{FF2B5EF4-FFF2-40B4-BE49-F238E27FC236}">
                <a16:creationId xmlns:a16="http://schemas.microsoft.com/office/drawing/2014/main" id="{C9FD7D85-4950-4A78-0D38-9D3F3C223AB8}"/>
              </a:ext>
            </a:extLst>
          </p:cNvPr>
          <p:cNvSpPr txBox="1"/>
          <p:nvPr/>
        </p:nvSpPr>
        <p:spPr>
          <a:xfrm>
            <a:off x="609600" y="609600"/>
            <a:ext cx="9652000" cy="558800"/>
          </a:xfrm>
          <a:prstGeom prst="rect">
            <a:avLst/>
          </a:prstGeom>
          <a:noFill/>
        </p:spPr>
        <p:txBody>
          <a:bodyPr vert="horz" wrap="square" lIns="0" tIns="0" rIns="0" bIns="0" rtlCol="0" anchor="t">
            <a:noAutofit/>
          </a:bodyPr>
          <a:lstStyle/>
          <a:p>
            <a:r>
              <a:rPr lang="en-US" sz="2800" b="1">
                <a:solidFill>
                  <a:srgbClr val="0B1F3A"/>
                </a:solidFill>
                <a:latin typeface="Segoe UI Semibold" panose="020B0702040204020203" pitchFamily="34" charset="0"/>
              </a:rPr>
              <a:t>Selected Projects</a:t>
            </a:r>
          </a:p>
        </p:txBody>
      </p:sp>
      <p:sp>
        <p:nvSpPr>
          <p:cNvPr id="6" name="Rectangle 5">
            <a:extLst>
              <a:ext uri="{FF2B5EF4-FFF2-40B4-BE49-F238E27FC236}">
                <a16:creationId xmlns:a16="http://schemas.microsoft.com/office/drawing/2014/main" id="{C939163A-D9CA-CE37-AC89-A1BDF72C1EAE}"/>
              </a:ext>
            </a:extLst>
          </p:cNvPr>
          <p:cNvSpPr/>
          <p:nvPr/>
        </p:nvSpPr>
        <p:spPr>
          <a:xfrm>
            <a:off x="609600" y="1244600"/>
            <a:ext cx="711200" cy="50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BE4498C-337F-7680-312E-A15DD0454F06}"/>
              </a:ext>
            </a:extLst>
          </p:cNvPr>
          <p:cNvSpPr txBox="1"/>
          <p:nvPr/>
        </p:nvSpPr>
        <p:spPr>
          <a:xfrm>
            <a:off x="5588000" y="812800"/>
            <a:ext cx="3810000" cy="228600"/>
          </a:xfrm>
          <a:prstGeom prst="rect">
            <a:avLst/>
          </a:prstGeom>
          <a:noFill/>
        </p:spPr>
        <p:txBody>
          <a:bodyPr vert="horz" wrap="square" lIns="0" tIns="0" rIns="0" bIns="0" rtlCol="0" anchor="ctr">
            <a:noAutofit/>
          </a:bodyPr>
          <a:lstStyle/>
          <a:p>
            <a:pPr algn="r"/>
            <a:r>
              <a:rPr lang="en-US" sz="1100">
                <a:solidFill>
                  <a:srgbClr val="5B6B80"/>
                </a:solidFill>
                <a:latin typeface="Segoe UI" panose="020B0502040204020203" pitchFamily="34" charset="0"/>
              </a:rPr>
              <a:t>Projects 07 – 12  of  18</a:t>
            </a:r>
          </a:p>
        </p:txBody>
      </p:sp>
      <p:pic>
        <p:nvPicPr>
          <p:cNvPr id="9" name="Graphic 8">
            <a:extLst>
              <a:ext uri="{FF2B5EF4-FFF2-40B4-BE49-F238E27FC236}">
                <a16:creationId xmlns:a16="http://schemas.microsoft.com/office/drawing/2014/main" id="{285464D5-98E4-66AC-2048-1E69C89743EE}"/>
              </a:ext>
            </a:extLst>
          </p:cNvPr>
          <p:cNvPicPr>
            <a:picLocks/>
          </p:cNvPicPr>
          <p:nvPr/>
        </p:nvPicPr>
        <p:blipFill>
          <a:blip>
            <a:extLst>
              <a:ext uri="{96DAC541-7B7A-43D3-8B79-37D633B846F1}">
                <asvg:svgBlip xmlns:asvg="http://schemas.microsoft.com/office/drawing/2016/SVG/main" r:embed="rId2"/>
              </a:ext>
            </a:extLst>
          </a:blip>
          <a:srcRect l="11000" t="19000" r="11000" b="28000"/>
          <a:stretch>
            <a:fillRect/>
          </a:stretch>
        </p:blipFill>
        <p:spPr>
          <a:xfrm>
            <a:off x="10693400" y="431800"/>
            <a:ext cx="914402" cy="621324"/>
          </a:xfrm>
          <a:prstGeom prst="rect">
            <a:avLst/>
          </a:prstGeom>
        </p:spPr>
      </p:pic>
      <p:pic>
        <p:nvPicPr>
          <p:cNvPr id="11" name="Picture 10">
            <a:extLst>
              <a:ext uri="{FF2B5EF4-FFF2-40B4-BE49-F238E27FC236}">
                <a16:creationId xmlns:a16="http://schemas.microsoft.com/office/drawing/2014/main" id="{23805A7B-B6BD-3CA3-AF8B-AA8CB61F913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727700" y="403225"/>
            <a:ext cx="736600" cy="863600"/>
          </a:xfrm>
          <a:prstGeom prst="rect">
            <a:avLst/>
          </a:prstGeom>
        </p:spPr>
      </p:pic>
      <p:sp>
        <p:nvSpPr>
          <p:cNvPr id="12" name="Rectangle: Rounded Corners 11">
            <a:extLst>
              <a:ext uri="{FF2B5EF4-FFF2-40B4-BE49-F238E27FC236}">
                <a16:creationId xmlns:a16="http://schemas.microsoft.com/office/drawing/2014/main" id="{FB9547A4-6007-658F-9D43-CC50C61C6465}"/>
              </a:ext>
            </a:extLst>
          </p:cNvPr>
          <p:cNvSpPr/>
          <p:nvPr/>
        </p:nvSpPr>
        <p:spPr>
          <a:xfrm>
            <a:off x="609600" y="1549400"/>
            <a:ext cx="3454400" cy="22352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6CA34BB-76AD-C5C4-1B9D-1FF51C770EFE}"/>
              </a:ext>
            </a:extLst>
          </p:cNvPr>
          <p:cNvSpPr/>
          <p:nvPr/>
        </p:nvSpPr>
        <p:spPr>
          <a:xfrm>
            <a:off x="609600" y="1549400"/>
            <a:ext cx="3454400" cy="635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81AB240-E296-7D09-F568-06BEA2DF9E0E}"/>
              </a:ext>
            </a:extLst>
          </p:cNvPr>
          <p:cNvSpPr txBox="1"/>
          <p:nvPr/>
        </p:nvSpPr>
        <p:spPr>
          <a:xfrm>
            <a:off x="812800" y="1752600"/>
            <a:ext cx="1524000" cy="177800"/>
          </a:xfrm>
          <a:prstGeom prst="rect">
            <a:avLst/>
          </a:prstGeom>
          <a:noFill/>
        </p:spPr>
        <p:txBody>
          <a:bodyPr vert="horz" wrap="square" lIns="0" tIns="0" rIns="0" bIns="0" rtlCol="0" anchor="t">
            <a:noAutofit/>
          </a:bodyPr>
          <a:lstStyle/>
          <a:p>
            <a:r>
              <a:rPr lang="en-US" sz="900" b="1" spc="150">
                <a:solidFill>
                  <a:srgbClr val="00B4D8"/>
                </a:solidFill>
                <a:latin typeface="Segoe UI Semibold" panose="020B0702040204020203" pitchFamily="34" charset="0"/>
              </a:rPr>
              <a:t>PROJECT 07</a:t>
            </a:r>
          </a:p>
        </p:txBody>
      </p:sp>
      <p:sp>
        <p:nvSpPr>
          <p:cNvPr id="15" name="TextBox 14">
            <a:extLst>
              <a:ext uri="{FF2B5EF4-FFF2-40B4-BE49-F238E27FC236}">
                <a16:creationId xmlns:a16="http://schemas.microsoft.com/office/drawing/2014/main" id="{D80969EF-B6F3-82BA-E841-C2A22EA19CEA}"/>
              </a:ext>
            </a:extLst>
          </p:cNvPr>
          <p:cNvSpPr txBox="1"/>
          <p:nvPr/>
        </p:nvSpPr>
        <p:spPr>
          <a:xfrm>
            <a:off x="812800" y="2006600"/>
            <a:ext cx="3048000" cy="457200"/>
          </a:xfrm>
          <a:prstGeom prst="rect">
            <a:avLst/>
          </a:prstGeom>
          <a:noFill/>
        </p:spPr>
        <p:txBody>
          <a:bodyPr vert="horz" wrap="square" lIns="0" tIns="0" rIns="0" bIns="0" rtlCol="0" anchor="t">
            <a:noAutofit/>
          </a:bodyPr>
          <a:lstStyle/>
          <a:p>
            <a:r>
              <a:rPr lang="en-US" sz="1250" b="1">
                <a:solidFill>
                  <a:srgbClr val="0B1F3A"/>
                </a:solidFill>
                <a:latin typeface="Segoe UI Semibold" panose="020B0702040204020203" pitchFamily="34" charset="0"/>
              </a:rPr>
              <a:t>Detergent Packaging Machine</a:t>
            </a:r>
          </a:p>
        </p:txBody>
      </p:sp>
      <p:sp>
        <p:nvSpPr>
          <p:cNvPr id="16" name="TextBox 15">
            <a:extLst>
              <a:ext uri="{FF2B5EF4-FFF2-40B4-BE49-F238E27FC236}">
                <a16:creationId xmlns:a16="http://schemas.microsoft.com/office/drawing/2014/main" id="{86962199-16E8-ECFC-2250-F43F60FCA117}"/>
              </a:ext>
            </a:extLst>
          </p:cNvPr>
          <p:cNvSpPr txBox="1"/>
          <p:nvPr/>
        </p:nvSpPr>
        <p:spPr>
          <a:xfrm>
            <a:off x="812800" y="2489200"/>
            <a:ext cx="3048000" cy="381000"/>
          </a:xfrm>
          <a:prstGeom prst="rect">
            <a:avLst/>
          </a:prstGeom>
          <a:noFill/>
        </p:spPr>
        <p:txBody>
          <a:bodyPr vert="horz" wrap="square" lIns="0" tIns="0" rIns="0" bIns="0" rtlCol="0" anchor="t">
            <a:noAutofit/>
          </a:bodyPr>
          <a:lstStyle/>
          <a:p>
            <a:pPr>
              <a:lnSpc>
                <a:spcPct val="105000"/>
              </a:lnSpc>
            </a:pPr>
            <a:r>
              <a:rPr lang="en-US" sz="1000">
                <a:solidFill>
                  <a:srgbClr val="5B6B80"/>
                </a:solidFill>
                <a:latin typeface="Segoe UI" panose="020B0502040204020203" pitchFamily="34" charset="0"/>
              </a:rPr>
              <a:t>Installation &amp; commissioning.</a:t>
            </a:r>
          </a:p>
        </p:txBody>
      </p:sp>
      <p:sp>
        <p:nvSpPr>
          <p:cNvPr id="17" name="Rectangle 16">
            <a:extLst>
              <a:ext uri="{FF2B5EF4-FFF2-40B4-BE49-F238E27FC236}">
                <a16:creationId xmlns:a16="http://schemas.microsoft.com/office/drawing/2014/main" id="{8C68BDB2-F356-30A8-64E6-962D7E5351FC}"/>
              </a:ext>
            </a:extLst>
          </p:cNvPr>
          <p:cNvSpPr/>
          <p:nvPr/>
        </p:nvSpPr>
        <p:spPr>
          <a:xfrm>
            <a:off x="812800" y="2946400"/>
            <a:ext cx="30480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40F486F-D5CB-97ED-F080-50D8550E2B7D}"/>
              </a:ext>
            </a:extLst>
          </p:cNvPr>
          <p:cNvSpPr txBox="1"/>
          <p:nvPr/>
        </p:nvSpPr>
        <p:spPr>
          <a:xfrm>
            <a:off x="812800" y="3022600"/>
            <a:ext cx="3048000" cy="685800"/>
          </a:xfrm>
          <a:prstGeom prst="rect">
            <a:avLst/>
          </a:prstGeom>
          <a:noFill/>
        </p:spPr>
        <p:txBody>
          <a:bodyPr vert="horz" wrap="square" lIns="0" tIns="0" rIns="0" bIns="0" rtlCol="0" anchor="t">
            <a:noAutofit/>
          </a:bodyPr>
          <a:lstStyle/>
          <a:p>
            <a:pPr>
              <a:lnSpc>
                <a:spcPct val="115000"/>
              </a:lnSpc>
            </a:pPr>
            <a:r>
              <a:rPr lang="en-US" sz="900" b="1">
                <a:solidFill>
                  <a:srgbClr val="1F6F8B"/>
                </a:solidFill>
                <a:latin typeface="Segoe UI" panose="020B0502040204020203" pitchFamily="34" charset="0"/>
              </a:rPr>
              <a:t>Client:</a:t>
            </a:r>
            <a:r>
              <a:rPr lang="en-US" sz="900">
                <a:solidFill>
                  <a:srgbClr val="1B2B40"/>
                </a:solidFill>
                <a:latin typeface="Segoe UI" panose="020B0502040204020203" pitchFamily="34" charset="0"/>
              </a:rPr>
              <a:t>  Kallol Chemicals Limited</a:t>
            </a:r>
          </a:p>
          <a:p>
            <a:pPr>
              <a:lnSpc>
                <a:spcPct val="115000"/>
              </a:lnSpc>
            </a:pPr>
            <a:r>
              <a:rPr lang="en-US" sz="900" b="1">
                <a:solidFill>
                  <a:srgbClr val="1F6F8B"/>
                </a:solidFill>
                <a:latin typeface="Segoe UI" panose="020B0502040204020203" pitchFamily="34" charset="0"/>
              </a:rPr>
              <a:t>Industry:</a:t>
            </a:r>
            <a:r>
              <a:rPr lang="en-US" sz="900">
                <a:solidFill>
                  <a:srgbClr val="1B2B40"/>
                </a:solidFill>
                <a:latin typeface="Segoe UI" panose="020B0502040204020203" pitchFamily="34" charset="0"/>
              </a:rPr>
              <a:t>  Chemicals</a:t>
            </a:r>
          </a:p>
          <a:p>
            <a:pPr>
              <a:lnSpc>
                <a:spcPct val="115000"/>
              </a:lnSpc>
            </a:pPr>
            <a:r>
              <a:rPr lang="en-US" sz="900" b="1">
                <a:solidFill>
                  <a:srgbClr val="1F6F8B"/>
                </a:solidFill>
                <a:latin typeface="Segoe UI" panose="020B0502040204020203" pitchFamily="34" charset="0"/>
              </a:rPr>
              <a:t>Technology:</a:t>
            </a:r>
            <a:r>
              <a:rPr lang="en-US" sz="900">
                <a:solidFill>
                  <a:srgbClr val="1B2B40"/>
                </a:solidFill>
                <a:latin typeface="Segoe UI" panose="020B0502040204020203" pitchFamily="34" charset="0"/>
              </a:rPr>
              <a:t>  Mitsubishi</a:t>
            </a:r>
          </a:p>
        </p:txBody>
      </p:sp>
      <p:sp>
        <p:nvSpPr>
          <p:cNvPr id="19" name="Rectangle: Rounded Corners 18">
            <a:extLst>
              <a:ext uri="{FF2B5EF4-FFF2-40B4-BE49-F238E27FC236}">
                <a16:creationId xmlns:a16="http://schemas.microsoft.com/office/drawing/2014/main" id="{F3D1D162-418C-88E4-CA2E-BDC775568256}"/>
              </a:ext>
            </a:extLst>
          </p:cNvPr>
          <p:cNvSpPr/>
          <p:nvPr/>
        </p:nvSpPr>
        <p:spPr>
          <a:xfrm>
            <a:off x="4368800" y="1549400"/>
            <a:ext cx="3454400" cy="22352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465E389-7EEA-DE42-3EA3-0C2739578A8E}"/>
              </a:ext>
            </a:extLst>
          </p:cNvPr>
          <p:cNvSpPr/>
          <p:nvPr/>
        </p:nvSpPr>
        <p:spPr>
          <a:xfrm>
            <a:off x="4368800" y="1549400"/>
            <a:ext cx="3454400" cy="635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2638555-348C-7AC2-F013-1AEC47B02F2D}"/>
              </a:ext>
            </a:extLst>
          </p:cNvPr>
          <p:cNvSpPr txBox="1"/>
          <p:nvPr/>
        </p:nvSpPr>
        <p:spPr>
          <a:xfrm>
            <a:off x="4572000" y="1752600"/>
            <a:ext cx="1524000" cy="177800"/>
          </a:xfrm>
          <a:prstGeom prst="rect">
            <a:avLst/>
          </a:prstGeom>
          <a:noFill/>
        </p:spPr>
        <p:txBody>
          <a:bodyPr vert="horz" wrap="square" lIns="0" tIns="0" rIns="0" bIns="0" rtlCol="0" anchor="t">
            <a:noAutofit/>
          </a:bodyPr>
          <a:lstStyle/>
          <a:p>
            <a:r>
              <a:rPr lang="en-US" sz="900" b="1" spc="150">
                <a:solidFill>
                  <a:srgbClr val="00B4D8"/>
                </a:solidFill>
                <a:latin typeface="Segoe UI Semibold" panose="020B0702040204020203" pitchFamily="34" charset="0"/>
              </a:rPr>
              <a:t>PROJECT 08</a:t>
            </a:r>
          </a:p>
        </p:txBody>
      </p:sp>
      <p:sp>
        <p:nvSpPr>
          <p:cNvPr id="22" name="Rectangle: Rounded Corners 21">
            <a:extLst>
              <a:ext uri="{FF2B5EF4-FFF2-40B4-BE49-F238E27FC236}">
                <a16:creationId xmlns:a16="http://schemas.microsoft.com/office/drawing/2014/main" id="{A883F9BE-10BB-A8D2-5961-96FCF19427E5}"/>
              </a:ext>
            </a:extLst>
          </p:cNvPr>
          <p:cNvSpPr/>
          <p:nvPr/>
        </p:nvSpPr>
        <p:spPr>
          <a:xfrm>
            <a:off x="6273800" y="1727200"/>
            <a:ext cx="1346200" cy="215900"/>
          </a:xfrm>
          <a:prstGeom prst="roundRect">
            <a:avLst>
              <a:gd name="adj" fmla="val 50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8FC0569-1BB5-4C1B-8F25-70F69BB6DCDA}"/>
              </a:ext>
            </a:extLst>
          </p:cNvPr>
          <p:cNvSpPr txBox="1"/>
          <p:nvPr/>
        </p:nvSpPr>
        <p:spPr>
          <a:xfrm>
            <a:off x="6273800" y="1727200"/>
            <a:ext cx="1346200" cy="215900"/>
          </a:xfrm>
          <a:prstGeom prst="rect">
            <a:avLst/>
          </a:prstGeom>
          <a:noFill/>
        </p:spPr>
        <p:txBody>
          <a:bodyPr vert="horz" wrap="square" lIns="0" tIns="0" rIns="0" bIns="0" rtlCol="0" anchor="ctr">
            <a:noAutofit/>
          </a:bodyPr>
          <a:lstStyle/>
          <a:p>
            <a:pPr algn="ctr"/>
            <a:r>
              <a:rPr lang="en-US" sz="650" b="1" spc="50">
                <a:solidFill>
                  <a:srgbClr val="1F6F8B"/>
                </a:solidFill>
                <a:latin typeface="Segoe UI Semibold" panose="020B0702040204020203" pitchFamily="34" charset="0"/>
              </a:rPr>
              <a:t>MADE IN BANGLADESH</a:t>
            </a:r>
          </a:p>
        </p:txBody>
      </p:sp>
      <p:sp>
        <p:nvSpPr>
          <p:cNvPr id="24" name="TextBox 23">
            <a:extLst>
              <a:ext uri="{FF2B5EF4-FFF2-40B4-BE49-F238E27FC236}">
                <a16:creationId xmlns:a16="http://schemas.microsoft.com/office/drawing/2014/main" id="{23166346-AE0B-ECD7-8AFD-20E292006CF2}"/>
              </a:ext>
            </a:extLst>
          </p:cNvPr>
          <p:cNvSpPr txBox="1"/>
          <p:nvPr/>
        </p:nvSpPr>
        <p:spPr>
          <a:xfrm>
            <a:off x="4572000" y="2006600"/>
            <a:ext cx="3048000" cy="457200"/>
          </a:xfrm>
          <a:prstGeom prst="rect">
            <a:avLst/>
          </a:prstGeom>
          <a:noFill/>
        </p:spPr>
        <p:txBody>
          <a:bodyPr vert="horz" wrap="square" lIns="0" tIns="0" rIns="0" bIns="0" rtlCol="0" anchor="t">
            <a:noAutofit/>
          </a:bodyPr>
          <a:lstStyle/>
          <a:p>
            <a:r>
              <a:rPr lang="en-US" sz="1250" b="1">
                <a:solidFill>
                  <a:srgbClr val="0B1F3A"/>
                </a:solidFill>
                <a:latin typeface="Segoe UI Semibold" panose="020B0702040204020203" pitchFamily="34" charset="0"/>
              </a:rPr>
              <a:t>Air Condition Production Line Automation</a:t>
            </a:r>
          </a:p>
        </p:txBody>
      </p:sp>
      <p:sp>
        <p:nvSpPr>
          <p:cNvPr id="25" name="TextBox 24">
            <a:extLst>
              <a:ext uri="{FF2B5EF4-FFF2-40B4-BE49-F238E27FC236}">
                <a16:creationId xmlns:a16="http://schemas.microsoft.com/office/drawing/2014/main" id="{526573C5-73A4-0B19-C5CD-BD648EA386D3}"/>
              </a:ext>
            </a:extLst>
          </p:cNvPr>
          <p:cNvSpPr txBox="1"/>
          <p:nvPr/>
        </p:nvSpPr>
        <p:spPr>
          <a:xfrm>
            <a:off x="4572000" y="2489200"/>
            <a:ext cx="3048000" cy="381000"/>
          </a:xfrm>
          <a:prstGeom prst="rect">
            <a:avLst/>
          </a:prstGeom>
          <a:noFill/>
        </p:spPr>
        <p:txBody>
          <a:bodyPr vert="horz" wrap="square" lIns="0" tIns="0" rIns="0" bIns="0" rtlCol="0" anchor="t">
            <a:noAutofit/>
          </a:bodyPr>
          <a:lstStyle/>
          <a:p>
            <a:pPr>
              <a:lnSpc>
                <a:spcPct val="105000"/>
              </a:lnSpc>
            </a:pPr>
            <a:r>
              <a:rPr lang="en-US" sz="1000">
                <a:solidFill>
                  <a:srgbClr val="5B6B80"/>
                </a:solidFill>
                <a:latin typeface="Segoe UI" panose="020B0502040204020203" pitchFamily="34" charset="0"/>
              </a:rPr>
              <a:t>Full production line automation.</a:t>
            </a:r>
          </a:p>
        </p:txBody>
      </p:sp>
      <p:sp>
        <p:nvSpPr>
          <p:cNvPr id="26" name="Rectangle 25">
            <a:extLst>
              <a:ext uri="{FF2B5EF4-FFF2-40B4-BE49-F238E27FC236}">
                <a16:creationId xmlns:a16="http://schemas.microsoft.com/office/drawing/2014/main" id="{A88A985A-0FC8-5705-CB87-5C41A8FBAD58}"/>
              </a:ext>
            </a:extLst>
          </p:cNvPr>
          <p:cNvSpPr/>
          <p:nvPr/>
        </p:nvSpPr>
        <p:spPr>
          <a:xfrm>
            <a:off x="4572000" y="2946400"/>
            <a:ext cx="30480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60ABE3EA-04FD-C3D7-AA9F-D33257650A71}"/>
              </a:ext>
            </a:extLst>
          </p:cNvPr>
          <p:cNvSpPr txBox="1"/>
          <p:nvPr/>
        </p:nvSpPr>
        <p:spPr>
          <a:xfrm>
            <a:off x="4572000" y="3022600"/>
            <a:ext cx="3048000" cy="685800"/>
          </a:xfrm>
          <a:prstGeom prst="rect">
            <a:avLst/>
          </a:prstGeom>
          <a:noFill/>
        </p:spPr>
        <p:txBody>
          <a:bodyPr vert="horz" wrap="square" lIns="0" tIns="0" rIns="0" bIns="0" rtlCol="0" anchor="t">
            <a:noAutofit/>
          </a:bodyPr>
          <a:lstStyle/>
          <a:p>
            <a:pPr>
              <a:lnSpc>
                <a:spcPct val="115000"/>
              </a:lnSpc>
            </a:pPr>
            <a:r>
              <a:rPr lang="en-US" sz="900" b="1">
                <a:solidFill>
                  <a:srgbClr val="1F6F8B"/>
                </a:solidFill>
                <a:latin typeface="Segoe UI" panose="020B0502040204020203" pitchFamily="34" charset="0"/>
              </a:rPr>
              <a:t>Client:</a:t>
            </a:r>
            <a:r>
              <a:rPr lang="en-US" sz="900">
                <a:solidFill>
                  <a:srgbClr val="1B2B40"/>
                </a:solidFill>
                <a:latin typeface="Segoe UI" panose="020B0502040204020203" pitchFamily="34" charset="0"/>
              </a:rPr>
              <a:t>  Singer / Beko</a:t>
            </a:r>
          </a:p>
          <a:p>
            <a:pPr>
              <a:lnSpc>
                <a:spcPct val="115000"/>
              </a:lnSpc>
            </a:pPr>
            <a:r>
              <a:rPr lang="en-US" sz="900" b="1">
                <a:solidFill>
                  <a:srgbClr val="1F6F8B"/>
                </a:solidFill>
                <a:latin typeface="Segoe UI" panose="020B0502040204020203" pitchFamily="34" charset="0"/>
              </a:rPr>
              <a:t>Industry:</a:t>
            </a:r>
            <a:r>
              <a:rPr lang="en-US" sz="900">
                <a:solidFill>
                  <a:srgbClr val="1B2B40"/>
                </a:solidFill>
                <a:latin typeface="Segoe UI" panose="020B0502040204020203" pitchFamily="34" charset="0"/>
              </a:rPr>
              <a:t>  Electronics</a:t>
            </a:r>
          </a:p>
          <a:p>
            <a:pPr>
              <a:lnSpc>
                <a:spcPct val="115000"/>
              </a:lnSpc>
            </a:pPr>
            <a:r>
              <a:rPr lang="en-US" sz="900" b="1">
                <a:solidFill>
                  <a:srgbClr val="1F6F8B"/>
                </a:solidFill>
                <a:latin typeface="Segoe UI" panose="020B0502040204020203" pitchFamily="34" charset="0"/>
              </a:rPr>
              <a:t>Technology:</a:t>
            </a:r>
            <a:r>
              <a:rPr lang="en-US" sz="900">
                <a:solidFill>
                  <a:srgbClr val="1B2B40"/>
                </a:solidFill>
                <a:latin typeface="Segoe UI" panose="020B0502040204020203" pitchFamily="34" charset="0"/>
              </a:rPr>
              <a:t>  Siemens</a:t>
            </a:r>
          </a:p>
        </p:txBody>
      </p:sp>
      <p:sp>
        <p:nvSpPr>
          <p:cNvPr id="28" name="Rectangle: Rounded Corners 27">
            <a:extLst>
              <a:ext uri="{FF2B5EF4-FFF2-40B4-BE49-F238E27FC236}">
                <a16:creationId xmlns:a16="http://schemas.microsoft.com/office/drawing/2014/main" id="{524072C3-44F3-D896-5CC2-E39607E9C485}"/>
              </a:ext>
            </a:extLst>
          </p:cNvPr>
          <p:cNvSpPr/>
          <p:nvPr/>
        </p:nvSpPr>
        <p:spPr>
          <a:xfrm>
            <a:off x="8128000" y="1549400"/>
            <a:ext cx="3454400" cy="22352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15A798A-058C-63A2-F19E-B7BFBCAC6B95}"/>
              </a:ext>
            </a:extLst>
          </p:cNvPr>
          <p:cNvSpPr/>
          <p:nvPr/>
        </p:nvSpPr>
        <p:spPr>
          <a:xfrm>
            <a:off x="8128000" y="1549400"/>
            <a:ext cx="3454400" cy="635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DD7E2D41-DD33-E014-9C1B-AB998D9A36CE}"/>
              </a:ext>
            </a:extLst>
          </p:cNvPr>
          <p:cNvSpPr txBox="1"/>
          <p:nvPr/>
        </p:nvSpPr>
        <p:spPr>
          <a:xfrm>
            <a:off x="8331200" y="1752600"/>
            <a:ext cx="1524000" cy="177800"/>
          </a:xfrm>
          <a:prstGeom prst="rect">
            <a:avLst/>
          </a:prstGeom>
          <a:noFill/>
        </p:spPr>
        <p:txBody>
          <a:bodyPr vert="horz" wrap="square" lIns="0" tIns="0" rIns="0" bIns="0" rtlCol="0" anchor="t">
            <a:noAutofit/>
          </a:bodyPr>
          <a:lstStyle/>
          <a:p>
            <a:r>
              <a:rPr lang="en-US" sz="900" b="1" spc="150">
                <a:solidFill>
                  <a:srgbClr val="00B4D8"/>
                </a:solidFill>
                <a:latin typeface="Segoe UI Semibold" panose="020B0702040204020203" pitchFamily="34" charset="0"/>
              </a:rPr>
              <a:t>PROJECT 09</a:t>
            </a:r>
          </a:p>
        </p:txBody>
      </p:sp>
      <p:sp>
        <p:nvSpPr>
          <p:cNvPr id="31" name="Rectangle: Rounded Corners 30">
            <a:extLst>
              <a:ext uri="{FF2B5EF4-FFF2-40B4-BE49-F238E27FC236}">
                <a16:creationId xmlns:a16="http://schemas.microsoft.com/office/drawing/2014/main" id="{00711496-0CB6-4A49-CA53-C8415D86BDAF}"/>
              </a:ext>
            </a:extLst>
          </p:cNvPr>
          <p:cNvSpPr/>
          <p:nvPr/>
        </p:nvSpPr>
        <p:spPr>
          <a:xfrm>
            <a:off x="10033000" y="1727200"/>
            <a:ext cx="1346200" cy="215900"/>
          </a:xfrm>
          <a:prstGeom prst="roundRect">
            <a:avLst>
              <a:gd name="adj" fmla="val 50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CFD605C-666A-5DD2-B7DA-9AE14BF9EEE9}"/>
              </a:ext>
            </a:extLst>
          </p:cNvPr>
          <p:cNvSpPr txBox="1"/>
          <p:nvPr/>
        </p:nvSpPr>
        <p:spPr>
          <a:xfrm>
            <a:off x="10033000" y="1727200"/>
            <a:ext cx="1346200" cy="215900"/>
          </a:xfrm>
          <a:prstGeom prst="rect">
            <a:avLst/>
          </a:prstGeom>
          <a:noFill/>
        </p:spPr>
        <p:txBody>
          <a:bodyPr vert="horz" wrap="square" lIns="0" tIns="0" rIns="0" bIns="0" rtlCol="0" anchor="ctr">
            <a:noAutofit/>
          </a:bodyPr>
          <a:lstStyle/>
          <a:p>
            <a:pPr algn="ctr"/>
            <a:r>
              <a:rPr lang="en-US" sz="650" b="1" spc="50">
                <a:solidFill>
                  <a:srgbClr val="1F6F8B"/>
                </a:solidFill>
                <a:latin typeface="Segoe UI Semibold" panose="020B0702040204020203" pitchFamily="34" charset="0"/>
              </a:rPr>
              <a:t>MADE IN BANGLADESH</a:t>
            </a:r>
          </a:p>
        </p:txBody>
      </p:sp>
      <p:sp>
        <p:nvSpPr>
          <p:cNvPr id="33" name="TextBox 32">
            <a:extLst>
              <a:ext uri="{FF2B5EF4-FFF2-40B4-BE49-F238E27FC236}">
                <a16:creationId xmlns:a16="http://schemas.microsoft.com/office/drawing/2014/main" id="{077A4DBE-6365-926D-01B9-0911D646E4B5}"/>
              </a:ext>
            </a:extLst>
          </p:cNvPr>
          <p:cNvSpPr txBox="1"/>
          <p:nvPr/>
        </p:nvSpPr>
        <p:spPr>
          <a:xfrm>
            <a:off x="8331200" y="2006600"/>
            <a:ext cx="3048000" cy="457200"/>
          </a:xfrm>
          <a:prstGeom prst="rect">
            <a:avLst/>
          </a:prstGeom>
          <a:noFill/>
        </p:spPr>
        <p:txBody>
          <a:bodyPr vert="horz" wrap="square" lIns="0" tIns="0" rIns="0" bIns="0" rtlCol="0" anchor="t">
            <a:noAutofit/>
          </a:bodyPr>
          <a:lstStyle/>
          <a:p>
            <a:r>
              <a:rPr lang="en-US" sz="1250" b="1">
                <a:solidFill>
                  <a:srgbClr val="0B1F3A"/>
                </a:solidFill>
                <a:latin typeface="Segoe UI Semibold" panose="020B0702040204020203" pitchFamily="34" charset="0"/>
              </a:rPr>
              <a:t>CNC Foam Cutting Machine</a:t>
            </a:r>
          </a:p>
        </p:txBody>
      </p:sp>
      <p:sp>
        <p:nvSpPr>
          <p:cNvPr id="34" name="TextBox 33">
            <a:extLst>
              <a:ext uri="{FF2B5EF4-FFF2-40B4-BE49-F238E27FC236}">
                <a16:creationId xmlns:a16="http://schemas.microsoft.com/office/drawing/2014/main" id="{173E700C-2FB6-F14E-35F6-87468D9975DC}"/>
              </a:ext>
            </a:extLst>
          </p:cNvPr>
          <p:cNvSpPr txBox="1"/>
          <p:nvPr/>
        </p:nvSpPr>
        <p:spPr>
          <a:xfrm>
            <a:off x="8331200" y="2489200"/>
            <a:ext cx="3048000" cy="381000"/>
          </a:xfrm>
          <a:prstGeom prst="rect">
            <a:avLst/>
          </a:prstGeom>
          <a:noFill/>
        </p:spPr>
        <p:txBody>
          <a:bodyPr vert="horz" wrap="square" lIns="0" tIns="0" rIns="0" bIns="0" rtlCol="0" anchor="t">
            <a:noAutofit/>
          </a:bodyPr>
          <a:lstStyle/>
          <a:p>
            <a:pPr>
              <a:lnSpc>
                <a:spcPct val="105000"/>
              </a:lnSpc>
            </a:pPr>
            <a:r>
              <a:rPr lang="en-US" sz="1000">
                <a:solidFill>
                  <a:srgbClr val="5B6B80"/>
                </a:solidFill>
                <a:latin typeface="Segoe UI" panose="020B0502040204020203" pitchFamily="34" charset="0"/>
              </a:rPr>
              <a:t>Locally developed machine.</a:t>
            </a:r>
          </a:p>
        </p:txBody>
      </p:sp>
      <p:sp>
        <p:nvSpPr>
          <p:cNvPr id="35" name="Rectangle 34">
            <a:extLst>
              <a:ext uri="{FF2B5EF4-FFF2-40B4-BE49-F238E27FC236}">
                <a16:creationId xmlns:a16="http://schemas.microsoft.com/office/drawing/2014/main" id="{05F49EEA-561B-57E1-B386-7C5636C8FDBA}"/>
              </a:ext>
            </a:extLst>
          </p:cNvPr>
          <p:cNvSpPr/>
          <p:nvPr/>
        </p:nvSpPr>
        <p:spPr>
          <a:xfrm>
            <a:off x="8331200" y="2946400"/>
            <a:ext cx="30480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025EC3B6-EF9F-0377-1725-0F4D6CEA260A}"/>
              </a:ext>
            </a:extLst>
          </p:cNvPr>
          <p:cNvSpPr txBox="1"/>
          <p:nvPr/>
        </p:nvSpPr>
        <p:spPr>
          <a:xfrm>
            <a:off x="8331200" y="3022600"/>
            <a:ext cx="3048000" cy="685800"/>
          </a:xfrm>
          <a:prstGeom prst="rect">
            <a:avLst/>
          </a:prstGeom>
          <a:noFill/>
        </p:spPr>
        <p:txBody>
          <a:bodyPr vert="horz" wrap="square" lIns="0" tIns="0" rIns="0" bIns="0" rtlCol="0" anchor="t">
            <a:noAutofit/>
          </a:bodyPr>
          <a:lstStyle/>
          <a:p>
            <a:pPr>
              <a:lnSpc>
                <a:spcPct val="115000"/>
              </a:lnSpc>
            </a:pPr>
            <a:r>
              <a:rPr lang="en-US" sz="900" b="1">
                <a:solidFill>
                  <a:srgbClr val="1F6F8B"/>
                </a:solidFill>
                <a:latin typeface="Segoe UI" panose="020B0502040204020203" pitchFamily="34" charset="0"/>
              </a:rPr>
              <a:t>Client:</a:t>
            </a:r>
            <a:r>
              <a:rPr lang="en-US" sz="900">
                <a:solidFill>
                  <a:srgbClr val="1B2B40"/>
                </a:solidFill>
                <a:latin typeface="Segoe UI" panose="020B0502040204020203" pitchFamily="34" charset="0"/>
              </a:rPr>
              <a:t>  Bengal Group of Industries</a:t>
            </a:r>
          </a:p>
          <a:p>
            <a:pPr>
              <a:lnSpc>
                <a:spcPct val="115000"/>
              </a:lnSpc>
            </a:pPr>
            <a:r>
              <a:rPr lang="en-US" sz="900" b="1">
                <a:solidFill>
                  <a:srgbClr val="1F6F8B"/>
                </a:solidFill>
                <a:latin typeface="Segoe UI" panose="020B0502040204020203" pitchFamily="34" charset="0"/>
              </a:rPr>
              <a:t>Industry:</a:t>
            </a:r>
            <a:r>
              <a:rPr lang="en-US" sz="900">
                <a:solidFill>
                  <a:srgbClr val="1B2B40"/>
                </a:solidFill>
                <a:latin typeface="Segoe UI" panose="020B0502040204020203" pitchFamily="34" charset="0"/>
              </a:rPr>
              <a:t>  Foam</a:t>
            </a:r>
          </a:p>
          <a:p>
            <a:pPr>
              <a:lnSpc>
                <a:spcPct val="115000"/>
              </a:lnSpc>
            </a:pPr>
            <a:r>
              <a:rPr lang="en-US" sz="900" b="1">
                <a:solidFill>
                  <a:srgbClr val="1F6F8B"/>
                </a:solidFill>
                <a:latin typeface="Segoe UI" panose="020B0502040204020203" pitchFamily="34" charset="0"/>
              </a:rPr>
              <a:t>Technology:</a:t>
            </a:r>
            <a:r>
              <a:rPr lang="en-US" sz="900">
                <a:solidFill>
                  <a:srgbClr val="1B2B40"/>
                </a:solidFill>
                <a:latin typeface="Segoe UI" panose="020B0502040204020203" pitchFamily="34" charset="0"/>
              </a:rPr>
              <a:t>  Siemens</a:t>
            </a:r>
          </a:p>
        </p:txBody>
      </p:sp>
      <p:sp>
        <p:nvSpPr>
          <p:cNvPr id="37" name="Rectangle: Rounded Corners 36">
            <a:extLst>
              <a:ext uri="{FF2B5EF4-FFF2-40B4-BE49-F238E27FC236}">
                <a16:creationId xmlns:a16="http://schemas.microsoft.com/office/drawing/2014/main" id="{29F2D125-BE39-D5BB-3010-6511F5400652}"/>
              </a:ext>
            </a:extLst>
          </p:cNvPr>
          <p:cNvSpPr/>
          <p:nvPr/>
        </p:nvSpPr>
        <p:spPr>
          <a:xfrm>
            <a:off x="609600" y="3962400"/>
            <a:ext cx="3454400" cy="22352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84A0CA96-6477-6A6F-CA2B-BEE0011A9D35}"/>
              </a:ext>
            </a:extLst>
          </p:cNvPr>
          <p:cNvSpPr/>
          <p:nvPr/>
        </p:nvSpPr>
        <p:spPr>
          <a:xfrm>
            <a:off x="609600" y="3962400"/>
            <a:ext cx="3454400" cy="635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0EC7ECBA-4AE5-A0A7-04B2-A01DA095A8FB}"/>
              </a:ext>
            </a:extLst>
          </p:cNvPr>
          <p:cNvSpPr txBox="1"/>
          <p:nvPr/>
        </p:nvSpPr>
        <p:spPr>
          <a:xfrm>
            <a:off x="812800" y="4165600"/>
            <a:ext cx="1524000" cy="177800"/>
          </a:xfrm>
          <a:prstGeom prst="rect">
            <a:avLst/>
          </a:prstGeom>
          <a:noFill/>
        </p:spPr>
        <p:txBody>
          <a:bodyPr vert="horz" wrap="square" lIns="0" tIns="0" rIns="0" bIns="0" rtlCol="0" anchor="t">
            <a:noAutofit/>
          </a:bodyPr>
          <a:lstStyle/>
          <a:p>
            <a:r>
              <a:rPr lang="en-US" sz="900" b="1" spc="150">
                <a:solidFill>
                  <a:srgbClr val="00B4D8"/>
                </a:solidFill>
                <a:latin typeface="Segoe UI Semibold" panose="020B0702040204020203" pitchFamily="34" charset="0"/>
              </a:rPr>
              <a:t>PROJECT 10</a:t>
            </a:r>
          </a:p>
        </p:txBody>
      </p:sp>
      <p:sp>
        <p:nvSpPr>
          <p:cNvPr id="40" name="Rectangle: Rounded Corners 39">
            <a:extLst>
              <a:ext uri="{FF2B5EF4-FFF2-40B4-BE49-F238E27FC236}">
                <a16:creationId xmlns:a16="http://schemas.microsoft.com/office/drawing/2014/main" id="{4511241A-F5C6-FDA5-DEF6-085B708A92F3}"/>
              </a:ext>
            </a:extLst>
          </p:cNvPr>
          <p:cNvSpPr/>
          <p:nvPr/>
        </p:nvSpPr>
        <p:spPr>
          <a:xfrm>
            <a:off x="2514600" y="4140200"/>
            <a:ext cx="1346200" cy="215900"/>
          </a:xfrm>
          <a:prstGeom prst="roundRect">
            <a:avLst>
              <a:gd name="adj" fmla="val 50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A9E09FD6-E2DA-1693-E766-18DCCFF7CB62}"/>
              </a:ext>
            </a:extLst>
          </p:cNvPr>
          <p:cNvSpPr txBox="1"/>
          <p:nvPr/>
        </p:nvSpPr>
        <p:spPr>
          <a:xfrm>
            <a:off x="2514600" y="4140200"/>
            <a:ext cx="1346200" cy="215900"/>
          </a:xfrm>
          <a:prstGeom prst="rect">
            <a:avLst/>
          </a:prstGeom>
          <a:noFill/>
        </p:spPr>
        <p:txBody>
          <a:bodyPr vert="horz" wrap="square" lIns="0" tIns="0" rIns="0" bIns="0" rtlCol="0" anchor="ctr">
            <a:noAutofit/>
          </a:bodyPr>
          <a:lstStyle/>
          <a:p>
            <a:pPr algn="ctr"/>
            <a:r>
              <a:rPr lang="en-US" sz="650" b="1" spc="50">
                <a:solidFill>
                  <a:srgbClr val="1F6F8B"/>
                </a:solidFill>
                <a:latin typeface="Segoe UI Semibold" panose="020B0702040204020203" pitchFamily="34" charset="0"/>
              </a:rPr>
              <a:t>MADE IN BANGLADESH</a:t>
            </a:r>
          </a:p>
        </p:txBody>
      </p:sp>
      <p:sp>
        <p:nvSpPr>
          <p:cNvPr id="42" name="TextBox 41">
            <a:extLst>
              <a:ext uri="{FF2B5EF4-FFF2-40B4-BE49-F238E27FC236}">
                <a16:creationId xmlns:a16="http://schemas.microsoft.com/office/drawing/2014/main" id="{628F97DD-9DF3-1001-B11C-FF0DD42252EB}"/>
              </a:ext>
            </a:extLst>
          </p:cNvPr>
          <p:cNvSpPr txBox="1"/>
          <p:nvPr/>
        </p:nvSpPr>
        <p:spPr>
          <a:xfrm>
            <a:off x="812800" y="4419600"/>
            <a:ext cx="3048000" cy="457200"/>
          </a:xfrm>
          <a:prstGeom prst="rect">
            <a:avLst/>
          </a:prstGeom>
          <a:noFill/>
        </p:spPr>
        <p:txBody>
          <a:bodyPr vert="horz" wrap="square" lIns="0" tIns="0" rIns="0" bIns="0" rtlCol="0" anchor="t">
            <a:noAutofit/>
          </a:bodyPr>
          <a:lstStyle/>
          <a:p>
            <a:r>
              <a:rPr lang="en-US" sz="1250" b="1">
                <a:solidFill>
                  <a:srgbClr val="0B1F3A"/>
                </a:solidFill>
                <a:latin typeface="Segoe UI Semibold" panose="020B0702040204020203" pitchFamily="34" charset="0"/>
              </a:rPr>
              <a:t>Industrial Chemical Dosing System</a:t>
            </a:r>
          </a:p>
        </p:txBody>
      </p:sp>
      <p:sp>
        <p:nvSpPr>
          <p:cNvPr id="43" name="TextBox 42">
            <a:extLst>
              <a:ext uri="{FF2B5EF4-FFF2-40B4-BE49-F238E27FC236}">
                <a16:creationId xmlns:a16="http://schemas.microsoft.com/office/drawing/2014/main" id="{AF68D482-8708-3129-6EA0-BD708611F444}"/>
              </a:ext>
            </a:extLst>
          </p:cNvPr>
          <p:cNvSpPr txBox="1"/>
          <p:nvPr/>
        </p:nvSpPr>
        <p:spPr>
          <a:xfrm>
            <a:off x="812800" y="4902200"/>
            <a:ext cx="3048000" cy="381000"/>
          </a:xfrm>
          <a:prstGeom prst="rect">
            <a:avLst/>
          </a:prstGeom>
          <a:noFill/>
        </p:spPr>
        <p:txBody>
          <a:bodyPr vert="horz" wrap="square" lIns="0" tIns="0" rIns="0" bIns="0" rtlCol="0" anchor="t">
            <a:noAutofit/>
          </a:bodyPr>
          <a:lstStyle/>
          <a:p>
            <a:pPr>
              <a:lnSpc>
                <a:spcPct val="105000"/>
              </a:lnSpc>
            </a:pPr>
            <a:r>
              <a:rPr lang="en-US" sz="1000">
                <a:solidFill>
                  <a:srgbClr val="5B6B80"/>
                </a:solidFill>
                <a:latin typeface="Segoe UI" panose="020B0502040204020203" pitchFamily="34" charset="0"/>
              </a:rPr>
              <a:t>Proudly made in Bangladesh.</a:t>
            </a:r>
          </a:p>
        </p:txBody>
      </p:sp>
      <p:sp>
        <p:nvSpPr>
          <p:cNvPr id="44" name="Rectangle 43">
            <a:extLst>
              <a:ext uri="{FF2B5EF4-FFF2-40B4-BE49-F238E27FC236}">
                <a16:creationId xmlns:a16="http://schemas.microsoft.com/office/drawing/2014/main" id="{D4780916-2C6C-86DD-91F6-DCC0CD85D95E}"/>
              </a:ext>
            </a:extLst>
          </p:cNvPr>
          <p:cNvSpPr/>
          <p:nvPr/>
        </p:nvSpPr>
        <p:spPr>
          <a:xfrm>
            <a:off x="812800" y="5359400"/>
            <a:ext cx="30480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9178B80C-84AE-7DBF-C64C-781F36227102}"/>
              </a:ext>
            </a:extLst>
          </p:cNvPr>
          <p:cNvSpPr txBox="1"/>
          <p:nvPr/>
        </p:nvSpPr>
        <p:spPr>
          <a:xfrm>
            <a:off x="812800" y="5435600"/>
            <a:ext cx="3048000" cy="685800"/>
          </a:xfrm>
          <a:prstGeom prst="rect">
            <a:avLst/>
          </a:prstGeom>
          <a:noFill/>
        </p:spPr>
        <p:txBody>
          <a:bodyPr vert="horz" wrap="square" lIns="0" tIns="0" rIns="0" bIns="0" rtlCol="0" anchor="t">
            <a:noAutofit/>
          </a:bodyPr>
          <a:lstStyle/>
          <a:p>
            <a:pPr>
              <a:lnSpc>
                <a:spcPct val="115000"/>
              </a:lnSpc>
            </a:pPr>
            <a:r>
              <a:rPr lang="en-US" sz="900" b="1">
                <a:solidFill>
                  <a:srgbClr val="1F6F8B"/>
                </a:solidFill>
                <a:latin typeface="Segoe UI" panose="020B0502040204020203" pitchFamily="34" charset="0"/>
              </a:rPr>
              <a:t>Client:</a:t>
            </a:r>
            <a:r>
              <a:rPr lang="en-US" sz="900">
                <a:solidFill>
                  <a:srgbClr val="1B2B40"/>
                </a:solidFill>
                <a:latin typeface="Segoe UI" panose="020B0502040204020203" pitchFamily="34" charset="0"/>
              </a:rPr>
              <a:t>  RFL, BBML</a:t>
            </a:r>
          </a:p>
          <a:p>
            <a:pPr>
              <a:lnSpc>
                <a:spcPct val="115000"/>
              </a:lnSpc>
            </a:pPr>
            <a:r>
              <a:rPr lang="en-US" sz="900" b="1">
                <a:solidFill>
                  <a:srgbClr val="1F6F8B"/>
                </a:solidFill>
                <a:latin typeface="Segoe UI" panose="020B0502040204020203" pitchFamily="34" charset="0"/>
              </a:rPr>
              <a:t>Industry:</a:t>
            </a:r>
            <a:r>
              <a:rPr lang="en-US" sz="900">
                <a:solidFill>
                  <a:srgbClr val="1B2B40"/>
                </a:solidFill>
                <a:latin typeface="Segoe UI" panose="020B0502040204020203" pitchFamily="34" charset="0"/>
              </a:rPr>
              <a:t>  Artificial leather</a:t>
            </a:r>
          </a:p>
          <a:p>
            <a:pPr>
              <a:lnSpc>
                <a:spcPct val="115000"/>
              </a:lnSpc>
            </a:pPr>
            <a:r>
              <a:rPr lang="en-US" sz="900" b="1">
                <a:solidFill>
                  <a:srgbClr val="1F6F8B"/>
                </a:solidFill>
                <a:latin typeface="Segoe UI" panose="020B0502040204020203" pitchFamily="34" charset="0"/>
              </a:rPr>
              <a:t>Technology:</a:t>
            </a:r>
            <a:r>
              <a:rPr lang="en-US" sz="900">
                <a:solidFill>
                  <a:srgbClr val="1B2B40"/>
                </a:solidFill>
                <a:latin typeface="Segoe UI" panose="020B0502040204020203" pitchFamily="34" charset="0"/>
              </a:rPr>
              <a:t>  Siemens</a:t>
            </a:r>
          </a:p>
        </p:txBody>
      </p:sp>
      <p:sp>
        <p:nvSpPr>
          <p:cNvPr id="46" name="Rectangle: Rounded Corners 45">
            <a:extLst>
              <a:ext uri="{FF2B5EF4-FFF2-40B4-BE49-F238E27FC236}">
                <a16:creationId xmlns:a16="http://schemas.microsoft.com/office/drawing/2014/main" id="{0C1545F8-C731-1583-7A36-54848742CDC2}"/>
              </a:ext>
            </a:extLst>
          </p:cNvPr>
          <p:cNvSpPr/>
          <p:nvPr/>
        </p:nvSpPr>
        <p:spPr>
          <a:xfrm>
            <a:off x="4368800" y="3962400"/>
            <a:ext cx="3454400" cy="22352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9AD3CC8D-0B5A-7A6B-2EE1-CD2A17FE4170}"/>
              </a:ext>
            </a:extLst>
          </p:cNvPr>
          <p:cNvSpPr/>
          <p:nvPr/>
        </p:nvSpPr>
        <p:spPr>
          <a:xfrm>
            <a:off x="4368800" y="3962400"/>
            <a:ext cx="3454400" cy="635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DD93CB85-EE7A-157F-D38F-B77B67FFDE25}"/>
              </a:ext>
            </a:extLst>
          </p:cNvPr>
          <p:cNvSpPr txBox="1"/>
          <p:nvPr/>
        </p:nvSpPr>
        <p:spPr>
          <a:xfrm>
            <a:off x="4572000" y="4165600"/>
            <a:ext cx="1524000" cy="177800"/>
          </a:xfrm>
          <a:prstGeom prst="rect">
            <a:avLst/>
          </a:prstGeom>
          <a:noFill/>
        </p:spPr>
        <p:txBody>
          <a:bodyPr vert="horz" wrap="square" lIns="0" tIns="0" rIns="0" bIns="0" rtlCol="0" anchor="t">
            <a:noAutofit/>
          </a:bodyPr>
          <a:lstStyle/>
          <a:p>
            <a:r>
              <a:rPr lang="en-US" sz="900" b="1" spc="150">
                <a:solidFill>
                  <a:srgbClr val="00B4D8"/>
                </a:solidFill>
                <a:latin typeface="Segoe UI Semibold" panose="020B0702040204020203" pitchFamily="34" charset="0"/>
              </a:rPr>
              <a:t>PROJECT 11</a:t>
            </a:r>
          </a:p>
        </p:txBody>
      </p:sp>
      <p:sp>
        <p:nvSpPr>
          <p:cNvPr id="49" name="Rectangle: Rounded Corners 48">
            <a:extLst>
              <a:ext uri="{FF2B5EF4-FFF2-40B4-BE49-F238E27FC236}">
                <a16:creationId xmlns:a16="http://schemas.microsoft.com/office/drawing/2014/main" id="{68457FCD-A1CE-A505-CFF4-F018417F16B0}"/>
              </a:ext>
            </a:extLst>
          </p:cNvPr>
          <p:cNvSpPr/>
          <p:nvPr/>
        </p:nvSpPr>
        <p:spPr>
          <a:xfrm>
            <a:off x="6273800" y="4140200"/>
            <a:ext cx="1346200" cy="215900"/>
          </a:xfrm>
          <a:prstGeom prst="roundRect">
            <a:avLst>
              <a:gd name="adj" fmla="val 50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65D6EB5B-5BA6-E998-3C87-729DFD663687}"/>
              </a:ext>
            </a:extLst>
          </p:cNvPr>
          <p:cNvSpPr txBox="1"/>
          <p:nvPr/>
        </p:nvSpPr>
        <p:spPr>
          <a:xfrm>
            <a:off x="6273800" y="4140200"/>
            <a:ext cx="1346200" cy="215900"/>
          </a:xfrm>
          <a:prstGeom prst="rect">
            <a:avLst/>
          </a:prstGeom>
          <a:noFill/>
        </p:spPr>
        <p:txBody>
          <a:bodyPr vert="horz" wrap="square" lIns="0" tIns="0" rIns="0" bIns="0" rtlCol="0" anchor="ctr">
            <a:noAutofit/>
          </a:bodyPr>
          <a:lstStyle/>
          <a:p>
            <a:pPr algn="ctr"/>
            <a:r>
              <a:rPr lang="en-US" sz="650" b="1" spc="50">
                <a:solidFill>
                  <a:srgbClr val="1F6F8B"/>
                </a:solidFill>
                <a:latin typeface="Segoe UI Semibold" panose="020B0702040204020203" pitchFamily="34" charset="0"/>
              </a:rPr>
              <a:t>MADE IN BANGLADESH</a:t>
            </a:r>
          </a:p>
        </p:txBody>
      </p:sp>
      <p:sp>
        <p:nvSpPr>
          <p:cNvPr id="51" name="TextBox 50">
            <a:extLst>
              <a:ext uri="{FF2B5EF4-FFF2-40B4-BE49-F238E27FC236}">
                <a16:creationId xmlns:a16="http://schemas.microsoft.com/office/drawing/2014/main" id="{F625106A-84F4-BD07-3D0A-2969A526D0E3}"/>
              </a:ext>
            </a:extLst>
          </p:cNvPr>
          <p:cNvSpPr txBox="1"/>
          <p:nvPr/>
        </p:nvSpPr>
        <p:spPr>
          <a:xfrm>
            <a:off x="4572000" y="4419600"/>
            <a:ext cx="3048000" cy="457200"/>
          </a:xfrm>
          <a:prstGeom prst="rect">
            <a:avLst/>
          </a:prstGeom>
          <a:noFill/>
        </p:spPr>
        <p:txBody>
          <a:bodyPr vert="horz" wrap="square" lIns="0" tIns="0" rIns="0" bIns="0" rtlCol="0" anchor="t">
            <a:noAutofit/>
          </a:bodyPr>
          <a:lstStyle/>
          <a:p>
            <a:r>
              <a:rPr lang="en-US" sz="1250" b="1">
                <a:solidFill>
                  <a:srgbClr val="0B1F3A"/>
                </a:solidFill>
                <a:latin typeface="Segoe UI Semibold" panose="020B0702040204020203" pitchFamily="34" charset="0"/>
              </a:rPr>
              <a:t>Booster Pump Automation</a:t>
            </a:r>
          </a:p>
        </p:txBody>
      </p:sp>
      <p:sp>
        <p:nvSpPr>
          <p:cNvPr id="52" name="TextBox 51">
            <a:extLst>
              <a:ext uri="{FF2B5EF4-FFF2-40B4-BE49-F238E27FC236}">
                <a16:creationId xmlns:a16="http://schemas.microsoft.com/office/drawing/2014/main" id="{662B2F57-5F30-7F95-7B5B-0A0FA6ABBF92}"/>
              </a:ext>
            </a:extLst>
          </p:cNvPr>
          <p:cNvSpPr txBox="1"/>
          <p:nvPr/>
        </p:nvSpPr>
        <p:spPr>
          <a:xfrm>
            <a:off x="4572000" y="4902200"/>
            <a:ext cx="3048000" cy="381000"/>
          </a:xfrm>
          <a:prstGeom prst="rect">
            <a:avLst/>
          </a:prstGeom>
          <a:noFill/>
        </p:spPr>
        <p:txBody>
          <a:bodyPr vert="horz" wrap="square" lIns="0" tIns="0" rIns="0" bIns="0" rtlCol="0" anchor="t">
            <a:noAutofit/>
          </a:bodyPr>
          <a:lstStyle/>
          <a:p>
            <a:pPr>
              <a:lnSpc>
                <a:spcPct val="105000"/>
              </a:lnSpc>
            </a:pPr>
            <a:r>
              <a:rPr lang="en-US" sz="1000">
                <a:solidFill>
                  <a:srgbClr val="5B6B80"/>
                </a:solidFill>
                <a:latin typeface="Segoe UI" panose="020B0502040204020203" pitchFamily="34" charset="0"/>
              </a:rPr>
              <a:t>Pump control &amp; monitoring automation.</a:t>
            </a:r>
          </a:p>
        </p:txBody>
      </p:sp>
      <p:sp>
        <p:nvSpPr>
          <p:cNvPr id="53" name="Rectangle 52">
            <a:extLst>
              <a:ext uri="{FF2B5EF4-FFF2-40B4-BE49-F238E27FC236}">
                <a16:creationId xmlns:a16="http://schemas.microsoft.com/office/drawing/2014/main" id="{395BCA13-1877-CA2E-CFA1-3EBBD295C972}"/>
              </a:ext>
            </a:extLst>
          </p:cNvPr>
          <p:cNvSpPr/>
          <p:nvPr/>
        </p:nvSpPr>
        <p:spPr>
          <a:xfrm>
            <a:off x="4572000" y="5359400"/>
            <a:ext cx="30480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CBA432B7-8CC6-04CB-E1AE-BC15A38611EA}"/>
              </a:ext>
            </a:extLst>
          </p:cNvPr>
          <p:cNvSpPr txBox="1"/>
          <p:nvPr/>
        </p:nvSpPr>
        <p:spPr>
          <a:xfrm>
            <a:off x="4572000" y="5435600"/>
            <a:ext cx="3048000" cy="685800"/>
          </a:xfrm>
          <a:prstGeom prst="rect">
            <a:avLst/>
          </a:prstGeom>
          <a:noFill/>
        </p:spPr>
        <p:txBody>
          <a:bodyPr vert="horz" wrap="square" lIns="0" tIns="0" rIns="0" bIns="0" rtlCol="0" anchor="t">
            <a:noAutofit/>
          </a:bodyPr>
          <a:lstStyle/>
          <a:p>
            <a:pPr>
              <a:lnSpc>
                <a:spcPct val="115000"/>
              </a:lnSpc>
            </a:pPr>
            <a:r>
              <a:rPr lang="en-US" sz="900" b="1">
                <a:solidFill>
                  <a:srgbClr val="1F6F8B"/>
                </a:solidFill>
                <a:latin typeface="Segoe UI" panose="020B0502040204020203" pitchFamily="34" charset="0"/>
              </a:rPr>
              <a:t>Client:</a:t>
            </a:r>
            <a:r>
              <a:rPr lang="en-US" sz="900">
                <a:solidFill>
                  <a:srgbClr val="1B2B40"/>
                </a:solidFill>
                <a:latin typeface="Segoe UI" panose="020B0502040204020203" pitchFamily="34" charset="0"/>
              </a:rPr>
              <a:t>  Mondol Group</a:t>
            </a:r>
          </a:p>
          <a:p>
            <a:pPr>
              <a:lnSpc>
                <a:spcPct val="115000"/>
              </a:lnSpc>
            </a:pPr>
            <a:r>
              <a:rPr lang="en-US" sz="900" b="1">
                <a:solidFill>
                  <a:srgbClr val="1F6F8B"/>
                </a:solidFill>
                <a:latin typeface="Segoe UI" panose="020B0502040204020203" pitchFamily="34" charset="0"/>
              </a:rPr>
              <a:t>Industry:</a:t>
            </a:r>
            <a:r>
              <a:rPr lang="en-US" sz="900">
                <a:solidFill>
                  <a:srgbClr val="1B2B40"/>
                </a:solidFill>
                <a:latin typeface="Segoe UI" panose="020B0502040204020203" pitchFamily="34" charset="0"/>
              </a:rPr>
              <a:t>  Textile</a:t>
            </a:r>
          </a:p>
          <a:p>
            <a:pPr>
              <a:lnSpc>
                <a:spcPct val="115000"/>
              </a:lnSpc>
            </a:pPr>
            <a:r>
              <a:rPr lang="en-US" sz="900" b="1">
                <a:solidFill>
                  <a:srgbClr val="1F6F8B"/>
                </a:solidFill>
                <a:latin typeface="Segoe UI" panose="020B0502040204020203" pitchFamily="34" charset="0"/>
              </a:rPr>
              <a:t>Technology:</a:t>
            </a:r>
            <a:r>
              <a:rPr lang="en-US" sz="900">
                <a:solidFill>
                  <a:srgbClr val="1B2B40"/>
                </a:solidFill>
                <a:latin typeface="Segoe UI" panose="020B0502040204020203" pitchFamily="34" charset="0"/>
              </a:rPr>
              <a:t>  Siemens</a:t>
            </a:r>
          </a:p>
        </p:txBody>
      </p:sp>
      <p:sp>
        <p:nvSpPr>
          <p:cNvPr id="55" name="Rectangle: Rounded Corners 54">
            <a:extLst>
              <a:ext uri="{FF2B5EF4-FFF2-40B4-BE49-F238E27FC236}">
                <a16:creationId xmlns:a16="http://schemas.microsoft.com/office/drawing/2014/main" id="{4030586A-F222-86B6-1902-2B3C05E75394}"/>
              </a:ext>
            </a:extLst>
          </p:cNvPr>
          <p:cNvSpPr/>
          <p:nvPr/>
        </p:nvSpPr>
        <p:spPr>
          <a:xfrm>
            <a:off x="8128000" y="3962400"/>
            <a:ext cx="3454400" cy="22352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7A83D3F9-D941-B9F1-7439-622E027E6A2E}"/>
              </a:ext>
            </a:extLst>
          </p:cNvPr>
          <p:cNvSpPr/>
          <p:nvPr/>
        </p:nvSpPr>
        <p:spPr>
          <a:xfrm>
            <a:off x="8128000" y="3962400"/>
            <a:ext cx="3454400" cy="635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636ADCAE-889B-344C-8A86-80F4AD9C1810}"/>
              </a:ext>
            </a:extLst>
          </p:cNvPr>
          <p:cNvSpPr txBox="1"/>
          <p:nvPr/>
        </p:nvSpPr>
        <p:spPr>
          <a:xfrm>
            <a:off x="8331200" y="4165600"/>
            <a:ext cx="1524000" cy="177800"/>
          </a:xfrm>
          <a:prstGeom prst="rect">
            <a:avLst/>
          </a:prstGeom>
          <a:noFill/>
        </p:spPr>
        <p:txBody>
          <a:bodyPr vert="horz" wrap="square" lIns="0" tIns="0" rIns="0" bIns="0" rtlCol="0" anchor="t">
            <a:noAutofit/>
          </a:bodyPr>
          <a:lstStyle/>
          <a:p>
            <a:r>
              <a:rPr lang="en-US" sz="900" b="1" spc="150">
                <a:solidFill>
                  <a:srgbClr val="00B4D8"/>
                </a:solidFill>
                <a:latin typeface="Segoe UI Semibold" panose="020B0702040204020203" pitchFamily="34" charset="0"/>
              </a:rPr>
              <a:t>PROJECT 12</a:t>
            </a:r>
          </a:p>
        </p:txBody>
      </p:sp>
      <p:sp>
        <p:nvSpPr>
          <p:cNvPr id="58" name="Rectangle: Rounded Corners 57">
            <a:extLst>
              <a:ext uri="{FF2B5EF4-FFF2-40B4-BE49-F238E27FC236}">
                <a16:creationId xmlns:a16="http://schemas.microsoft.com/office/drawing/2014/main" id="{65239041-5589-35A5-ED63-D67C0FC39685}"/>
              </a:ext>
            </a:extLst>
          </p:cNvPr>
          <p:cNvSpPr/>
          <p:nvPr/>
        </p:nvSpPr>
        <p:spPr>
          <a:xfrm>
            <a:off x="10033000" y="4140200"/>
            <a:ext cx="1346200" cy="215900"/>
          </a:xfrm>
          <a:prstGeom prst="roundRect">
            <a:avLst>
              <a:gd name="adj" fmla="val 50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56162A75-E986-4609-1D0A-EE4076DB8A26}"/>
              </a:ext>
            </a:extLst>
          </p:cNvPr>
          <p:cNvSpPr txBox="1"/>
          <p:nvPr/>
        </p:nvSpPr>
        <p:spPr>
          <a:xfrm>
            <a:off x="10033000" y="4140200"/>
            <a:ext cx="1346200" cy="215900"/>
          </a:xfrm>
          <a:prstGeom prst="rect">
            <a:avLst/>
          </a:prstGeom>
          <a:noFill/>
        </p:spPr>
        <p:txBody>
          <a:bodyPr vert="horz" wrap="square" lIns="0" tIns="0" rIns="0" bIns="0" rtlCol="0" anchor="ctr">
            <a:noAutofit/>
          </a:bodyPr>
          <a:lstStyle/>
          <a:p>
            <a:pPr algn="ctr"/>
            <a:r>
              <a:rPr lang="en-US" sz="650" b="1" spc="50">
                <a:solidFill>
                  <a:srgbClr val="1F6F8B"/>
                </a:solidFill>
                <a:latin typeface="Segoe UI Semibold" panose="020B0702040204020203" pitchFamily="34" charset="0"/>
              </a:rPr>
              <a:t>MADE IN BANGLADESH</a:t>
            </a:r>
          </a:p>
        </p:txBody>
      </p:sp>
      <p:sp>
        <p:nvSpPr>
          <p:cNvPr id="60" name="TextBox 59">
            <a:extLst>
              <a:ext uri="{FF2B5EF4-FFF2-40B4-BE49-F238E27FC236}">
                <a16:creationId xmlns:a16="http://schemas.microsoft.com/office/drawing/2014/main" id="{76FF2832-9793-1434-39BC-D523EF77EB4C}"/>
              </a:ext>
            </a:extLst>
          </p:cNvPr>
          <p:cNvSpPr txBox="1"/>
          <p:nvPr/>
        </p:nvSpPr>
        <p:spPr>
          <a:xfrm>
            <a:off x="8331200" y="4419600"/>
            <a:ext cx="3048000" cy="457200"/>
          </a:xfrm>
          <a:prstGeom prst="rect">
            <a:avLst/>
          </a:prstGeom>
          <a:noFill/>
        </p:spPr>
        <p:txBody>
          <a:bodyPr vert="horz" wrap="square" lIns="0" tIns="0" rIns="0" bIns="0" rtlCol="0" anchor="t">
            <a:noAutofit/>
          </a:bodyPr>
          <a:lstStyle/>
          <a:p>
            <a:r>
              <a:rPr lang="en-US" sz="1250" b="1">
                <a:solidFill>
                  <a:srgbClr val="0B1F3A"/>
                </a:solidFill>
                <a:latin typeface="Segoe UI Semibold" panose="020B0702040204020203" pitchFamily="34" charset="0"/>
              </a:rPr>
              <a:t>Chiller Retrofitting</a:t>
            </a:r>
          </a:p>
        </p:txBody>
      </p:sp>
      <p:sp>
        <p:nvSpPr>
          <p:cNvPr id="61" name="TextBox 60">
            <a:extLst>
              <a:ext uri="{FF2B5EF4-FFF2-40B4-BE49-F238E27FC236}">
                <a16:creationId xmlns:a16="http://schemas.microsoft.com/office/drawing/2014/main" id="{0D344F97-D637-3897-788B-983E0BB0B1D2}"/>
              </a:ext>
            </a:extLst>
          </p:cNvPr>
          <p:cNvSpPr txBox="1"/>
          <p:nvPr/>
        </p:nvSpPr>
        <p:spPr>
          <a:xfrm>
            <a:off x="8331200" y="4902200"/>
            <a:ext cx="3048000" cy="381000"/>
          </a:xfrm>
          <a:prstGeom prst="rect">
            <a:avLst/>
          </a:prstGeom>
          <a:noFill/>
        </p:spPr>
        <p:txBody>
          <a:bodyPr vert="horz" wrap="square" lIns="0" tIns="0" rIns="0" bIns="0" rtlCol="0" anchor="t">
            <a:noAutofit/>
          </a:bodyPr>
          <a:lstStyle/>
          <a:p>
            <a:pPr>
              <a:lnSpc>
                <a:spcPct val="105000"/>
              </a:lnSpc>
            </a:pPr>
            <a:r>
              <a:rPr lang="en-US" sz="1000">
                <a:solidFill>
                  <a:srgbClr val="5B6B80"/>
                </a:solidFill>
                <a:latin typeface="Segoe UI" panose="020B0502040204020203" pitchFamily="34" charset="0"/>
              </a:rPr>
              <a:t>PLC–SCADA upgrade.</a:t>
            </a:r>
          </a:p>
        </p:txBody>
      </p:sp>
      <p:sp>
        <p:nvSpPr>
          <p:cNvPr id="62" name="Rectangle 61">
            <a:extLst>
              <a:ext uri="{FF2B5EF4-FFF2-40B4-BE49-F238E27FC236}">
                <a16:creationId xmlns:a16="http://schemas.microsoft.com/office/drawing/2014/main" id="{6E8906D9-AC48-B144-0B37-FA43A25082E2}"/>
              </a:ext>
            </a:extLst>
          </p:cNvPr>
          <p:cNvSpPr/>
          <p:nvPr/>
        </p:nvSpPr>
        <p:spPr>
          <a:xfrm>
            <a:off x="8331200" y="5359400"/>
            <a:ext cx="30480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4F2DE5EA-E3C7-49F7-C2AB-1C9AC203BB8A}"/>
              </a:ext>
            </a:extLst>
          </p:cNvPr>
          <p:cNvSpPr txBox="1"/>
          <p:nvPr/>
        </p:nvSpPr>
        <p:spPr>
          <a:xfrm>
            <a:off x="8331200" y="5435600"/>
            <a:ext cx="3048000" cy="685800"/>
          </a:xfrm>
          <a:prstGeom prst="rect">
            <a:avLst/>
          </a:prstGeom>
          <a:noFill/>
        </p:spPr>
        <p:txBody>
          <a:bodyPr vert="horz" wrap="square" lIns="0" tIns="0" rIns="0" bIns="0" rtlCol="0" anchor="t">
            <a:noAutofit/>
          </a:bodyPr>
          <a:lstStyle/>
          <a:p>
            <a:pPr>
              <a:lnSpc>
                <a:spcPct val="115000"/>
              </a:lnSpc>
            </a:pPr>
            <a:r>
              <a:rPr lang="en-US" sz="900" b="1">
                <a:solidFill>
                  <a:srgbClr val="1F6F8B"/>
                </a:solidFill>
                <a:latin typeface="Segoe UI" panose="020B0502040204020203" pitchFamily="34" charset="0"/>
              </a:rPr>
              <a:t>Client:</a:t>
            </a:r>
            <a:r>
              <a:rPr lang="en-US" sz="900">
                <a:solidFill>
                  <a:srgbClr val="1B2B40"/>
                </a:solidFill>
                <a:latin typeface="Segoe UI" panose="020B0502040204020203" pitchFamily="34" charset="0"/>
              </a:rPr>
              <a:t>  HAMKO Group</a:t>
            </a:r>
          </a:p>
          <a:p>
            <a:pPr>
              <a:lnSpc>
                <a:spcPct val="115000"/>
              </a:lnSpc>
            </a:pPr>
            <a:r>
              <a:rPr lang="en-US" sz="900" b="1">
                <a:solidFill>
                  <a:srgbClr val="1F6F8B"/>
                </a:solidFill>
                <a:latin typeface="Segoe UI" panose="020B0502040204020203" pitchFamily="34" charset="0"/>
              </a:rPr>
              <a:t>Industry:</a:t>
            </a:r>
            <a:r>
              <a:rPr lang="en-US" sz="900">
                <a:solidFill>
                  <a:srgbClr val="1B2B40"/>
                </a:solidFill>
                <a:latin typeface="Segoe UI" panose="020B0502040204020203" pitchFamily="34" charset="0"/>
              </a:rPr>
              <a:t>  Plastic</a:t>
            </a:r>
          </a:p>
          <a:p>
            <a:pPr>
              <a:lnSpc>
                <a:spcPct val="115000"/>
              </a:lnSpc>
            </a:pPr>
            <a:r>
              <a:rPr lang="en-US" sz="900" b="1">
                <a:solidFill>
                  <a:srgbClr val="1F6F8B"/>
                </a:solidFill>
                <a:latin typeface="Segoe UI" panose="020B0502040204020203" pitchFamily="34" charset="0"/>
              </a:rPr>
              <a:t>Technology:</a:t>
            </a:r>
            <a:r>
              <a:rPr lang="en-US" sz="900">
                <a:solidFill>
                  <a:srgbClr val="1B2B40"/>
                </a:solidFill>
                <a:latin typeface="Segoe UI" panose="020B0502040204020203" pitchFamily="34" charset="0"/>
              </a:rPr>
              <a:t>  Siemens</a:t>
            </a:r>
          </a:p>
        </p:txBody>
      </p:sp>
      <p:sp>
        <p:nvSpPr>
          <p:cNvPr id="64" name="Rectangle 63">
            <a:extLst>
              <a:ext uri="{FF2B5EF4-FFF2-40B4-BE49-F238E27FC236}">
                <a16:creationId xmlns:a16="http://schemas.microsoft.com/office/drawing/2014/main" id="{AC786797-CBE2-05C3-D9B2-D74859F937DD}"/>
              </a:ext>
            </a:extLst>
          </p:cNvPr>
          <p:cNvSpPr/>
          <p:nvPr/>
        </p:nvSpPr>
        <p:spPr>
          <a:xfrm>
            <a:off x="609600" y="6388100"/>
            <a:ext cx="109728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5ACD1DC4-FA34-50C7-1E88-0538A956FA67}"/>
              </a:ext>
            </a:extLst>
          </p:cNvPr>
          <p:cNvSpPr txBox="1"/>
          <p:nvPr/>
        </p:nvSpPr>
        <p:spPr>
          <a:xfrm>
            <a:off x="609600" y="6489700"/>
            <a:ext cx="6350000" cy="177800"/>
          </a:xfrm>
          <a:prstGeom prst="rect">
            <a:avLst/>
          </a:prstGeom>
          <a:noFill/>
        </p:spPr>
        <p:txBody>
          <a:bodyPr vert="horz" wrap="square" lIns="0" tIns="0" rIns="0" bIns="0" rtlCol="0" anchor="t">
            <a:noAutofit/>
          </a:bodyPr>
          <a:lstStyle/>
          <a:p>
            <a:r>
              <a:rPr lang="en-US" sz="850" spc="100">
                <a:solidFill>
                  <a:srgbClr val="5B6B80"/>
                </a:solidFill>
                <a:latin typeface="Segoe UI" panose="020B0502040204020203" pitchFamily="34" charset="0"/>
              </a:rPr>
              <a:t>MECHWARE  |  TECHNOLOGY FOR SMARTER SYSTEMS</a:t>
            </a:r>
          </a:p>
        </p:txBody>
      </p:sp>
      <p:sp>
        <p:nvSpPr>
          <p:cNvPr id="66" name="TextBox 65">
            <a:extLst>
              <a:ext uri="{FF2B5EF4-FFF2-40B4-BE49-F238E27FC236}">
                <a16:creationId xmlns:a16="http://schemas.microsoft.com/office/drawing/2014/main" id="{CFF00BB7-2250-CC57-EDAD-D3A06051CC3A}"/>
              </a:ext>
            </a:extLst>
          </p:cNvPr>
          <p:cNvSpPr txBox="1"/>
          <p:nvPr/>
        </p:nvSpPr>
        <p:spPr>
          <a:xfrm>
            <a:off x="7772400" y="6489700"/>
            <a:ext cx="3810000" cy="177800"/>
          </a:xfrm>
          <a:prstGeom prst="rect">
            <a:avLst/>
          </a:prstGeom>
          <a:noFill/>
        </p:spPr>
        <p:txBody>
          <a:bodyPr vert="horz" wrap="square" lIns="0" tIns="0" rIns="0" bIns="0" rtlCol="0" anchor="t">
            <a:noAutofit/>
          </a:bodyPr>
          <a:lstStyle/>
          <a:p>
            <a:pPr algn="r"/>
            <a:r>
              <a:rPr lang="en-US" sz="950" b="1">
                <a:solidFill>
                  <a:srgbClr val="0B1F3A"/>
                </a:solidFill>
                <a:latin typeface="Segoe UI Semibold" panose="020B0702040204020203" pitchFamily="34" charset="0"/>
              </a:rPr>
              <a:t>12</a:t>
            </a:r>
          </a:p>
        </p:txBody>
      </p:sp>
    </p:spTree>
    <p:extLst>
      <p:ext uri="{BB962C8B-B14F-4D97-AF65-F5344CB8AC3E}">
        <p14:creationId xmlns:p14="http://schemas.microsoft.com/office/powerpoint/2010/main" val="2084852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4D8175-ADEF-7D4C-9AB8-17513F5D21C0}"/>
              </a:ext>
            </a:extLst>
          </p:cNvPr>
          <p:cNvSpPr/>
          <p:nvPr/>
        </p:nvSpPr>
        <p:spPr>
          <a:xfrm>
            <a:off x="0" y="0"/>
            <a:ext cx="12192000" cy="1016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367370A-B4E5-5A9D-A7B5-CE5389ACDF5A}"/>
              </a:ext>
            </a:extLst>
          </p:cNvPr>
          <p:cNvSpPr/>
          <p:nvPr/>
        </p:nvSpPr>
        <p:spPr>
          <a:xfrm>
            <a:off x="0" y="0"/>
            <a:ext cx="2794000" cy="101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5507927-9A7F-7CC0-0E45-F7974A459517}"/>
              </a:ext>
            </a:extLst>
          </p:cNvPr>
          <p:cNvSpPr txBox="1"/>
          <p:nvPr/>
        </p:nvSpPr>
        <p:spPr>
          <a:xfrm>
            <a:off x="609600" y="381000"/>
            <a:ext cx="8890000" cy="203200"/>
          </a:xfrm>
          <a:prstGeom prst="rect">
            <a:avLst/>
          </a:prstGeom>
          <a:noFill/>
        </p:spPr>
        <p:txBody>
          <a:bodyPr vert="horz" wrap="square" lIns="0" tIns="0" rIns="0" bIns="0" rtlCol="0" anchor="t">
            <a:noAutofit/>
          </a:bodyPr>
          <a:lstStyle/>
          <a:p>
            <a:r>
              <a:rPr lang="en-US" sz="1050" b="1" spc="250">
                <a:solidFill>
                  <a:srgbClr val="00B4D8"/>
                </a:solidFill>
                <a:latin typeface="Segoe UI Semibold" panose="020B0702040204020203" pitchFamily="34" charset="0"/>
              </a:rPr>
              <a:t>09  —  PORTFOLIO</a:t>
            </a:r>
          </a:p>
        </p:txBody>
      </p:sp>
      <p:sp>
        <p:nvSpPr>
          <p:cNvPr id="5" name="TextBox 4">
            <a:extLst>
              <a:ext uri="{FF2B5EF4-FFF2-40B4-BE49-F238E27FC236}">
                <a16:creationId xmlns:a16="http://schemas.microsoft.com/office/drawing/2014/main" id="{C8519288-79F6-B5B6-D602-90767C8BDD33}"/>
              </a:ext>
            </a:extLst>
          </p:cNvPr>
          <p:cNvSpPr txBox="1"/>
          <p:nvPr/>
        </p:nvSpPr>
        <p:spPr>
          <a:xfrm>
            <a:off x="609600" y="609600"/>
            <a:ext cx="9652000" cy="558800"/>
          </a:xfrm>
          <a:prstGeom prst="rect">
            <a:avLst/>
          </a:prstGeom>
          <a:noFill/>
        </p:spPr>
        <p:txBody>
          <a:bodyPr vert="horz" wrap="square" lIns="0" tIns="0" rIns="0" bIns="0" rtlCol="0" anchor="t">
            <a:noAutofit/>
          </a:bodyPr>
          <a:lstStyle/>
          <a:p>
            <a:r>
              <a:rPr lang="en-US" sz="2800" b="1">
                <a:solidFill>
                  <a:srgbClr val="0B1F3A"/>
                </a:solidFill>
                <a:latin typeface="Segoe UI Semibold" panose="020B0702040204020203" pitchFamily="34" charset="0"/>
              </a:rPr>
              <a:t>Selected Projects</a:t>
            </a:r>
          </a:p>
        </p:txBody>
      </p:sp>
      <p:sp>
        <p:nvSpPr>
          <p:cNvPr id="6" name="Rectangle 5">
            <a:extLst>
              <a:ext uri="{FF2B5EF4-FFF2-40B4-BE49-F238E27FC236}">
                <a16:creationId xmlns:a16="http://schemas.microsoft.com/office/drawing/2014/main" id="{D8E90B42-125F-D49D-41E2-A3680F7C30C8}"/>
              </a:ext>
            </a:extLst>
          </p:cNvPr>
          <p:cNvSpPr/>
          <p:nvPr/>
        </p:nvSpPr>
        <p:spPr>
          <a:xfrm>
            <a:off x="609600" y="1244600"/>
            <a:ext cx="711200" cy="50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77CCE04-4F3B-1131-DE51-AD9B9747031B}"/>
              </a:ext>
            </a:extLst>
          </p:cNvPr>
          <p:cNvSpPr txBox="1"/>
          <p:nvPr/>
        </p:nvSpPr>
        <p:spPr>
          <a:xfrm>
            <a:off x="5588000" y="812800"/>
            <a:ext cx="3810000" cy="228600"/>
          </a:xfrm>
          <a:prstGeom prst="rect">
            <a:avLst/>
          </a:prstGeom>
          <a:noFill/>
        </p:spPr>
        <p:txBody>
          <a:bodyPr vert="horz" wrap="square" lIns="0" tIns="0" rIns="0" bIns="0" rtlCol="0" anchor="ctr">
            <a:noAutofit/>
          </a:bodyPr>
          <a:lstStyle/>
          <a:p>
            <a:pPr algn="r"/>
            <a:r>
              <a:rPr lang="en-US" sz="1100">
                <a:solidFill>
                  <a:srgbClr val="5B6B80"/>
                </a:solidFill>
                <a:latin typeface="Segoe UI" panose="020B0502040204020203" pitchFamily="34" charset="0"/>
              </a:rPr>
              <a:t>Projects 13 – 18  of  18</a:t>
            </a:r>
          </a:p>
        </p:txBody>
      </p:sp>
      <p:pic>
        <p:nvPicPr>
          <p:cNvPr id="9" name="Graphic 8">
            <a:extLst>
              <a:ext uri="{FF2B5EF4-FFF2-40B4-BE49-F238E27FC236}">
                <a16:creationId xmlns:a16="http://schemas.microsoft.com/office/drawing/2014/main" id="{56E4548D-AAB6-D883-DBE4-5AB1419CCDD5}"/>
              </a:ext>
            </a:extLst>
          </p:cNvPr>
          <p:cNvPicPr>
            <a:picLocks/>
          </p:cNvPicPr>
          <p:nvPr/>
        </p:nvPicPr>
        <p:blipFill>
          <a:blip>
            <a:extLst>
              <a:ext uri="{96DAC541-7B7A-43D3-8B79-37D633B846F1}">
                <asvg:svgBlip xmlns:asvg="http://schemas.microsoft.com/office/drawing/2016/SVG/main" r:embed="rId2"/>
              </a:ext>
            </a:extLst>
          </a:blip>
          <a:srcRect l="11000" t="19000" r="11000" b="28000"/>
          <a:stretch>
            <a:fillRect/>
          </a:stretch>
        </p:blipFill>
        <p:spPr>
          <a:xfrm>
            <a:off x="10693400" y="431800"/>
            <a:ext cx="914402" cy="621324"/>
          </a:xfrm>
          <a:prstGeom prst="rect">
            <a:avLst/>
          </a:prstGeom>
        </p:spPr>
      </p:pic>
      <p:pic>
        <p:nvPicPr>
          <p:cNvPr id="11" name="Picture 10">
            <a:extLst>
              <a:ext uri="{FF2B5EF4-FFF2-40B4-BE49-F238E27FC236}">
                <a16:creationId xmlns:a16="http://schemas.microsoft.com/office/drawing/2014/main" id="{A1067348-5DF4-D705-FA8C-EA8DA88055E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727700" y="431800"/>
            <a:ext cx="736600" cy="863600"/>
          </a:xfrm>
          <a:prstGeom prst="rect">
            <a:avLst/>
          </a:prstGeom>
        </p:spPr>
      </p:pic>
      <p:sp>
        <p:nvSpPr>
          <p:cNvPr id="12" name="Rectangle: Rounded Corners 11">
            <a:extLst>
              <a:ext uri="{FF2B5EF4-FFF2-40B4-BE49-F238E27FC236}">
                <a16:creationId xmlns:a16="http://schemas.microsoft.com/office/drawing/2014/main" id="{584E51F7-3730-4C7A-2765-4765CDE93E73}"/>
              </a:ext>
            </a:extLst>
          </p:cNvPr>
          <p:cNvSpPr/>
          <p:nvPr/>
        </p:nvSpPr>
        <p:spPr>
          <a:xfrm>
            <a:off x="609600" y="1549400"/>
            <a:ext cx="3454400" cy="22352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85294B2-F142-AC84-A3BD-8DB8A765407A}"/>
              </a:ext>
            </a:extLst>
          </p:cNvPr>
          <p:cNvSpPr/>
          <p:nvPr/>
        </p:nvSpPr>
        <p:spPr>
          <a:xfrm>
            <a:off x="609600" y="1549400"/>
            <a:ext cx="3454400" cy="635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6AE4919-998E-7254-CEC1-6343A1D117FE}"/>
              </a:ext>
            </a:extLst>
          </p:cNvPr>
          <p:cNvSpPr txBox="1"/>
          <p:nvPr/>
        </p:nvSpPr>
        <p:spPr>
          <a:xfrm>
            <a:off x="812800" y="1752600"/>
            <a:ext cx="1524000" cy="177800"/>
          </a:xfrm>
          <a:prstGeom prst="rect">
            <a:avLst/>
          </a:prstGeom>
          <a:noFill/>
        </p:spPr>
        <p:txBody>
          <a:bodyPr vert="horz" wrap="square" lIns="0" tIns="0" rIns="0" bIns="0" rtlCol="0" anchor="t">
            <a:noAutofit/>
          </a:bodyPr>
          <a:lstStyle/>
          <a:p>
            <a:r>
              <a:rPr lang="en-US" sz="900" b="1" spc="150">
                <a:solidFill>
                  <a:srgbClr val="00B4D8"/>
                </a:solidFill>
                <a:latin typeface="Segoe UI Semibold" panose="020B0702040204020203" pitchFamily="34" charset="0"/>
              </a:rPr>
              <a:t>PROJECT 13</a:t>
            </a:r>
          </a:p>
        </p:txBody>
      </p:sp>
      <p:sp>
        <p:nvSpPr>
          <p:cNvPr id="15" name="Rectangle: Rounded Corners 14">
            <a:extLst>
              <a:ext uri="{FF2B5EF4-FFF2-40B4-BE49-F238E27FC236}">
                <a16:creationId xmlns:a16="http://schemas.microsoft.com/office/drawing/2014/main" id="{44F3F5AE-C721-6D64-9818-AE4780572F0F}"/>
              </a:ext>
            </a:extLst>
          </p:cNvPr>
          <p:cNvSpPr/>
          <p:nvPr/>
        </p:nvSpPr>
        <p:spPr>
          <a:xfrm>
            <a:off x="2514600" y="1727200"/>
            <a:ext cx="1346200" cy="215900"/>
          </a:xfrm>
          <a:prstGeom prst="roundRect">
            <a:avLst>
              <a:gd name="adj" fmla="val 50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1D19070-577D-97C2-B7B6-712947C5F738}"/>
              </a:ext>
            </a:extLst>
          </p:cNvPr>
          <p:cNvSpPr txBox="1"/>
          <p:nvPr/>
        </p:nvSpPr>
        <p:spPr>
          <a:xfrm>
            <a:off x="2514600" y="1727200"/>
            <a:ext cx="1346200" cy="215900"/>
          </a:xfrm>
          <a:prstGeom prst="rect">
            <a:avLst/>
          </a:prstGeom>
          <a:noFill/>
        </p:spPr>
        <p:txBody>
          <a:bodyPr vert="horz" wrap="square" lIns="0" tIns="0" rIns="0" bIns="0" rtlCol="0" anchor="ctr">
            <a:noAutofit/>
          </a:bodyPr>
          <a:lstStyle/>
          <a:p>
            <a:pPr algn="ctr"/>
            <a:r>
              <a:rPr lang="en-US" sz="650" b="1" spc="50">
                <a:solidFill>
                  <a:srgbClr val="1F6F8B"/>
                </a:solidFill>
                <a:latin typeface="Segoe UI Semibold" panose="020B0702040204020203" pitchFamily="34" charset="0"/>
              </a:rPr>
              <a:t>MADE IN BANGLADESH</a:t>
            </a:r>
          </a:p>
        </p:txBody>
      </p:sp>
      <p:sp>
        <p:nvSpPr>
          <p:cNvPr id="17" name="TextBox 16">
            <a:extLst>
              <a:ext uri="{FF2B5EF4-FFF2-40B4-BE49-F238E27FC236}">
                <a16:creationId xmlns:a16="http://schemas.microsoft.com/office/drawing/2014/main" id="{2A615D79-7077-A280-DE77-7BFCEF578F8A}"/>
              </a:ext>
            </a:extLst>
          </p:cNvPr>
          <p:cNvSpPr txBox="1"/>
          <p:nvPr/>
        </p:nvSpPr>
        <p:spPr>
          <a:xfrm>
            <a:off x="812800" y="2006600"/>
            <a:ext cx="3048000" cy="457200"/>
          </a:xfrm>
          <a:prstGeom prst="rect">
            <a:avLst/>
          </a:prstGeom>
          <a:noFill/>
        </p:spPr>
        <p:txBody>
          <a:bodyPr vert="horz" wrap="square" lIns="0" tIns="0" rIns="0" bIns="0" rtlCol="0" anchor="t">
            <a:noAutofit/>
          </a:bodyPr>
          <a:lstStyle/>
          <a:p>
            <a:r>
              <a:rPr lang="en-US" sz="1250" b="1">
                <a:solidFill>
                  <a:srgbClr val="0B1F3A"/>
                </a:solidFill>
                <a:latin typeface="Segoe UI Semibold" panose="020B0702040204020203" pitchFamily="34" charset="0"/>
              </a:rPr>
              <a:t>Pouch Machine Retrofitting</a:t>
            </a:r>
          </a:p>
        </p:txBody>
      </p:sp>
      <p:sp>
        <p:nvSpPr>
          <p:cNvPr id="18" name="TextBox 17">
            <a:extLst>
              <a:ext uri="{FF2B5EF4-FFF2-40B4-BE49-F238E27FC236}">
                <a16:creationId xmlns:a16="http://schemas.microsoft.com/office/drawing/2014/main" id="{AC45B884-1D4E-3BD1-DA78-6F6FEFF73751}"/>
              </a:ext>
            </a:extLst>
          </p:cNvPr>
          <p:cNvSpPr txBox="1"/>
          <p:nvPr/>
        </p:nvSpPr>
        <p:spPr>
          <a:xfrm>
            <a:off x="812800" y="2489200"/>
            <a:ext cx="3048000" cy="381000"/>
          </a:xfrm>
          <a:prstGeom prst="rect">
            <a:avLst/>
          </a:prstGeom>
          <a:noFill/>
        </p:spPr>
        <p:txBody>
          <a:bodyPr vert="horz" wrap="square" lIns="0" tIns="0" rIns="0" bIns="0" rtlCol="0" anchor="t">
            <a:noAutofit/>
          </a:bodyPr>
          <a:lstStyle/>
          <a:p>
            <a:pPr>
              <a:lnSpc>
                <a:spcPct val="105000"/>
              </a:lnSpc>
            </a:pPr>
            <a:r>
              <a:rPr lang="en-US" sz="1000">
                <a:solidFill>
                  <a:srgbClr val="5B6B80"/>
                </a:solidFill>
                <a:latin typeface="Segoe UI" panose="020B0502040204020203" pitchFamily="34" charset="0"/>
              </a:rPr>
              <a:t>Retrofitting &amp; mechanical modification.</a:t>
            </a:r>
          </a:p>
        </p:txBody>
      </p:sp>
      <p:sp>
        <p:nvSpPr>
          <p:cNvPr id="19" name="Rectangle 18">
            <a:extLst>
              <a:ext uri="{FF2B5EF4-FFF2-40B4-BE49-F238E27FC236}">
                <a16:creationId xmlns:a16="http://schemas.microsoft.com/office/drawing/2014/main" id="{406B148E-832D-07AD-BC88-F0DD805B7D05}"/>
              </a:ext>
            </a:extLst>
          </p:cNvPr>
          <p:cNvSpPr/>
          <p:nvPr/>
        </p:nvSpPr>
        <p:spPr>
          <a:xfrm>
            <a:off x="812800" y="2946400"/>
            <a:ext cx="30480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B663BF9-0CCE-F297-31C3-EC481021AF16}"/>
              </a:ext>
            </a:extLst>
          </p:cNvPr>
          <p:cNvSpPr txBox="1"/>
          <p:nvPr/>
        </p:nvSpPr>
        <p:spPr>
          <a:xfrm>
            <a:off x="812800" y="3022600"/>
            <a:ext cx="3048000" cy="685800"/>
          </a:xfrm>
          <a:prstGeom prst="rect">
            <a:avLst/>
          </a:prstGeom>
          <a:noFill/>
        </p:spPr>
        <p:txBody>
          <a:bodyPr vert="horz" wrap="square" lIns="0" tIns="0" rIns="0" bIns="0" rtlCol="0" anchor="t">
            <a:noAutofit/>
          </a:bodyPr>
          <a:lstStyle/>
          <a:p>
            <a:pPr>
              <a:lnSpc>
                <a:spcPct val="115000"/>
              </a:lnSpc>
            </a:pPr>
            <a:r>
              <a:rPr lang="en-US" sz="900" b="1">
                <a:solidFill>
                  <a:srgbClr val="1F6F8B"/>
                </a:solidFill>
                <a:latin typeface="Segoe UI" panose="020B0502040204020203" pitchFamily="34" charset="0"/>
              </a:rPr>
              <a:t>Client:</a:t>
            </a:r>
            <a:r>
              <a:rPr lang="en-US" sz="900">
                <a:solidFill>
                  <a:srgbClr val="1B2B40"/>
                </a:solidFill>
                <a:latin typeface="Segoe UI" panose="020B0502040204020203" pitchFamily="34" charset="0"/>
              </a:rPr>
              <a:t>  Bombay Sweets &amp; Co. Ltd.</a:t>
            </a:r>
          </a:p>
          <a:p>
            <a:pPr>
              <a:lnSpc>
                <a:spcPct val="115000"/>
              </a:lnSpc>
            </a:pPr>
            <a:r>
              <a:rPr lang="en-US" sz="900" b="1">
                <a:solidFill>
                  <a:srgbClr val="1F6F8B"/>
                </a:solidFill>
                <a:latin typeface="Segoe UI" panose="020B0502040204020203" pitchFamily="34" charset="0"/>
              </a:rPr>
              <a:t>Industry:</a:t>
            </a:r>
            <a:r>
              <a:rPr lang="en-US" sz="900">
                <a:solidFill>
                  <a:srgbClr val="1B2B40"/>
                </a:solidFill>
                <a:latin typeface="Segoe UI" panose="020B0502040204020203" pitchFamily="34" charset="0"/>
              </a:rPr>
              <a:t>  Food</a:t>
            </a:r>
          </a:p>
          <a:p>
            <a:pPr>
              <a:lnSpc>
                <a:spcPct val="115000"/>
              </a:lnSpc>
            </a:pPr>
            <a:r>
              <a:rPr lang="en-US" sz="900" b="1">
                <a:solidFill>
                  <a:srgbClr val="1F6F8B"/>
                </a:solidFill>
                <a:latin typeface="Segoe UI" panose="020B0502040204020203" pitchFamily="34" charset="0"/>
              </a:rPr>
              <a:t>Technology:</a:t>
            </a:r>
            <a:r>
              <a:rPr lang="en-US" sz="900">
                <a:solidFill>
                  <a:srgbClr val="1B2B40"/>
                </a:solidFill>
                <a:latin typeface="Segoe UI" panose="020B0502040204020203" pitchFamily="34" charset="0"/>
              </a:rPr>
              <a:t>  Mitsubishi</a:t>
            </a:r>
          </a:p>
        </p:txBody>
      </p:sp>
      <p:sp>
        <p:nvSpPr>
          <p:cNvPr id="21" name="Rectangle: Rounded Corners 20">
            <a:extLst>
              <a:ext uri="{FF2B5EF4-FFF2-40B4-BE49-F238E27FC236}">
                <a16:creationId xmlns:a16="http://schemas.microsoft.com/office/drawing/2014/main" id="{D7ED1496-5CD5-9DAA-3ED3-0DD264353777}"/>
              </a:ext>
            </a:extLst>
          </p:cNvPr>
          <p:cNvSpPr/>
          <p:nvPr/>
        </p:nvSpPr>
        <p:spPr>
          <a:xfrm>
            <a:off x="4368800" y="1549400"/>
            <a:ext cx="3454400" cy="22352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04D4431-4EE3-A85A-D48F-018802C2E694}"/>
              </a:ext>
            </a:extLst>
          </p:cNvPr>
          <p:cNvSpPr/>
          <p:nvPr/>
        </p:nvSpPr>
        <p:spPr>
          <a:xfrm>
            <a:off x="4368800" y="1549400"/>
            <a:ext cx="3454400" cy="635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11B1B04-4B78-6C36-090F-F714DA154CB3}"/>
              </a:ext>
            </a:extLst>
          </p:cNvPr>
          <p:cNvSpPr txBox="1"/>
          <p:nvPr/>
        </p:nvSpPr>
        <p:spPr>
          <a:xfrm>
            <a:off x="4572000" y="1752600"/>
            <a:ext cx="1524000" cy="177800"/>
          </a:xfrm>
          <a:prstGeom prst="rect">
            <a:avLst/>
          </a:prstGeom>
          <a:noFill/>
        </p:spPr>
        <p:txBody>
          <a:bodyPr vert="horz" wrap="square" lIns="0" tIns="0" rIns="0" bIns="0" rtlCol="0" anchor="t">
            <a:noAutofit/>
          </a:bodyPr>
          <a:lstStyle/>
          <a:p>
            <a:r>
              <a:rPr lang="en-US" sz="900" b="1" spc="150">
                <a:solidFill>
                  <a:srgbClr val="00B4D8"/>
                </a:solidFill>
                <a:latin typeface="Segoe UI Semibold" panose="020B0702040204020203" pitchFamily="34" charset="0"/>
              </a:rPr>
              <a:t>PROJECT 14</a:t>
            </a:r>
          </a:p>
        </p:txBody>
      </p:sp>
      <p:sp>
        <p:nvSpPr>
          <p:cNvPr id="24" name="TextBox 23">
            <a:extLst>
              <a:ext uri="{FF2B5EF4-FFF2-40B4-BE49-F238E27FC236}">
                <a16:creationId xmlns:a16="http://schemas.microsoft.com/office/drawing/2014/main" id="{67EA597F-68A6-1C07-50FA-FEC8CF3855CD}"/>
              </a:ext>
            </a:extLst>
          </p:cNvPr>
          <p:cNvSpPr txBox="1"/>
          <p:nvPr/>
        </p:nvSpPr>
        <p:spPr>
          <a:xfrm>
            <a:off x="4572000" y="2006600"/>
            <a:ext cx="3048000" cy="457200"/>
          </a:xfrm>
          <a:prstGeom prst="rect">
            <a:avLst/>
          </a:prstGeom>
          <a:noFill/>
        </p:spPr>
        <p:txBody>
          <a:bodyPr vert="horz" wrap="square" lIns="0" tIns="0" rIns="0" bIns="0" rtlCol="0" anchor="t">
            <a:noAutofit/>
          </a:bodyPr>
          <a:lstStyle/>
          <a:p>
            <a:r>
              <a:rPr lang="en-US" sz="1250" b="1">
                <a:solidFill>
                  <a:srgbClr val="0B1F3A"/>
                </a:solidFill>
                <a:latin typeface="Segoe UI Semibold" panose="020B0702040204020203" pitchFamily="34" charset="0"/>
              </a:rPr>
              <a:t>Powder Milk Packaging Machine Automation</a:t>
            </a:r>
          </a:p>
        </p:txBody>
      </p:sp>
      <p:sp>
        <p:nvSpPr>
          <p:cNvPr id="25" name="TextBox 24">
            <a:extLst>
              <a:ext uri="{FF2B5EF4-FFF2-40B4-BE49-F238E27FC236}">
                <a16:creationId xmlns:a16="http://schemas.microsoft.com/office/drawing/2014/main" id="{AB048B6D-4DE0-1866-1F84-A23F9B7D69D0}"/>
              </a:ext>
            </a:extLst>
          </p:cNvPr>
          <p:cNvSpPr txBox="1"/>
          <p:nvPr/>
        </p:nvSpPr>
        <p:spPr>
          <a:xfrm>
            <a:off x="4572000" y="2489200"/>
            <a:ext cx="3048000" cy="381000"/>
          </a:xfrm>
          <a:prstGeom prst="rect">
            <a:avLst/>
          </a:prstGeom>
          <a:noFill/>
        </p:spPr>
        <p:txBody>
          <a:bodyPr vert="horz" wrap="square" lIns="0" tIns="0" rIns="0" bIns="0" rtlCol="0" anchor="t">
            <a:noAutofit/>
          </a:bodyPr>
          <a:lstStyle/>
          <a:p>
            <a:pPr>
              <a:lnSpc>
                <a:spcPct val="105000"/>
              </a:lnSpc>
            </a:pPr>
            <a:r>
              <a:rPr lang="en-US" sz="1000">
                <a:solidFill>
                  <a:srgbClr val="5B6B80"/>
                </a:solidFill>
                <a:latin typeface="Segoe UI" panose="020B0502040204020203" pitchFamily="34" charset="0"/>
              </a:rPr>
              <a:t>Servo-based packaging automation.</a:t>
            </a:r>
          </a:p>
        </p:txBody>
      </p:sp>
      <p:sp>
        <p:nvSpPr>
          <p:cNvPr id="26" name="Rectangle 25">
            <a:extLst>
              <a:ext uri="{FF2B5EF4-FFF2-40B4-BE49-F238E27FC236}">
                <a16:creationId xmlns:a16="http://schemas.microsoft.com/office/drawing/2014/main" id="{580449E5-A7D7-6107-F957-CA49107E01DD}"/>
              </a:ext>
            </a:extLst>
          </p:cNvPr>
          <p:cNvSpPr/>
          <p:nvPr/>
        </p:nvSpPr>
        <p:spPr>
          <a:xfrm>
            <a:off x="4572000" y="2946400"/>
            <a:ext cx="30480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BBEDA2BB-C968-594A-FC44-D5C60312248D}"/>
              </a:ext>
            </a:extLst>
          </p:cNvPr>
          <p:cNvSpPr txBox="1"/>
          <p:nvPr/>
        </p:nvSpPr>
        <p:spPr>
          <a:xfrm>
            <a:off x="4572000" y="3022600"/>
            <a:ext cx="3048000" cy="685800"/>
          </a:xfrm>
          <a:prstGeom prst="rect">
            <a:avLst/>
          </a:prstGeom>
          <a:noFill/>
        </p:spPr>
        <p:txBody>
          <a:bodyPr vert="horz" wrap="square" lIns="0" tIns="0" rIns="0" bIns="0" rtlCol="0" anchor="t">
            <a:noAutofit/>
          </a:bodyPr>
          <a:lstStyle/>
          <a:p>
            <a:pPr>
              <a:lnSpc>
                <a:spcPct val="115000"/>
              </a:lnSpc>
            </a:pPr>
            <a:r>
              <a:rPr lang="en-US" sz="900" b="1">
                <a:solidFill>
                  <a:srgbClr val="1F6F8B"/>
                </a:solidFill>
                <a:latin typeface="Segoe UI" panose="020B0502040204020203" pitchFamily="34" charset="0"/>
              </a:rPr>
              <a:t>Client:</a:t>
            </a:r>
            <a:r>
              <a:rPr lang="en-US" sz="900">
                <a:solidFill>
                  <a:srgbClr val="1B2B40"/>
                </a:solidFill>
                <a:latin typeface="Segoe UI" panose="020B0502040204020203" pitchFamily="34" charset="0"/>
              </a:rPr>
              <a:t>  MH Group</a:t>
            </a:r>
          </a:p>
          <a:p>
            <a:pPr>
              <a:lnSpc>
                <a:spcPct val="115000"/>
              </a:lnSpc>
            </a:pPr>
            <a:r>
              <a:rPr lang="en-US" sz="900" b="1">
                <a:solidFill>
                  <a:srgbClr val="1F6F8B"/>
                </a:solidFill>
                <a:latin typeface="Segoe UI" panose="020B0502040204020203" pitchFamily="34" charset="0"/>
              </a:rPr>
              <a:t>Industry:</a:t>
            </a:r>
            <a:r>
              <a:rPr lang="en-US" sz="900">
                <a:solidFill>
                  <a:srgbClr val="1B2B40"/>
                </a:solidFill>
                <a:latin typeface="Segoe UI" panose="020B0502040204020203" pitchFamily="34" charset="0"/>
              </a:rPr>
              <a:t>  Food</a:t>
            </a:r>
          </a:p>
          <a:p>
            <a:pPr>
              <a:lnSpc>
                <a:spcPct val="115000"/>
              </a:lnSpc>
            </a:pPr>
            <a:r>
              <a:rPr lang="en-US" sz="900" b="1">
                <a:solidFill>
                  <a:srgbClr val="1F6F8B"/>
                </a:solidFill>
                <a:latin typeface="Segoe UI" panose="020B0502040204020203" pitchFamily="34" charset="0"/>
              </a:rPr>
              <a:t>Technology:</a:t>
            </a:r>
            <a:r>
              <a:rPr lang="en-US" sz="900">
                <a:solidFill>
                  <a:srgbClr val="1B2B40"/>
                </a:solidFill>
                <a:latin typeface="Segoe UI" panose="020B0502040204020203" pitchFamily="34" charset="0"/>
              </a:rPr>
              <a:t>  Vigor &amp; Yaskawa Servopack</a:t>
            </a:r>
          </a:p>
        </p:txBody>
      </p:sp>
      <p:sp>
        <p:nvSpPr>
          <p:cNvPr id="28" name="Rectangle: Rounded Corners 27">
            <a:extLst>
              <a:ext uri="{FF2B5EF4-FFF2-40B4-BE49-F238E27FC236}">
                <a16:creationId xmlns:a16="http://schemas.microsoft.com/office/drawing/2014/main" id="{6EF9A3C6-AB7B-47B1-5160-B72F1F411437}"/>
              </a:ext>
            </a:extLst>
          </p:cNvPr>
          <p:cNvSpPr/>
          <p:nvPr/>
        </p:nvSpPr>
        <p:spPr>
          <a:xfrm>
            <a:off x="8128000" y="1549400"/>
            <a:ext cx="3454400" cy="22352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08BC2A4-2841-BADF-13AF-0ED9E83E4182}"/>
              </a:ext>
            </a:extLst>
          </p:cNvPr>
          <p:cNvSpPr/>
          <p:nvPr/>
        </p:nvSpPr>
        <p:spPr>
          <a:xfrm>
            <a:off x="8128000" y="1549400"/>
            <a:ext cx="3454400" cy="635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DA117CF7-C17B-EC6C-3E81-F46AA33FB8E6}"/>
              </a:ext>
            </a:extLst>
          </p:cNvPr>
          <p:cNvSpPr txBox="1"/>
          <p:nvPr/>
        </p:nvSpPr>
        <p:spPr>
          <a:xfrm>
            <a:off x="8331200" y="1752600"/>
            <a:ext cx="1524000" cy="177800"/>
          </a:xfrm>
          <a:prstGeom prst="rect">
            <a:avLst/>
          </a:prstGeom>
          <a:noFill/>
        </p:spPr>
        <p:txBody>
          <a:bodyPr vert="horz" wrap="square" lIns="0" tIns="0" rIns="0" bIns="0" rtlCol="0" anchor="t">
            <a:noAutofit/>
          </a:bodyPr>
          <a:lstStyle/>
          <a:p>
            <a:r>
              <a:rPr lang="en-US" sz="900" b="1" spc="150">
                <a:solidFill>
                  <a:srgbClr val="00B4D8"/>
                </a:solidFill>
                <a:latin typeface="Segoe UI Semibold" panose="020B0702040204020203" pitchFamily="34" charset="0"/>
              </a:rPr>
              <a:t>PROJECT 15</a:t>
            </a:r>
          </a:p>
        </p:txBody>
      </p:sp>
      <p:sp>
        <p:nvSpPr>
          <p:cNvPr id="31" name="Rectangle: Rounded Corners 30">
            <a:extLst>
              <a:ext uri="{FF2B5EF4-FFF2-40B4-BE49-F238E27FC236}">
                <a16:creationId xmlns:a16="http://schemas.microsoft.com/office/drawing/2014/main" id="{933AD12A-D426-1F40-4137-C3915F758BA3}"/>
              </a:ext>
            </a:extLst>
          </p:cNvPr>
          <p:cNvSpPr/>
          <p:nvPr/>
        </p:nvSpPr>
        <p:spPr>
          <a:xfrm>
            <a:off x="10033000" y="1727200"/>
            <a:ext cx="1346200" cy="215900"/>
          </a:xfrm>
          <a:prstGeom prst="roundRect">
            <a:avLst>
              <a:gd name="adj" fmla="val 50000"/>
            </a:avLst>
          </a:prstGeom>
          <a:solidFill>
            <a:srgbClr val="E6F7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0D80ACA7-D3F3-5872-54FF-987685256365}"/>
              </a:ext>
            </a:extLst>
          </p:cNvPr>
          <p:cNvSpPr txBox="1"/>
          <p:nvPr/>
        </p:nvSpPr>
        <p:spPr>
          <a:xfrm>
            <a:off x="10033000" y="1727200"/>
            <a:ext cx="1346200" cy="215900"/>
          </a:xfrm>
          <a:prstGeom prst="rect">
            <a:avLst/>
          </a:prstGeom>
          <a:noFill/>
        </p:spPr>
        <p:txBody>
          <a:bodyPr vert="horz" wrap="square" lIns="0" tIns="0" rIns="0" bIns="0" rtlCol="0" anchor="ctr">
            <a:noAutofit/>
          </a:bodyPr>
          <a:lstStyle/>
          <a:p>
            <a:pPr algn="ctr"/>
            <a:r>
              <a:rPr lang="en-US" sz="650" b="1" spc="50">
                <a:solidFill>
                  <a:srgbClr val="1F6F8B"/>
                </a:solidFill>
                <a:latin typeface="Segoe UI Semibold" panose="020B0702040204020203" pitchFamily="34" charset="0"/>
              </a:rPr>
              <a:t>MADE IN BANGLADESH</a:t>
            </a:r>
          </a:p>
        </p:txBody>
      </p:sp>
      <p:sp>
        <p:nvSpPr>
          <p:cNvPr id="33" name="TextBox 32">
            <a:extLst>
              <a:ext uri="{FF2B5EF4-FFF2-40B4-BE49-F238E27FC236}">
                <a16:creationId xmlns:a16="http://schemas.microsoft.com/office/drawing/2014/main" id="{BB850362-704F-BE65-7A94-5408CF4E484B}"/>
              </a:ext>
            </a:extLst>
          </p:cNvPr>
          <p:cNvSpPr txBox="1"/>
          <p:nvPr/>
        </p:nvSpPr>
        <p:spPr>
          <a:xfrm>
            <a:off x="8331200" y="2006600"/>
            <a:ext cx="3048000" cy="457200"/>
          </a:xfrm>
          <a:prstGeom prst="rect">
            <a:avLst/>
          </a:prstGeom>
          <a:noFill/>
        </p:spPr>
        <p:txBody>
          <a:bodyPr vert="horz" wrap="square" lIns="0" tIns="0" rIns="0" bIns="0" rtlCol="0" anchor="t">
            <a:noAutofit/>
          </a:bodyPr>
          <a:lstStyle/>
          <a:p>
            <a:r>
              <a:rPr lang="en-US" sz="1250" b="1">
                <a:solidFill>
                  <a:srgbClr val="0B1F3A"/>
                </a:solidFill>
                <a:latin typeface="Segoe UI Semibold" panose="020B0702040204020203" pitchFamily="34" charset="0"/>
              </a:rPr>
              <a:t>ETP Automation</a:t>
            </a:r>
          </a:p>
        </p:txBody>
      </p:sp>
      <p:sp>
        <p:nvSpPr>
          <p:cNvPr id="34" name="TextBox 33">
            <a:extLst>
              <a:ext uri="{FF2B5EF4-FFF2-40B4-BE49-F238E27FC236}">
                <a16:creationId xmlns:a16="http://schemas.microsoft.com/office/drawing/2014/main" id="{C7402E09-7EFE-4274-36CD-7D2D4DDCB486}"/>
              </a:ext>
            </a:extLst>
          </p:cNvPr>
          <p:cNvSpPr txBox="1"/>
          <p:nvPr/>
        </p:nvSpPr>
        <p:spPr>
          <a:xfrm>
            <a:off x="8331200" y="2489200"/>
            <a:ext cx="3048000" cy="381000"/>
          </a:xfrm>
          <a:prstGeom prst="rect">
            <a:avLst/>
          </a:prstGeom>
          <a:noFill/>
        </p:spPr>
        <p:txBody>
          <a:bodyPr vert="horz" wrap="square" lIns="0" tIns="0" rIns="0" bIns="0" rtlCol="0" anchor="t">
            <a:noAutofit/>
          </a:bodyPr>
          <a:lstStyle/>
          <a:p>
            <a:pPr>
              <a:lnSpc>
                <a:spcPct val="105000"/>
              </a:lnSpc>
            </a:pPr>
            <a:r>
              <a:rPr lang="en-US" sz="1000">
                <a:solidFill>
                  <a:srgbClr val="5B6B80"/>
                </a:solidFill>
                <a:latin typeface="Segoe UI" panose="020B0502040204020203" pitchFamily="34" charset="0"/>
              </a:rPr>
              <a:t>Fully automatic &amp; monitoring.</a:t>
            </a:r>
          </a:p>
        </p:txBody>
      </p:sp>
      <p:sp>
        <p:nvSpPr>
          <p:cNvPr id="35" name="Rectangle 34">
            <a:extLst>
              <a:ext uri="{FF2B5EF4-FFF2-40B4-BE49-F238E27FC236}">
                <a16:creationId xmlns:a16="http://schemas.microsoft.com/office/drawing/2014/main" id="{AB338DBB-C61B-FA87-FDB3-74A781A1E87C}"/>
              </a:ext>
            </a:extLst>
          </p:cNvPr>
          <p:cNvSpPr/>
          <p:nvPr/>
        </p:nvSpPr>
        <p:spPr>
          <a:xfrm>
            <a:off x="8331200" y="2946400"/>
            <a:ext cx="30480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BC0AF853-49CE-30D1-6ED3-40B6CFCBF115}"/>
              </a:ext>
            </a:extLst>
          </p:cNvPr>
          <p:cNvSpPr txBox="1"/>
          <p:nvPr/>
        </p:nvSpPr>
        <p:spPr>
          <a:xfrm>
            <a:off x="8331200" y="3022600"/>
            <a:ext cx="3048000" cy="685800"/>
          </a:xfrm>
          <a:prstGeom prst="rect">
            <a:avLst/>
          </a:prstGeom>
          <a:noFill/>
        </p:spPr>
        <p:txBody>
          <a:bodyPr vert="horz" wrap="square" lIns="0" tIns="0" rIns="0" bIns="0" rtlCol="0" anchor="t">
            <a:noAutofit/>
          </a:bodyPr>
          <a:lstStyle/>
          <a:p>
            <a:pPr>
              <a:lnSpc>
                <a:spcPct val="115000"/>
              </a:lnSpc>
            </a:pPr>
            <a:r>
              <a:rPr lang="en-US" sz="900" b="1">
                <a:solidFill>
                  <a:srgbClr val="1F6F8B"/>
                </a:solidFill>
                <a:latin typeface="Segoe UI" panose="020B0502040204020203" pitchFamily="34" charset="0"/>
              </a:rPr>
              <a:t>Client:</a:t>
            </a:r>
            <a:r>
              <a:rPr lang="en-US" sz="900">
                <a:solidFill>
                  <a:srgbClr val="1B2B40"/>
                </a:solidFill>
                <a:latin typeface="Segoe UI" panose="020B0502040204020203" pitchFamily="34" charset="0"/>
              </a:rPr>
              <a:t>  Square Food &amp; Beverage Ltd.</a:t>
            </a:r>
          </a:p>
          <a:p>
            <a:pPr>
              <a:lnSpc>
                <a:spcPct val="115000"/>
              </a:lnSpc>
            </a:pPr>
            <a:r>
              <a:rPr lang="en-US" sz="900" b="1">
                <a:solidFill>
                  <a:srgbClr val="1F6F8B"/>
                </a:solidFill>
                <a:latin typeface="Segoe UI" panose="020B0502040204020203" pitchFamily="34" charset="0"/>
              </a:rPr>
              <a:t>Industry:</a:t>
            </a:r>
            <a:r>
              <a:rPr lang="en-US" sz="900">
                <a:solidFill>
                  <a:srgbClr val="1B2B40"/>
                </a:solidFill>
                <a:latin typeface="Segoe UI" panose="020B0502040204020203" pitchFamily="34" charset="0"/>
              </a:rPr>
              <a:t>  Food &amp; Beverage</a:t>
            </a:r>
          </a:p>
          <a:p>
            <a:pPr>
              <a:lnSpc>
                <a:spcPct val="115000"/>
              </a:lnSpc>
            </a:pPr>
            <a:r>
              <a:rPr lang="en-US" sz="900" b="1">
                <a:solidFill>
                  <a:srgbClr val="1F6F8B"/>
                </a:solidFill>
                <a:latin typeface="Segoe UI" panose="020B0502040204020203" pitchFamily="34" charset="0"/>
              </a:rPr>
              <a:t>Technology:</a:t>
            </a:r>
            <a:r>
              <a:rPr lang="en-US" sz="900">
                <a:solidFill>
                  <a:srgbClr val="1B2B40"/>
                </a:solidFill>
                <a:latin typeface="Segoe UI" panose="020B0502040204020203" pitchFamily="34" charset="0"/>
              </a:rPr>
              <a:t>  Delta</a:t>
            </a:r>
          </a:p>
        </p:txBody>
      </p:sp>
      <p:sp>
        <p:nvSpPr>
          <p:cNvPr id="37" name="Rectangle: Rounded Corners 36">
            <a:extLst>
              <a:ext uri="{FF2B5EF4-FFF2-40B4-BE49-F238E27FC236}">
                <a16:creationId xmlns:a16="http://schemas.microsoft.com/office/drawing/2014/main" id="{B5223308-3E12-9EB1-7179-B5F70976E7CC}"/>
              </a:ext>
            </a:extLst>
          </p:cNvPr>
          <p:cNvSpPr/>
          <p:nvPr/>
        </p:nvSpPr>
        <p:spPr>
          <a:xfrm>
            <a:off x="609600" y="3962400"/>
            <a:ext cx="3454400" cy="22352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23BB70E-E9E6-465C-4396-ADA222FFF989}"/>
              </a:ext>
            </a:extLst>
          </p:cNvPr>
          <p:cNvSpPr/>
          <p:nvPr/>
        </p:nvSpPr>
        <p:spPr>
          <a:xfrm>
            <a:off x="609600" y="3962400"/>
            <a:ext cx="3454400" cy="635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A0B02D92-A49F-6270-AD52-D234ACF70758}"/>
              </a:ext>
            </a:extLst>
          </p:cNvPr>
          <p:cNvSpPr txBox="1"/>
          <p:nvPr/>
        </p:nvSpPr>
        <p:spPr>
          <a:xfrm>
            <a:off x="812800" y="4165600"/>
            <a:ext cx="1524000" cy="177800"/>
          </a:xfrm>
          <a:prstGeom prst="rect">
            <a:avLst/>
          </a:prstGeom>
          <a:noFill/>
        </p:spPr>
        <p:txBody>
          <a:bodyPr vert="horz" wrap="square" lIns="0" tIns="0" rIns="0" bIns="0" rtlCol="0" anchor="t">
            <a:noAutofit/>
          </a:bodyPr>
          <a:lstStyle/>
          <a:p>
            <a:r>
              <a:rPr lang="en-US" sz="900" b="1" spc="150">
                <a:solidFill>
                  <a:srgbClr val="00B4D8"/>
                </a:solidFill>
                <a:latin typeface="Segoe UI Semibold" panose="020B0702040204020203" pitchFamily="34" charset="0"/>
              </a:rPr>
              <a:t>PROJECT 16</a:t>
            </a:r>
          </a:p>
        </p:txBody>
      </p:sp>
      <p:sp>
        <p:nvSpPr>
          <p:cNvPr id="40" name="TextBox 39">
            <a:extLst>
              <a:ext uri="{FF2B5EF4-FFF2-40B4-BE49-F238E27FC236}">
                <a16:creationId xmlns:a16="http://schemas.microsoft.com/office/drawing/2014/main" id="{E8066CB1-3F0D-F087-E956-3BC19E53127A}"/>
              </a:ext>
            </a:extLst>
          </p:cNvPr>
          <p:cNvSpPr txBox="1"/>
          <p:nvPr/>
        </p:nvSpPr>
        <p:spPr>
          <a:xfrm>
            <a:off x="812800" y="4419600"/>
            <a:ext cx="3048000" cy="457200"/>
          </a:xfrm>
          <a:prstGeom prst="rect">
            <a:avLst/>
          </a:prstGeom>
          <a:noFill/>
        </p:spPr>
        <p:txBody>
          <a:bodyPr vert="horz" wrap="square" lIns="0" tIns="0" rIns="0" bIns="0" rtlCol="0" anchor="t">
            <a:noAutofit/>
          </a:bodyPr>
          <a:lstStyle/>
          <a:p>
            <a:r>
              <a:rPr lang="en-US" sz="1250" b="1">
                <a:solidFill>
                  <a:srgbClr val="0B1F3A"/>
                </a:solidFill>
                <a:latin typeface="Segoe UI Semibold" panose="020B0702040204020203" pitchFamily="34" charset="0"/>
              </a:rPr>
              <a:t>Flexo Printing Machine</a:t>
            </a:r>
          </a:p>
        </p:txBody>
      </p:sp>
      <p:sp>
        <p:nvSpPr>
          <p:cNvPr id="41" name="TextBox 40">
            <a:extLst>
              <a:ext uri="{FF2B5EF4-FFF2-40B4-BE49-F238E27FC236}">
                <a16:creationId xmlns:a16="http://schemas.microsoft.com/office/drawing/2014/main" id="{41FEE6B5-E978-04DC-FA9A-F7D31574DD77}"/>
              </a:ext>
            </a:extLst>
          </p:cNvPr>
          <p:cNvSpPr txBox="1"/>
          <p:nvPr/>
        </p:nvSpPr>
        <p:spPr>
          <a:xfrm>
            <a:off x="812800" y="4902200"/>
            <a:ext cx="3048000" cy="381000"/>
          </a:xfrm>
          <a:prstGeom prst="rect">
            <a:avLst/>
          </a:prstGeom>
          <a:noFill/>
        </p:spPr>
        <p:txBody>
          <a:bodyPr vert="horz" wrap="square" lIns="0" tIns="0" rIns="0" bIns="0" rtlCol="0" anchor="t">
            <a:noAutofit/>
          </a:bodyPr>
          <a:lstStyle/>
          <a:p>
            <a:pPr>
              <a:lnSpc>
                <a:spcPct val="105000"/>
              </a:lnSpc>
            </a:pPr>
            <a:r>
              <a:rPr lang="en-US" sz="1000">
                <a:solidFill>
                  <a:srgbClr val="5B6B80"/>
                </a:solidFill>
                <a:latin typeface="Segoe UI" panose="020B0502040204020203" pitchFamily="34" charset="0"/>
              </a:rPr>
              <a:t>Control system retrofitted.</a:t>
            </a:r>
          </a:p>
        </p:txBody>
      </p:sp>
      <p:sp>
        <p:nvSpPr>
          <p:cNvPr id="42" name="Rectangle 41">
            <a:extLst>
              <a:ext uri="{FF2B5EF4-FFF2-40B4-BE49-F238E27FC236}">
                <a16:creationId xmlns:a16="http://schemas.microsoft.com/office/drawing/2014/main" id="{A3A0ACFD-DC0F-D398-08C4-D2D583D7C40C}"/>
              </a:ext>
            </a:extLst>
          </p:cNvPr>
          <p:cNvSpPr/>
          <p:nvPr/>
        </p:nvSpPr>
        <p:spPr>
          <a:xfrm>
            <a:off x="812800" y="5359400"/>
            <a:ext cx="30480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029B8568-6905-98D2-565E-5F1D82BEBC46}"/>
              </a:ext>
            </a:extLst>
          </p:cNvPr>
          <p:cNvSpPr txBox="1"/>
          <p:nvPr/>
        </p:nvSpPr>
        <p:spPr>
          <a:xfrm>
            <a:off x="812800" y="5435600"/>
            <a:ext cx="3048000" cy="685800"/>
          </a:xfrm>
          <a:prstGeom prst="rect">
            <a:avLst/>
          </a:prstGeom>
          <a:noFill/>
        </p:spPr>
        <p:txBody>
          <a:bodyPr vert="horz" wrap="square" lIns="0" tIns="0" rIns="0" bIns="0" rtlCol="0" anchor="t">
            <a:noAutofit/>
          </a:bodyPr>
          <a:lstStyle/>
          <a:p>
            <a:pPr>
              <a:lnSpc>
                <a:spcPct val="115000"/>
              </a:lnSpc>
            </a:pPr>
            <a:r>
              <a:rPr lang="en-US" sz="900" b="1">
                <a:solidFill>
                  <a:srgbClr val="1F6F8B"/>
                </a:solidFill>
                <a:latin typeface="Segoe UI" panose="020B0502040204020203" pitchFamily="34" charset="0"/>
              </a:rPr>
              <a:t>Client:</a:t>
            </a:r>
            <a:r>
              <a:rPr lang="en-US" sz="900">
                <a:solidFill>
                  <a:srgbClr val="1B2B40"/>
                </a:solidFill>
                <a:latin typeface="Segoe UI" panose="020B0502040204020203" pitchFamily="34" charset="0"/>
              </a:rPr>
              <a:t>  Chaity Group</a:t>
            </a:r>
          </a:p>
          <a:p>
            <a:pPr>
              <a:lnSpc>
                <a:spcPct val="115000"/>
              </a:lnSpc>
            </a:pPr>
            <a:r>
              <a:rPr lang="en-US" sz="900" b="1">
                <a:solidFill>
                  <a:srgbClr val="1F6F8B"/>
                </a:solidFill>
                <a:latin typeface="Segoe UI" panose="020B0502040204020203" pitchFamily="34" charset="0"/>
              </a:rPr>
              <a:t>Industry:</a:t>
            </a:r>
            <a:r>
              <a:rPr lang="en-US" sz="900">
                <a:solidFill>
                  <a:srgbClr val="1B2B40"/>
                </a:solidFill>
                <a:latin typeface="Segoe UI" panose="020B0502040204020203" pitchFamily="34" charset="0"/>
              </a:rPr>
              <a:t>  Paper</a:t>
            </a:r>
          </a:p>
          <a:p>
            <a:pPr>
              <a:lnSpc>
                <a:spcPct val="115000"/>
              </a:lnSpc>
            </a:pPr>
            <a:r>
              <a:rPr lang="en-US" sz="900" b="1">
                <a:solidFill>
                  <a:srgbClr val="1F6F8B"/>
                </a:solidFill>
                <a:latin typeface="Segoe UI" panose="020B0502040204020203" pitchFamily="34" charset="0"/>
              </a:rPr>
              <a:t>Technology:</a:t>
            </a:r>
            <a:r>
              <a:rPr lang="en-US" sz="900">
                <a:solidFill>
                  <a:srgbClr val="1B2B40"/>
                </a:solidFill>
                <a:latin typeface="Segoe UI" panose="020B0502040204020203" pitchFamily="34" charset="0"/>
              </a:rPr>
              <a:t>  Delta</a:t>
            </a:r>
          </a:p>
        </p:txBody>
      </p:sp>
      <p:sp>
        <p:nvSpPr>
          <p:cNvPr id="44" name="Rectangle: Rounded Corners 43">
            <a:extLst>
              <a:ext uri="{FF2B5EF4-FFF2-40B4-BE49-F238E27FC236}">
                <a16:creationId xmlns:a16="http://schemas.microsoft.com/office/drawing/2014/main" id="{75D757F0-B168-1939-6AC7-36B19AAF1383}"/>
              </a:ext>
            </a:extLst>
          </p:cNvPr>
          <p:cNvSpPr/>
          <p:nvPr/>
        </p:nvSpPr>
        <p:spPr>
          <a:xfrm>
            <a:off x="4368800" y="3962400"/>
            <a:ext cx="3454400" cy="22352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B1766AA2-7F0A-3C6B-3B4B-64173E8E3397}"/>
              </a:ext>
            </a:extLst>
          </p:cNvPr>
          <p:cNvSpPr/>
          <p:nvPr/>
        </p:nvSpPr>
        <p:spPr>
          <a:xfrm>
            <a:off x="4368800" y="3962400"/>
            <a:ext cx="3454400" cy="635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46177621-A4F2-507E-1585-3CD13455219B}"/>
              </a:ext>
            </a:extLst>
          </p:cNvPr>
          <p:cNvSpPr txBox="1"/>
          <p:nvPr/>
        </p:nvSpPr>
        <p:spPr>
          <a:xfrm>
            <a:off x="4572000" y="4165600"/>
            <a:ext cx="1524000" cy="177800"/>
          </a:xfrm>
          <a:prstGeom prst="rect">
            <a:avLst/>
          </a:prstGeom>
          <a:noFill/>
        </p:spPr>
        <p:txBody>
          <a:bodyPr vert="horz" wrap="square" lIns="0" tIns="0" rIns="0" bIns="0" rtlCol="0" anchor="t">
            <a:noAutofit/>
          </a:bodyPr>
          <a:lstStyle/>
          <a:p>
            <a:r>
              <a:rPr lang="en-US" sz="900" b="1" spc="150">
                <a:solidFill>
                  <a:srgbClr val="00B4D8"/>
                </a:solidFill>
                <a:latin typeface="Segoe UI Semibold" panose="020B0702040204020203" pitchFamily="34" charset="0"/>
              </a:rPr>
              <a:t>PROJECT 17</a:t>
            </a:r>
          </a:p>
        </p:txBody>
      </p:sp>
      <p:sp>
        <p:nvSpPr>
          <p:cNvPr id="47" name="TextBox 46">
            <a:extLst>
              <a:ext uri="{FF2B5EF4-FFF2-40B4-BE49-F238E27FC236}">
                <a16:creationId xmlns:a16="http://schemas.microsoft.com/office/drawing/2014/main" id="{E3B06042-B1E5-934A-82BC-F05D57E22051}"/>
              </a:ext>
            </a:extLst>
          </p:cNvPr>
          <p:cNvSpPr txBox="1"/>
          <p:nvPr/>
        </p:nvSpPr>
        <p:spPr>
          <a:xfrm>
            <a:off x="4572000" y="4419600"/>
            <a:ext cx="3048000" cy="457200"/>
          </a:xfrm>
          <a:prstGeom prst="rect">
            <a:avLst/>
          </a:prstGeom>
          <a:noFill/>
        </p:spPr>
        <p:txBody>
          <a:bodyPr vert="horz" wrap="square" lIns="0" tIns="0" rIns="0" bIns="0" rtlCol="0" anchor="t">
            <a:noAutofit/>
          </a:bodyPr>
          <a:lstStyle/>
          <a:p>
            <a:r>
              <a:rPr lang="en-US" sz="1250" b="1">
                <a:solidFill>
                  <a:srgbClr val="0B1F3A"/>
                </a:solidFill>
                <a:latin typeface="Segoe UI Semibold" panose="020B0702040204020203" pitchFamily="34" charset="0"/>
              </a:rPr>
              <a:t>Robotic Blister Packaging Automation</a:t>
            </a:r>
          </a:p>
        </p:txBody>
      </p:sp>
      <p:sp>
        <p:nvSpPr>
          <p:cNvPr id="48" name="TextBox 47">
            <a:extLst>
              <a:ext uri="{FF2B5EF4-FFF2-40B4-BE49-F238E27FC236}">
                <a16:creationId xmlns:a16="http://schemas.microsoft.com/office/drawing/2014/main" id="{2F224FBC-EC6C-8D72-04EA-3A3786EB2B9C}"/>
              </a:ext>
            </a:extLst>
          </p:cNvPr>
          <p:cNvSpPr txBox="1"/>
          <p:nvPr/>
        </p:nvSpPr>
        <p:spPr>
          <a:xfrm>
            <a:off x="4572000" y="4902200"/>
            <a:ext cx="3048000" cy="381000"/>
          </a:xfrm>
          <a:prstGeom prst="rect">
            <a:avLst/>
          </a:prstGeom>
          <a:noFill/>
        </p:spPr>
        <p:txBody>
          <a:bodyPr vert="horz" wrap="square" lIns="0" tIns="0" rIns="0" bIns="0" rtlCol="0" anchor="t">
            <a:noAutofit/>
          </a:bodyPr>
          <a:lstStyle/>
          <a:p>
            <a:pPr>
              <a:lnSpc>
                <a:spcPct val="105000"/>
              </a:lnSpc>
            </a:pPr>
            <a:r>
              <a:rPr lang="en-US" sz="1000">
                <a:solidFill>
                  <a:srgbClr val="5B6B80"/>
                </a:solidFill>
                <a:latin typeface="Segoe UI" panose="020B0502040204020203" pitchFamily="34" charset="0"/>
              </a:rPr>
              <a:t>Automation for the pharma industry.</a:t>
            </a:r>
          </a:p>
        </p:txBody>
      </p:sp>
      <p:sp>
        <p:nvSpPr>
          <p:cNvPr id="49" name="Rectangle 48">
            <a:extLst>
              <a:ext uri="{FF2B5EF4-FFF2-40B4-BE49-F238E27FC236}">
                <a16:creationId xmlns:a16="http://schemas.microsoft.com/office/drawing/2014/main" id="{8FD44F45-4A80-8870-B6EB-ECB57A5364F9}"/>
              </a:ext>
            </a:extLst>
          </p:cNvPr>
          <p:cNvSpPr/>
          <p:nvPr/>
        </p:nvSpPr>
        <p:spPr>
          <a:xfrm>
            <a:off x="4572000" y="5359400"/>
            <a:ext cx="30480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F2CF126A-0793-F94A-0ED4-207E9337419B}"/>
              </a:ext>
            </a:extLst>
          </p:cNvPr>
          <p:cNvSpPr txBox="1"/>
          <p:nvPr/>
        </p:nvSpPr>
        <p:spPr>
          <a:xfrm>
            <a:off x="4572000" y="5435600"/>
            <a:ext cx="3048000" cy="685800"/>
          </a:xfrm>
          <a:prstGeom prst="rect">
            <a:avLst/>
          </a:prstGeom>
          <a:noFill/>
        </p:spPr>
        <p:txBody>
          <a:bodyPr vert="horz" wrap="square" lIns="0" tIns="0" rIns="0" bIns="0" rtlCol="0" anchor="t">
            <a:noAutofit/>
          </a:bodyPr>
          <a:lstStyle/>
          <a:p>
            <a:pPr>
              <a:lnSpc>
                <a:spcPct val="115000"/>
              </a:lnSpc>
            </a:pPr>
            <a:r>
              <a:rPr lang="en-US" sz="900" b="1">
                <a:solidFill>
                  <a:srgbClr val="1F6F8B"/>
                </a:solidFill>
                <a:latin typeface="Segoe UI" panose="020B0502040204020203" pitchFamily="34" charset="0"/>
              </a:rPr>
              <a:t>Client:</a:t>
            </a:r>
            <a:r>
              <a:rPr lang="en-US" sz="900">
                <a:solidFill>
                  <a:srgbClr val="1B2B40"/>
                </a:solidFill>
                <a:latin typeface="Segoe UI" panose="020B0502040204020203" pitchFamily="34" charset="0"/>
              </a:rPr>
              <a:t>  Getwell</a:t>
            </a:r>
          </a:p>
          <a:p>
            <a:pPr>
              <a:lnSpc>
                <a:spcPct val="115000"/>
              </a:lnSpc>
            </a:pPr>
            <a:r>
              <a:rPr lang="en-US" sz="900" b="1">
                <a:solidFill>
                  <a:srgbClr val="1F6F8B"/>
                </a:solidFill>
                <a:latin typeface="Segoe UI" panose="020B0502040204020203" pitchFamily="34" charset="0"/>
              </a:rPr>
              <a:t>Industry:</a:t>
            </a:r>
            <a:r>
              <a:rPr lang="en-US" sz="900">
                <a:solidFill>
                  <a:srgbClr val="1B2B40"/>
                </a:solidFill>
                <a:latin typeface="Segoe UI" panose="020B0502040204020203" pitchFamily="34" charset="0"/>
              </a:rPr>
              <a:t>  Pharmaceutical</a:t>
            </a:r>
          </a:p>
          <a:p>
            <a:pPr>
              <a:lnSpc>
                <a:spcPct val="115000"/>
              </a:lnSpc>
            </a:pPr>
            <a:r>
              <a:rPr lang="en-US" sz="900" b="1">
                <a:solidFill>
                  <a:srgbClr val="1F6F8B"/>
                </a:solidFill>
                <a:latin typeface="Segoe UI" panose="020B0502040204020203" pitchFamily="34" charset="0"/>
              </a:rPr>
              <a:t>Technology:</a:t>
            </a:r>
            <a:r>
              <a:rPr lang="en-US" sz="900">
                <a:solidFill>
                  <a:srgbClr val="1B2B40"/>
                </a:solidFill>
                <a:latin typeface="Segoe UI" panose="020B0502040204020203" pitchFamily="34" charset="0"/>
              </a:rPr>
              <a:t>  Siemens</a:t>
            </a:r>
          </a:p>
        </p:txBody>
      </p:sp>
      <p:sp>
        <p:nvSpPr>
          <p:cNvPr id="51" name="Rectangle: Rounded Corners 50">
            <a:extLst>
              <a:ext uri="{FF2B5EF4-FFF2-40B4-BE49-F238E27FC236}">
                <a16:creationId xmlns:a16="http://schemas.microsoft.com/office/drawing/2014/main" id="{1B45ADE1-C02F-9316-7BF1-46DF2DC4D59E}"/>
              </a:ext>
            </a:extLst>
          </p:cNvPr>
          <p:cNvSpPr/>
          <p:nvPr/>
        </p:nvSpPr>
        <p:spPr>
          <a:xfrm>
            <a:off x="8128000" y="3962400"/>
            <a:ext cx="3454400" cy="22352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AF2E91B6-1763-B929-9B1E-01DA617B86A5}"/>
              </a:ext>
            </a:extLst>
          </p:cNvPr>
          <p:cNvSpPr/>
          <p:nvPr/>
        </p:nvSpPr>
        <p:spPr>
          <a:xfrm>
            <a:off x="8128000" y="3962400"/>
            <a:ext cx="3454400" cy="635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E132C828-B1A4-08D3-7369-0EA4B9168E32}"/>
              </a:ext>
            </a:extLst>
          </p:cNvPr>
          <p:cNvSpPr txBox="1"/>
          <p:nvPr/>
        </p:nvSpPr>
        <p:spPr>
          <a:xfrm>
            <a:off x="8331200" y="4165600"/>
            <a:ext cx="1524000" cy="177800"/>
          </a:xfrm>
          <a:prstGeom prst="rect">
            <a:avLst/>
          </a:prstGeom>
          <a:noFill/>
        </p:spPr>
        <p:txBody>
          <a:bodyPr vert="horz" wrap="square" lIns="0" tIns="0" rIns="0" bIns="0" rtlCol="0" anchor="t">
            <a:noAutofit/>
          </a:bodyPr>
          <a:lstStyle/>
          <a:p>
            <a:r>
              <a:rPr lang="en-US" sz="900" b="1" spc="150">
                <a:solidFill>
                  <a:srgbClr val="00B4D8"/>
                </a:solidFill>
                <a:latin typeface="Segoe UI Semibold" panose="020B0702040204020203" pitchFamily="34" charset="0"/>
              </a:rPr>
              <a:t>PROJECT 18</a:t>
            </a:r>
          </a:p>
        </p:txBody>
      </p:sp>
      <p:sp>
        <p:nvSpPr>
          <p:cNvPr id="54" name="TextBox 53">
            <a:extLst>
              <a:ext uri="{FF2B5EF4-FFF2-40B4-BE49-F238E27FC236}">
                <a16:creationId xmlns:a16="http://schemas.microsoft.com/office/drawing/2014/main" id="{8E410B50-3EF0-96C9-209E-B73BE2ACDF5C}"/>
              </a:ext>
            </a:extLst>
          </p:cNvPr>
          <p:cNvSpPr txBox="1"/>
          <p:nvPr/>
        </p:nvSpPr>
        <p:spPr>
          <a:xfrm>
            <a:off x="8331200" y="4419600"/>
            <a:ext cx="3048000" cy="457200"/>
          </a:xfrm>
          <a:prstGeom prst="rect">
            <a:avLst/>
          </a:prstGeom>
          <a:noFill/>
        </p:spPr>
        <p:txBody>
          <a:bodyPr vert="horz" wrap="square" lIns="0" tIns="0" rIns="0" bIns="0" rtlCol="0" anchor="t">
            <a:noAutofit/>
          </a:bodyPr>
          <a:lstStyle/>
          <a:p>
            <a:r>
              <a:rPr lang="en-US" sz="1250" b="1">
                <a:solidFill>
                  <a:srgbClr val="0B1F3A"/>
                </a:solidFill>
                <a:latin typeface="Segoe UI Semibold" panose="020B0702040204020203" pitchFamily="34" charset="0"/>
              </a:rPr>
              <a:t>Smart Utility Saving in Injection Molding</a:t>
            </a:r>
          </a:p>
        </p:txBody>
      </p:sp>
      <p:sp>
        <p:nvSpPr>
          <p:cNvPr id="55" name="TextBox 54">
            <a:extLst>
              <a:ext uri="{FF2B5EF4-FFF2-40B4-BE49-F238E27FC236}">
                <a16:creationId xmlns:a16="http://schemas.microsoft.com/office/drawing/2014/main" id="{0F0E69AD-5DBE-7AAC-DDC4-478136025A48}"/>
              </a:ext>
            </a:extLst>
          </p:cNvPr>
          <p:cNvSpPr txBox="1"/>
          <p:nvPr/>
        </p:nvSpPr>
        <p:spPr>
          <a:xfrm>
            <a:off x="8331200" y="4902200"/>
            <a:ext cx="3048000" cy="381000"/>
          </a:xfrm>
          <a:prstGeom prst="rect">
            <a:avLst/>
          </a:prstGeom>
          <a:noFill/>
        </p:spPr>
        <p:txBody>
          <a:bodyPr vert="horz" wrap="square" lIns="0" tIns="0" rIns="0" bIns="0" rtlCol="0" anchor="t">
            <a:noAutofit/>
          </a:bodyPr>
          <a:lstStyle/>
          <a:p>
            <a:pPr>
              <a:lnSpc>
                <a:spcPct val="105000"/>
              </a:lnSpc>
            </a:pPr>
            <a:r>
              <a:rPr lang="en-US" sz="1000">
                <a:solidFill>
                  <a:srgbClr val="5B6B80"/>
                </a:solidFill>
                <a:latin typeface="Segoe UI" panose="020B0502040204020203" pitchFamily="34" charset="0"/>
              </a:rPr>
              <a:t>Injection molding automation.</a:t>
            </a:r>
          </a:p>
        </p:txBody>
      </p:sp>
      <p:sp>
        <p:nvSpPr>
          <p:cNvPr id="56" name="Rectangle 55">
            <a:extLst>
              <a:ext uri="{FF2B5EF4-FFF2-40B4-BE49-F238E27FC236}">
                <a16:creationId xmlns:a16="http://schemas.microsoft.com/office/drawing/2014/main" id="{0F36B6F9-2EC1-CB79-ADFE-FC32056FC992}"/>
              </a:ext>
            </a:extLst>
          </p:cNvPr>
          <p:cNvSpPr/>
          <p:nvPr/>
        </p:nvSpPr>
        <p:spPr>
          <a:xfrm>
            <a:off x="8331200" y="5359400"/>
            <a:ext cx="30480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A0352A92-3E05-7F68-47B2-90191567D4A8}"/>
              </a:ext>
            </a:extLst>
          </p:cNvPr>
          <p:cNvSpPr txBox="1"/>
          <p:nvPr/>
        </p:nvSpPr>
        <p:spPr>
          <a:xfrm>
            <a:off x="8331200" y="5435600"/>
            <a:ext cx="3048000" cy="685800"/>
          </a:xfrm>
          <a:prstGeom prst="rect">
            <a:avLst/>
          </a:prstGeom>
          <a:noFill/>
        </p:spPr>
        <p:txBody>
          <a:bodyPr vert="horz" wrap="square" lIns="0" tIns="0" rIns="0" bIns="0" rtlCol="0" anchor="t">
            <a:noAutofit/>
          </a:bodyPr>
          <a:lstStyle/>
          <a:p>
            <a:pPr>
              <a:lnSpc>
                <a:spcPct val="115000"/>
              </a:lnSpc>
            </a:pPr>
            <a:r>
              <a:rPr lang="en-US" sz="900" b="1">
                <a:solidFill>
                  <a:srgbClr val="1F6F8B"/>
                </a:solidFill>
                <a:latin typeface="Segoe UI" panose="020B0502040204020203" pitchFamily="34" charset="0"/>
              </a:rPr>
              <a:t>Client:</a:t>
            </a:r>
            <a:r>
              <a:rPr lang="en-US" sz="900">
                <a:solidFill>
                  <a:srgbClr val="1B2B40"/>
                </a:solidFill>
                <a:latin typeface="Segoe UI" panose="020B0502040204020203" pitchFamily="34" charset="0"/>
              </a:rPr>
              <a:t>  RFL, Stationary</a:t>
            </a:r>
          </a:p>
          <a:p>
            <a:pPr>
              <a:lnSpc>
                <a:spcPct val="115000"/>
              </a:lnSpc>
            </a:pPr>
            <a:r>
              <a:rPr lang="en-US" sz="900" b="1">
                <a:solidFill>
                  <a:srgbClr val="1F6F8B"/>
                </a:solidFill>
                <a:latin typeface="Segoe UI" panose="020B0502040204020203" pitchFamily="34" charset="0"/>
              </a:rPr>
              <a:t>Industry:</a:t>
            </a:r>
            <a:r>
              <a:rPr lang="en-US" sz="900">
                <a:solidFill>
                  <a:srgbClr val="1B2B40"/>
                </a:solidFill>
                <a:latin typeface="Segoe UI" panose="020B0502040204020203" pitchFamily="34" charset="0"/>
              </a:rPr>
              <a:t>  Injection molding</a:t>
            </a:r>
          </a:p>
          <a:p>
            <a:pPr>
              <a:lnSpc>
                <a:spcPct val="115000"/>
              </a:lnSpc>
            </a:pPr>
            <a:r>
              <a:rPr lang="en-US" sz="900" b="1">
                <a:solidFill>
                  <a:srgbClr val="1F6F8B"/>
                </a:solidFill>
                <a:latin typeface="Segoe UI" panose="020B0502040204020203" pitchFamily="34" charset="0"/>
              </a:rPr>
              <a:t>Technology:</a:t>
            </a:r>
            <a:r>
              <a:rPr lang="en-US" sz="900">
                <a:solidFill>
                  <a:srgbClr val="1B2B40"/>
                </a:solidFill>
                <a:latin typeface="Segoe UI" panose="020B0502040204020203" pitchFamily="34" charset="0"/>
              </a:rPr>
              <a:t>  Siemens</a:t>
            </a:r>
          </a:p>
        </p:txBody>
      </p:sp>
      <p:sp>
        <p:nvSpPr>
          <p:cNvPr id="58" name="Rectangle 57">
            <a:extLst>
              <a:ext uri="{FF2B5EF4-FFF2-40B4-BE49-F238E27FC236}">
                <a16:creationId xmlns:a16="http://schemas.microsoft.com/office/drawing/2014/main" id="{CAEF966D-D77E-3316-62B7-5524DA023122}"/>
              </a:ext>
            </a:extLst>
          </p:cNvPr>
          <p:cNvSpPr/>
          <p:nvPr/>
        </p:nvSpPr>
        <p:spPr>
          <a:xfrm>
            <a:off x="609600" y="6388100"/>
            <a:ext cx="109728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7BF6F393-121C-A3F6-74BF-B96B125F8480}"/>
              </a:ext>
            </a:extLst>
          </p:cNvPr>
          <p:cNvSpPr txBox="1"/>
          <p:nvPr/>
        </p:nvSpPr>
        <p:spPr>
          <a:xfrm>
            <a:off x="609600" y="6489700"/>
            <a:ext cx="6350000" cy="177800"/>
          </a:xfrm>
          <a:prstGeom prst="rect">
            <a:avLst/>
          </a:prstGeom>
          <a:noFill/>
        </p:spPr>
        <p:txBody>
          <a:bodyPr vert="horz" wrap="square" lIns="0" tIns="0" rIns="0" bIns="0" rtlCol="0" anchor="t">
            <a:noAutofit/>
          </a:bodyPr>
          <a:lstStyle/>
          <a:p>
            <a:r>
              <a:rPr lang="en-US" sz="850" spc="100">
                <a:solidFill>
                  <a:srgbClr val="5B6B80"/>
                </a:solidFill>
                <a:latin typeface="Segoe UI" panose="020B0502040204020203" pitchFamily="34" charset="0"/>
              </a:rPr>
              <a:t>MECHWARE  |  TECHNOLOGY FOR SMARTER SYSTEMS</a:t>
            </a:r>
          </a:p>
        </p:txBody>
      </p:sp>
      <p:sp>
        <p:nvSpPr>
          <p:cNvPr id="60" name="TextBox 59">
            <a:extLst>
              <a:ext uri="{FF2B5EF4-FFF2-40B4-BE49-F238E27FC236}">
                <a16:creationId xmlns:a16="http://schemas.microsoft.com/office/drawing/2014/main" id="{78F336E2-653B-282C-16C1-2F324169E391}"/>
              </a:ext>
            </a:extLst>
          </p:cNvPr>
          <p:cNvSpPr txBox="1"/>
          <p:nvPr/>
        </p:nvSpPr>
        <p:spPr>
          <a:xfrm>
            <a:off x="7772400" y="6489700"/>
            <a:ext cx="3810000" cy="177800"/>
          </a:xfrm>
          <a:prstGeom prst="rect">
            <a:avLst/>
          </a:prstGeom>
          <a:noFill/>
        </p:spPr>
        <p:txBody>
          <a:bodyPr vert="horz" wrap="square" lIns="0" tIns="0" rIns="0" bIns="0" rtlCol="0" anchor="t">
            <a:noAutofit/>
          </a:bodyPr>
          <a:lstStyle/>
          <a:p>
            <a:pPr algn="r"/>
            <a:r>
              <a:rPr lang="en-US" sz="950" b="1">
                <a:solidFill>
                  <a:srgbClr val="0B1F3A"/>
                </a:solidFill>
                <a:latin typeface="Segoe UI Semibold" panose="020B0702040204020203" pitchFamily="34" charset="0"/>
              </a:rPr>
              <a:t>13</a:t>
            </a:r>
          </a:p>
        </p:txBody>
      </p:sp>
    </p:spTree>
    <p:extLst>
      <p:ext uri="{BB962C8B-B14F-4D97-AF65-F5344CB8AC3E}">
        <p14:creationId xmlns:p14="http://schemas.microsoft.com/office/powerpoint/2010/main" val="3317027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D93943-2027-3461-4411-4EC4F137DCAE}"/>
              </a:ext>
            </a:extLst>
          </p:cNvPr>
          <p:cNvSpPr/>
          <p:nvPr/>
        </p:nvSpPr>
        <p:spPr>
          <a:xfrm>
            <a:off x="0" y="0"/>
            <a:ext cx="12192000" cy="1016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1C48422-66DF-1390-918F-0D44E453EBA8}"/>
              </a:ext>
            </a:extLst>
          </p:cNvPr>
          <p:cNvSpPr/>
          <p:nvPr/>
        </p:nvSpPr>
        <p:spPr>
          <a:xfrm>
            <a:off x="0" y="0"/>
            <a:ext cx="2794000" cy="101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7B42CFA-259F-36A7-6F0E-E1DF89BB1479}"/>
              </a:ext>
            </a:extLst>
          </p:cNvPr>
          <p:cNvSpPr txBox="1"/>
          <p:nvPr/>
        </p:nvSpPr>
        <p:spPr>
          <a:xfrm>
            <a:off x="609600" y="381000"/>
            <a:ext cx="8890000" cy="203200"/>
          </a:xfrm>
          <a:prstGeom prst="rect">
            <a:avLst/>
          </a:prstGeom>
          <a:noFill/>
        </p:spPr>
        <p:txBody>
          <a:bodyPr vert="horz" wrap="square" lIns="0" tIns="0" rIns="0" bIns="0" rtlCol="0" anchor="t">
            <a:noAutofit/>
          </a:bodyPr>
          <a:lstStyle/>
          <a:p>
            <a:r>
              <a:rPr lang="en-US" sz="1050" b="1" spc="250">
                <a:solidFill>
                  <a:srgbClr val="00B4D8"/>
                </a:solidFill>
                <a:latin typeface="Segoe UI Semibold" panose="020B0702040204020203" pitchFamily="34" charset="0"/>
              </a:rPr>
              <a:t>10  —  LIFECYCLE</a:t>
            </a:r>
          </a:p>
        </p:txBody>
      </p:sp>
      <p:sp>
        <p:nvSpPr>
          <p:cNvPr id="5" name="TextBox 4">
            <a:extLst>
              <a:ext uri="{FF2B5EF4-FFF2-40B4-BE49-F238E27FC236}">
                <a16:creationId xmlns:a16="http://schemas.microsoft.com/office/drawing/2014/main" id="{091B5999-887C-C69D-3F5F-6286B39E1C4B}"/>
              </a:ext>
            </a:extLst>
          </p:cNvPr>
          <p:cNvSpPr txBox="1"/>
          <p:nvPr/>
        </p:nvSpPr>
        <p:spPr>
          <a:xfrm>
            <a:off x="609600" y="609600"/>
            <a:ext cx="9652000" cy="558800"/>
          </a:xfrm>
          <a:prstGeom prst="rect">
            <a:avLst/>
          </a:prstGeom>
          <a:noFill/>
        </p:spPr>
        <p:txBody>
          <a:bodyPr vert="horz" wrap="square" lIns="0" tIns="0" rIns="0" bIns="0" rtlCol="0" anchor="t">
            <a:noAutofit/>
          </a:bodyPr>
          <a:lstStyle/>
          <a:p>
            <a:r>
              <a:rPr lang="en-US" sz="2800" b="1">
                <a:solidFill>
                  <a:srgbClr val="0B1F3A"/>
                </a:solidFill>
                <a:latin typeface="Segoe UI Semibold" panose="020B0702040204020203" pitchFamily="34" charset="0"/>
              </a:rPr>
              <a:t>Training, Maintenance &amp; Technical Support</a:t>
            </a:r>
          </a:p>
        </p:txBody>
      </p:sp>
      <p:sp>
        <p:nvSpPr>
          <p:cNvPr id="6" name="Rectangle 5">
            <a:extLst>
              <a:ext uri="{FF2B5EF4-FFF2-40B4-BE49-F238E27FC236}">
                <a16:creationId xmlns:a16="http://schemas.microsoft.com/office/drawing/2014/main" id="{D04937F4-CD5B-F919-7AEA-22A5A226601E}"/>
              </a:ext>
            </a:extLst>
          </p:cNvPr>
          <p:cNvSpPr/>
          <p:nvPr/>
        </p:nvSpPr>
        <p:spPr>
          <a:xfrm>
            <a:off x="609600" y="1244600"/>
            <a:ext cx="711200" cy="50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72F70C7B-C77C-A424-93AB-944778B0E0E4}"/>
              </a:ext>
            </a:extLst>
          </p:cNvPr>
          <p:cNvPicPr>
            <a:picLocks/>
          </p:cNvPicPr>
          <p:nvPr/>
        </p:nvPicPr>
        <p:blipFill>
          <a:blip>
            <a:extLst>
              <a:ext uri="{96DAC541-7B7A-43D3-8B79-37D633B846F1}">
                <asvg:svgBlip xmlns:asvg="http://schemas.microsoft.com/office/drawing/2016/SVG/main" r:embed="rId2"/>
              </a:ext>
            </a:extLst>
          </a:blip>
          <a:srcRect l="11000" t="19000" r="11000" b="28000"/>
          <a:stretch>
            <a:fillRect/>
          </a:stretch>
        </p:blipFill>
        <p:spPr>
          <a:xfrm>
            <a:off x="10439400" y="381000"/>
            <a:ext cx="1143001" cy="776655"/>
          </a:xfrm>
          <a:prstGeom prst="rect">
            <a:avLst/>
          </a:prstGeom>
        </p:spPr>
      </p:pic>
      <p:sp>
        <p:nvSpPr>
          <p:cNvPr id="9" name="Rectangle: Rounded Corners 8">
            <a:extLst>
              <a:ext uri="{FF2B5EF4-FFF2-40B4-BE49-F238E27FC236}">
                <a16:creationId xmlns:a16="http://schemas.microsoft.com/office/drawing/2014/main" id="{9095EBD4-8978-78EC-ECCD-61FBA97D811A}"/>
              </a:ext>
            </a:extLst>
          </p:cNvPr>
          <p:cNvSpPr/>
          <p:nvPr/>
        </p:nvSpPr>
        <p:spPr>
          <a:xfrm>
            <a:off x="609600" y="1600200"/>
            <a:ext cx="3454400" cy="15748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61602D9-E2FF-AE02-D69E-821B9FB727FF}"/>
              </a:ext>
            </a:extLst>
          </p:cNvPr>
          <p:cNvSpPr/>
          <p:nvPr/>
        </p:nvSpPr>
        <p:spPr>
          <a:xfrm>
            <a:off x="609600" y="1828800"/>
            <a:ext cx="50800" cy="355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0B686DE-BCAD-8726-788A-BF81FA0034CA}"/>
              </a:ext>
            </a:extLst>
          </p:cNvPr>
          <p:cNvSpPr txBox="1"/>
          <p:nvPr/>
        </p:nvSpPr>
        <p:spPr>
          <a:xfrm>
            <a:off x="863600" y="1803400"/>
            <a:ext cx="2997200" cy="279400"/>
          </a:xfrm>
          <a:prstGeom prst="rect">
            <a:avLst/>
          </a:prstGeom>
          <a:noFill/>
        </p:spPr>
        <p:txBody>
          <a:bodyPr vert="horz" wrap="square" lIns="0" tIns="0" rIns="0" bIns="0" rtlCol="0" anchor="ctr">
            <a:noAutofit/>
          </a:bodyPr>
          <a:lstStyle/>
          <a:p>
            <a:r>
              <a:rPr lang="en-US" sz="1400" b="1">
                <a:solidFill>
                  <a:srgbClr val="0B1F3A"/>
                </a:solidFill>
                <a:latin typeface="Segoe UI Semibold" panose="020B0702040204020203" pitchFamily="34" charset="0"/>
              </a:rPr>
              <a:t>Preventive Maintenance</a:t>
            </a:r>
          </a:p>
        </p:txBody>
      </p:sp>
      <p:sp>
        <p:nvSpPr>
          <p:cNvPr id="12" name="TextBox 11">
            <a:extLst>
              <a:ext uri="{FF2B5EF4-FFF2-40B4-BE49-F238E27FC236}">
                <a16:creationId xmlns:a16="http://schemas.microsoft.com/office/drawing/2014/main" id="{852551CF-7987-242A-CB38-69BD58983150}"/>
              </a:ext>
            </a:extLst>
          </p:cNvPr>
          <p:cNvSpPr txBox="1"/>
          <p:nvPr/>
        </p:nvSpPr>
        <p:spPr>
          <a:xfrm>
            <a:off x="863600" y="2235200"/>
            <a:ext cx="2997200" cy="838200"/>
          </a:xfrm>
          <a:prstGeom prst="rect">
            <a:avLst/>
          </a:prstGeom>
          <a:noFill/>
        </p:spPr>
        <p:txBody>
          <a:bodyPr vert="horz" wrap="square" lIns="0" tIns="0" rIns="0" bIns="0" rtlCol="0" anchor="t">
            <a:noAutofit/>
          </a:bodyPr>
          <a:lstStyle/>
          <a:p>
            <a:pPr>
              <a:lnSpc>
                <a:spcPct val="110000"/>
              </a:lnSpc>
            </a:pPr>
            <a:r>
              <a:rPr lang="en-US" sz="1200">
                <a:solidFill>
                  <a:srgbClr val="5B6B80"/>
                </a:solidFill>
                <a:latin typeface="Segoe UI" panose="020B0502040204020203" pitchFamily="34" charset="0"/>
              </a:rPr>
              <a:t>Planned maintenance activities to reduce avoidable downtime.</a:t>
            </a:r>
          </a:p>
        </p:txBody>
      </p:sp>
      <p:sp>
        <p:nvSpPr>
          <p:cNvPr id="13" name="Rectangle: Rounded Corners 12">
            <a:extLst>
              <a:ext uri="{FF2B5EF4-FFF2-40B4-BE49-F238E27FC236}">
                <a16:creationId xmlns:a16="http://schemas.microsoft.com/office/drawing/2014/main" id="{8C4786AB-3891-2D2B-1A76-1ABFCD1A0739}"/>
              </a:ext>
            </a:extLst>
          </p:cNvPr>
          <p:cNvSpPr/>
          <p:nvPr/>
        </p:nvSpPr>
        <p:spPr>
          <a:xfrm>
            <a:off x="4368800" y="1600200"/>
            <a:ext cx="3454400" cy="15748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44C0A13-99B9-B4B8-3F0F-2E2AA17327B8}"/>
              </a:ext>
            </a:extLst>
          </p:cNvPr>
          <p:cNvSpPr/>
          <p:nvPr/>
        </p:nvSpPr>
        <p:spPr>
          <a:xfrm>
            <a:off x="4368800" y="1828800"/>
            <a:ext cx="50800" cy="355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063F337-1C14-C381-6CD6-5D3B33D530A7}"/>
              </a:ext>
            </a:extLst>
          </p:cNvPr>
          <p:cNvSpPr txBox="1"/>
          <p:nvPr/>
        </p:nvSpPr>
        <p:spPr>
          <a:xfrm>
            <a:off x="4622800" y="1803400"/>
            <a:ext cx="2997200" cy="279400"/>
          </a:xfrm>
          <a:prstGeom prst="rect">
            <a:avLst/>
          </a:prstGeom>
          <a:noFill/>
        </p:spPr>
        <p:txBody>
          <a:bodyPr vert="horz" wrap="square" lIns="0" tIns="0" rIns="0" bIns="0" rtlCol="0" anchor="ctr">
            <a:noAutofit/>
          </a:bodyPr>
          <a:lstStyle/>
          <a:p>
            <a:r>
              <a:rPr lang="en-US" sz="1400" b="1">
                <a:solidFill>
                  <a:srgbClr val="0B1F3A"/>
                </a:solidFill>
                <a:latin typeface="Segoe UI Semibold" panose="020B0702040204020203" pitchFamily="34" charset="0"/>
              </a:rPr>
              <a:t>Retrofitting</a:t>
            </a:r>
          </a:p>
        </p:txBody>
      </p:sp>
      <p:sp>
        <p:nvSpPr>
          <p:cNvPr id="16" name="TextBox 15">
            <a:extLst>
              <a:ext uri="{FF2B5EF4-FFF2-40B4-BE49-F238E27FC236}">
                <a16:creationId xmlns:a16="http://schemas.microsoft.com/office/drawing/2014/main" id="{01AFC682-8FAE-6E93-2690-4F884938C229}"/>
              </a:ext>
            </a:extLst>
          </p:cNvPr>
          <p:cNvSpPr txBox="1"/>
          <p:nvPr/>
        </p:nvSpPr>
        <p:spPr>
          <a:xfrm>
            <a:off x="4622800" y="2235200"/>
            <a:ext cx="2997200" cy="838200"/>
          </a:xfrm>
          <a:prstGeom prst="rect">
            <a:avLst/>
          </a:prstGeom>
          <a:noFill/>
        </p:spPr>
        <p:txBody>
          <a:bodyPr vert="horz" wrap="square" lIns="0" tIns="0" rIns="0" bIns="0" rtlCol="0" anchor="t">
            <a:noAutofit/>
          </a:bodyPr>
          <a:lstStyle/>
          <a:p>
            <a:pPr>
              <a:lnSpc>
                <a:spcPct val="110000"/>
              </a:lnSpc>
            </a:pPr>
            <a:r>
              <a:rPr lang="en-US" sz="1200">
                <a:solidFill>
                  <a:srgbClr val="5B6B80"/>
                </a:solidFill>
                <a:latin typeface="Segoe UI" panose="020B0502040204020203" pitchFamily="34" charset="0"/>
              </a:rPr>
              <a:t>Modernize outdated control systems &amp; improve machine performance.</a:t>
            </a:r>
          </a:p>
        </p:txBody>
      </p:sp>
      <p:sp>
        <p:nvSpPr>
          <p:cNvPr id="17" name="Rectangle: Rounded Corners 16">
            <a:extLst>
              <a:ext uri="{FF2B5EF4-FFF2-40B4-BE49-F238E27FC236}">
                <a16:creationId xmlns:a16="http://schemas.microsoft.com/office/drawing/2014/main" id="{DE3031B2-76BA-1003-FFB8-6C20A492784D}"/>
              </a:ext>
            </a:extLst>
          </p:cNvPr>
          <p:cNvSpPr/>
          <p:nvPr/>
        </p:nvSpPr>
        <p:spPr>
          <a:xfrm>
            <a:off x="8128000" y="1600200"/>
            <a:ext cx="3454400" cy="15748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A495A9A-CCAD-7241-2280-7BDC3D1C7F89}"/>
              </a:ext>
            </a:extLst>
          </p:cNvPr>
          <p:cNvSpPr/>
          <p:nvPr/>
        </p:nvSpPr>
        <p:spPr>
          <a:xfrm>
            <a:off x="8128000" y="1828800"/>
            <a:ext cx="50800" cy="355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2143DBD-9D46-9D70-CC91-FC6FF82420C9}"/>
              </a:ext>
            </a:extLst>
          </p:cNvPr>
          <p:cNvSpPr txBox="1"/>
          <p:nvPr/>
        </p:nvSpPr>
        <p:spPr>
          <a:xfrm>
            <a:off x="8382000" y="1803400"/>
            <a:ext cx="2997200" cy="279400"/>
          </a:xfrm>
          <a:prstGeom prst="rect">
            <a:avLst/>
          </a:prstGeom>
          <a:noFill/>
        </p:spPr>
        <p:txBody>
          <a:bodyPr vert="horz" wrap="square" lIns="0" tIns="0" rIns="0" bIns="0" rtlCol="0" anchor="ctr">
            <a:noAutofit/>
          </a:bodyPr>
          <a:lstStyle/>
          <a:p>
            <a:r>
              <a:rPr lang="en-US" sz="1400" b="1">
                <a:solidFill>
                  <a:srgbClr val="0B1F3A"/>
                </a:solidFill>
                <a:latin typeface="Segoe UI Semibold" panose="020B0702040204020203" pitchFamily="34" charset="0"/>
              </a:rPr>
              <a:t>Training</a:t>
            </a:r>
          </a:p>
        </p:txBody>
      </p:sp>
      <p:sp>
        <p:nvSpPr>
          <p:cNvPr id="20" name="TextBox 19">
            <a:extLst>
              <a:ext uri="{FF2B5EF4-FFF2-40B4-BE49-F238E27FC236}">
                <a16:creationId xmlns:a16="http://schemas.microsoft.com/office/drawing/2014/main" id="{021FF9A0-E62D-7C1D-E2AA-47520F7150CF}"/>
              </a:ext>
            </a:extLst>
          </p:cNvPr>
          <p:cNvSpPr txBox="1"/>
          <p:nvPr/>
        </p:nvSpPr>
        <p:spPr>
          <a:xfrm>
            <a:off x="8382000" y="2235200"/>
            <a:ext cx="2997200" cy="838200"/>
          </a:xfrm>
          <a:prstGeom prst="rect">
            <a:avLst/>
          </a:prstGeom>
          <a:noFill/>
        </p:spPr>
        <p:txBody>
          <a:bodyPr vert="horz" wrap="square" lIns="0" tIns="0" rIns="0" bIns="0" rtlCol="0" anchor="t">
            <a:noAutofit/>
          </a:bodyPr>
          <a:lstStyle/>
          <a:p>
            <a:pPr>
              <a:lnSpc>
                <a:spcPct val="110000"/>
              </a:lnSpc>
            </a:pPr>
            <a:r>
              <a:rPr lang="en-US" sz="1200">
                <a:solidFill>
                  <a:srgbClr val="5B6B80"/>
                </a:solidFill>
                <a:latin typeface="Segoe UI" panose="020B0502040204020203" pitchFamily="34" charset="0"/>
              </a:rPr>
              <a:t>Practical technical training for operators, technicians &amp; engineers.</a:t>
            </a:r>
          </a:p>
        </p:txBody>
      </p:sp>
      <p:sp>
        <p:nvSpPr>
          <p:cNvPr id="21" name="Rectangle: Rounded Corners 20">
            <a:extLst>
              <a:ext uri="{FF2B5EF4-FFF2-40B4-BE49-F238E27FC236}">
                <a16:creationId xmlns:a16="http://schemas.microsoft.com/office/drawing/2014/main" id="{AB557D4D-1E91-2F84-0050-B7B505A890F3}"/>
              </a:ext>
            </a:extLst>
          </p:cNvPr>
          <p:cNvSpPr/>
          <p:nvPr/>
        </p:nvSpPr>
        <p:spPr>
          <a:xfrm>
            <a:off x="609600" y="3403600"/>
            <a:ext cx="3454400" cy="15748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8F2A598-AB11-9B7D-ADC6-64D46E8175C6}"/>
              </a:ext>
            </a:extLst>
          </p:cNvPr>
          <p:cNvSpPr/>
          <p:nvPr/>
        </p:nvSpPr>
        <p:spPr>
          <a:xfrm>
            <a:off x="609600" y="3632200"/>
            <a:ext cx="50800" cy="355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57D3A3C-01BC-1712-D8B9-22C736442A60}"/>
              </a:ext>
            </a:extLst>
          </p:cNvPr>
          <p:cNvSpPr txBox="1"/>
          <p:nvPr/>
        </p:nvSpPr>
        <p:spPr>
          <a:xfrm>
            <a:off x="863600" y="3606800"/>
            <a:ext cx="2997200" cy="279400"/>
          </a:xfrm>
          <a:prstGeom prst="rect">
            <a:avLst/>
          </a:prstGeom>
          <a:noFill/>
        </p:spPr>
        <p:txBody>
          <a:bodyPr vert="horz" wrap="square" lIns="0" tIns="0" rIns="0" bIns="0" rtlCol="0" anchor="ctr">
            <a:noAutofit/>
          </a:bodyPr>
          <a:lstStyle/>
          <a:p>
            <a:r>
              <a:rPr lang="en-US" sz="1400" b="1">
                <a:solidFill>
                  <a:srgbClr val="0B1F3A"/>
                </a:solidFill>
                <a:latin typeface="Segoe UI Semibold" panose="020B0702040204020203" pitchFamily="34" charset="0"/>
              </a:rPr>
              <a:t>Troubleshooting</a:t>
            </a:r>
          </a:p>
        </p:txBody>
      </p:sp>
      <p:sp>
        <p:nvSpPr>
          <p:cNvPr id="24" name="TextBox 23">
            <a:extLst>
              <a:ext uri="{FF2B5EF4-FFF2-40B4-BE49-F238E27FC236}">
                <a16:creationId xmlns:a16="http://schemas.microsoft.com/office/drawing/2014/main" id="{A3D4C4B6-2385-5255-E50A-B7F0041076CE}"/>
              </a:ext>
            </a:extLst>
          </p:cNvPr>
          <p:cNvSpPr txBox="1"/>
          <p:nvPr/>
        </p:nvSpPr>
        <p:spPr>
          <a:xfrm>
            <a:off x="863600" y="4038600"/>
            <a:ext cx="2997200" cy="838200"/>
          </a:xfrm>
          <a:prstGeom prst="rect">
            <a:avLst/>
          </a:prstGeom>
          <a:noFill/>
        </p:spPr>
        <p:txBody>
          <a:bodyPr vert="horz" wrap="square" lIns="0" tIns="0" rIns="0" bIns="0" rtlCol="0" anchor="t">
            <a:noAutofit/>
          </a:bodyPr>
          <a:lstStyle/>
          <a:p>
            <a:pPr>
              <a:lnSpc>
                <a:spcPct val="110000"/>
              </a:lnSpc>
            </a:pPr>
            <a:r>
              <a:rPr lang="en-US" sz="1200">
                <a:solidFill>
                  <a:srgbClr val="5B6B80"/>
                </a:solidFill>
                <a:latin typeface="Segoe UI" panose="020B0502040204020203" pitchFamily="34" charset="0"/>
              </a:rPr>
              <a:t>Support for PLC, HMI, drives, instrumentation &amp; control issues.</a:t>
            </a:r>
          </a:p>
        </p:txBody>
      </p:sp>
      <p:sp>
        <p:nvSpPr>
          <p:cNvPr id="25" name="Rectangle: Rounded Corners 24">
            <a:extLst>
              <a:ext uri="{FF2B5EF4-FFF2-40B4-BE49-F238E27FC236}">
                <a16:creationId xmlns:a16="http://schemas.microsoft.com/office/drawing/2014/main" id="{C14DBAEA-0552-9396-C9EF-ACD1D229189A}"/>
              </a:ext>
            </a:extLst>
          </p:cNvPr>
          <p:cNvSpPr/>
          <p:nvPr/>
        </p:nvSpPr>
        <p:spPr>
          <a:xfrm>
            <a:off x="4368800" y="3403600"/>
            <a:ext cx="3454400" cy="15748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3EE9AF9-ABFF-F300-6E96-7EFDEAC3C838}"/>
              </a:ext>
            </a:extLst>
          </p:cNvPr>
          <p:cNvSpPr/>
          <p:nvPr/>
        </p:nvSpPr>
        <p:spPr>
          <a:xfrm>
            <a:off x="4368800" y="3632200"/>
            <a:ext cx="50800" cy="355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CC8FDA9A-5B97-1B71-8A0C-B2FBBEFE8EF7}"/>
              </a:ext>
            </a:extLst>
          </p:cNvPr>
          <p:cNvSpPr txBox="1"/>
          <p:nvPr/>
        </p:nvSpPr>
        <p:spPr>
          <a:xfrm>
            <a:off x="4622800" y="3606800"/>
            <a:ext cx="2997200" cy="279400"/>
          </a:xfrm>
          <a:prstGeom prst="rect">
            <a:avLst/>
          </a:prstGeom>
          <a:noFill/>
        </p:spPr>
        <p:txBody>
          <a:bodyPr vert="horz" wrap="square" lIns="0" tIns="0" rIns="0" bIns="0" rtlCol="0" anchor="ctr">
            <a:noAutofit/>
          </a:bodyPr>
          <a:lstStyle/>
          <a:p>
            <a:r>
              <a:rPr lang="en-US" sz="1400" b="1">
                <a:solidFill>
                  <a:srgbClr val="0B1F3A"/>
                </a:solidFill>
                <a:latin typeface="Segoe UI Semibold" panose="020B0702040204020203" pitchFamily="34" charset="0"/>
              </a:rPr>
              <a:t>System Optimization</a:t>
            </a:r>
          </a:p>
        </p:txBody>
      </p:sp>
      <p:sp>
        <p:nvSpPr>
          <p:cNvPr id="28" name="TextBox 27">
            <a:extLst>
              <a:ext uri="{FF2B5EF4-FFF2-40B4-BE49-F238E27FC236}">
                <a16:creationId xmlns:a16="http://schemas.microsoft.com/office/drawing/2014/main" id="{9D4BE566-26A9-BFA1-039E-2AB3400BC220}"/>
              </a:ext>
            </a:extLst>
          </p:cNvPr>
          <p:cNvSpPr txBox="1"/>
          <p:nvPr/>
        </p:nvSpPr>
        <p:spPr>
          <a:xfrm>
            <a:off x="4622800" y="4038600"/>
            <a:ext cx="2997200" cy="838200"/>
          </a:xfrm>
          <a:prstGeom prst="rect">
            <a:avLst/>
          </a:prstGeom>
          <a:noFill/>
        </p:spPr>
        <p:txBody>
          <a:bodyPr vert="horz" wrap="square" lIns="0" tIns="0" rIns="0" bIns="0" rtlCol="0" anchor="t">
            <a:noAutofit/>
          </a:bodyPr>
          <a:lstStyle/>
          <a:p>
            <a:pPr>
              <a:lnSpc>
                <a:spcPct val="110000"/>
              </a:lnSpc>
            </a:pPr>
            <a:r>
              <a:rPr lang="en-US" sz="1200">
                <a:solidFill>
                  <a:srgbClr val="5B6B80"/>
                </a:solidFill>
                <a:latin typeface="Segoe UI" panose="020B0502040204020203" pitchFamily="34" charset="0"/>
              </a:rPr>
              <a:t>Tune sequences, control logic &amp; monitoring for improved operation.</a:t>
            </a:r>
          </a:p>
        </p:txBody>
      </p:sp>
      <p:sp>
        <p:nvSpPr>
          <p:cNvPr id="29" name="Rectangle: Rounded Corners 28">
            <a:extLst>
              <a:ext uri="{FF2B5EF4-FFF2-40B4-BE49-F238E27FC236}">
                <a16:creationId xmlns:a16="http://schemas.microsoft.com/office/drawing/2014/main" id="{CBCFA8F3-21B8-B60A-4EF1-C6424D8F5CFB}"/>
              </a:ext>
            </a:extLst>
          </p:cNvPr>
          <p:cNvSpPr/>
          <p:nvPr/>
        </p:nvSpPr>
        <p:spPr>
          <a:xfrm>
            <a:off x="8128000" y="3403600"/>
            <a:ext cx="3454400" cy="1574800"/>
          </a:xfrm>
          <a:prstGeom prst="roundRect">
            <a:avLst>
              <a:gd name="adj" fmla="val 6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065BCEE-74C4-484C-F30B-18B954C4B0CE}"/>
              </a:ext>
            </a:extLst>
          </p:cNvPr>
          <p:cNvSpPr/>
          <p:nvPr/>
        </p:nvSpPr>
        <p:spPr>
          <a:xfrm>
            <a:off x="8128000" y="3632200"/>
            <a:ext cx="50800" cy="355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F27CBCE-8091-C319-D314-F94ABDCE5DF6}"/>
              </a:ext>
            </a:extLst>
          </p:cNvPr>
          <p:cNvSpPr txBox="1"/>
          <p:nvPr/>
        </p:nvSpPr>
        <p:spPr>
          <a:xfrm>
            <a:off x="8382000" y="3606800"/>
            <a:ext cx="2997200" cy="279400"/>
          </a:xfrm>
          <a:prstGeom prst="rect">
            <a:avLst/>
          </a:prstGeom>
          <a:noFill/>
        </p:spPr>
        <p:txBody>
          <a:bodyPr vert="horz" wrap="square" lIns="0" tIns="0" rIns="0" bIns="0" rtlCol="0" anchor="ctr">
            <a:noAutofit/>
          </a:bodyPr>
          <a:lstStyle/>
          <a:p>
            <a:r>
              <a:rPr lang="en-US" sz="1400" b="1">
                <a:solidFill>
                  <a:srgbClr val="0B1F3A"/>
                </a:solidFill>
                <a:latin typeface="Segoe UI Semibold" panose="020B0702040204020203" pitchFamily="34" charset="0"/>
              </a:rPr>
              <a:t>Documentation</a:t>
            </a:r>
          </a:p>
        </p:txBody>
      </p:sp>
      <p:sp>
        <p:nvSpPr>
          <p:cNvPr id="32" name="TextBox 31">
            <a:extLst>
              <a:ext uri="{FF2B5EF4-FFF2-40B4-BE49-F238E27FC236}">
                <a16:creationId xmlns:a16="http://schemas.microsoft.com/office/drawing/2014/main" id="{71F0175A-B506-37A0-1F1D-E3F16CE2ACA0}"/>
              </a:ext>
            </a:extLst>
          </p:cNvPr>
          <p:cNvSpPr txBox="1"/>
          <p:nvPr/>
        </p:nvSpPr>
        <p:spPr>
          <a:xfrm>
            <a:off x="8382000" y="4038600"/>
            <a:ext cx="2997200" cy="838200"/>
          </a:xfrm>
          <a:prstGeom prst="rect">
            <a:avLst/>
          </a:prstGeom>
          <a:noFill/>
        </p:spPr>
        <p:txBody>
          <a:bodyPr vert="horz" wrap="square" lIns="0" tIns="0" rIns="0" bIns="0" rtlCol="0" anchor="t">
            <a:noAutofit/>
          </a:bodyPr>
          <a:lstStyle/>
          <a:p>
            <a:pPr>
              <a:lnSpc>
                <a:spcPct val="110000"/>
              </a:lnSpc>
            </a:pPr>
            <a:r>
              <a:rPr lang="en-US" sz="1200">
                <a:solidFill>
                  <a:srgbClr val="5B6B80"/>
                </a:solidFill>
                <a:latin typeface="Segoe UI" panose="020B0502040204020203" pitchFamily="34" charset="0"/>
              </a:rPr>
              <a:t>Project documentation, manuals &amp; knowledge transfer.</a:t>
            </a:r>
          </a:p>
        </p:txBody>
      </p:sp>
      <p:sp>
        <p:nvSpPr>
          <p:cNvPr id="33" name="Rectangle: Rounded Corners 32">
            <a:extLst>
              <a:ext uri="{FF2B5EF4-FFF2-40B4-BE49-F238E27FC236}">
                <a16:creationId xmlns:a16="http://schemas.microsoft.com/office/drawing/2014/main" id="{842E02A4-6392-12C8-CC6C-6C7431C60796}"/>
              </a:ext>
            </a:extLst>
          </p:cNvPr>
          <p:cNvSpPr/>
          <p:nvPr/>
        </p:nvSpPr>
        <p:spPr>
          <a:xfrm>
            <a:off x="609600" y="5486400"/>
            <a:ext cx="10972800" cy="711200"/>
          </a:xfrm>
          <a:prstGeom prst="roundRect">
            <a:avLst>
              <a:gd name="adj" fmla="val 15000"/>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FD3C592D-C21D-869D-85DC-F5E0E4E7345E}"/>
              </a:ext>
            </a:extLst>
          </p:cNvPr>
          <p:cNvSpPr txBox="1"/>
          <p:nvPr/>
        </p:nvSpPr>
        <p:spPr>
          <a:xfrm>
            <a:off x="914400" y="5486400"/>
            <a:ext cx="10363200" cy="711200"/>
          </a:xfrm>
          <a:prstGeom prst="rect">
            <a:avLst/>
          </a:prstGeom>
          <a:noFill/>
        </p:spPr>
        <p:txBody>
          <a:bodyPr vert="horz" wrap="square" lIns="0" tIns="0" rIns="0" bIns="0" rtlCol="0" anchor="ctr">
            <a:noAutofit/>
          </a:bodyPr>
          <a:lstStyle/>
          <a:p>
            <a:pPr algn="ctr">
              <a:lnSpc>
                <a:spcPct val="110000"/>
              </a:lnSpc>
            </a:pPr>
            <a:r>
              <a:rPr lang="en-US" sz="1250">
                <a:solidFill>
                  <a:srgbClr val="FFFFFF"/>
                </a:solidFill>
                <a:latin typeface="Segoe UI" panose="020B0502040204020203" pitchFamily="34" charset="0"/>
              </a:rPr>
              <a:t>Our long-term objective: to remain a dependable engineering partner — not only during installation, but throughout the operational life of the system.</a:t>
            </a:r>
          </a:p>
        </p:txBody>
      </p:sp>
      <p:sp>
        <p:nvSpPr>
          <p:cNvPr id="35" name="Rectangle 34">
            <a:extLst>
              <a:ext uri="{FF2B5EF4-FFF2-40B4-BE49-F238E27FC236}">
                <a16:creationId xmlns:a16="http://schemas.microsoft.com/office/drawing/2014/main" id="{040B2846-74D3-FC98-A16E-E08E55703054}"/>
              </a:ext>
            </a:extLst>
          </p:cNvPr>
          <p:cNvSpPr/>
          <p:nvPr/>
        </p:nvSpPr>
        <p:spPr>
          <a:xfrm>
            <a:off x="609600" y="6388100"/>
            <a:ext cx="109728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754FEA2B-7D7F-34FA-F076-D89C98773EA6}"/>
              </a:ext>
            </a:extLst>
          </p:cNvPr>
          <p:cNvSpPr txBox="1"/>
          <p:nvPr/>
        </p:nvSpPr>
        <p:spPr>
          <a:xfrm>
            <a:off x="609600" y="6489700"/>
            <a:ext cx="6350000" cy="177800"/>
          </a:xfrm>
          <a:prstGeom prst="rect">
            <a:avLst/>
          </a:prstGeom>
          <a:noFill/>
        </p:spPr>
        <p:txBody>
          <a:bodyPr vert="horz" wrap="square" lIns="0" tIns="0" rIns="0" bIns="0" rtlCol="0" anchor="t">
            <a:noAutofit/>
          </a:bodyPr>
          <a:lstStyle/>
          <a:p>
            <a:r>
              <a:rPr lang="en-US" sz="850" spc="100">
                <a:solidFill>
                  <a:srgbClr val="5B6B80"/>
                </a:solidFill>
                <a:latin typeface="Segoe UI" panose="020B0502040204020203" pitchFamily="34" charset="0"/>
              </a:rPr>
              <a:t>MECHWARE  |  TECHNOLOGY FOR SMARTER SYSTEMS</a:t>
            </a:r>
          </a:p>
        </p:txBody>
      </p:sp>
      <p:sp>
        <p:nvSpPr>
          <p:cNvPr id="37" name="TextBox 36">
            <a:extLst>
              <a:ext uri="{FF2B5EF4-FFF2-40B4-BE49-F238E27FC236}">
                <a16:creationId xmlns:a16="http://schemas.microsoft.com/office/drawing/2014/main" id="{BCA4F178-2192-3E03-789F-4D48AEB67AED}"/>
              </a:ext>
            </a:extLst>
          </p:cNvPr>
          <p:cNvSpPr txBox="1"/>
          <p:nvPr/>
        </p:nvSpPr>
        <p:spPr>
          <a:xfrm>
            <a:off x="7772400" y="6489700"/>
            <a:ext cx="3810000" cy="177800"/>
          </a:xfrm>
          <a:prstGeom prst="rect">
            <a:avLst/>
          </a:prstGeom>
          <a:noFill/>
        </p:spPr>
        <p:txBody>
          <a:bodyPr vert="horz" wrap="square" lIns="0" tIns="0" rIns="0" bIns="0" rtlCol="0" anchor="t">
            <a:noAutofit/>
          </a:bodyPr>
          <a:lstStyle/>
          <a:p>
            <a:pPr algn="r"/>
            <a:r>
              <a:rPr lang="en-US" sz="950" b="1">
                <a:solidFill>
                  <a:srgbClr val="0B1F3A"/>
                </a:solidFill>
                <a:latin typeface="Segoe UI Semibold" panose="020B0702040204020203" pitchFamily="34" charset="0"/>
              </a:rPr>
              <a:t>14</a:t>
            </a:r>
          </a:p>
        </p:txBody>
      </p:sp>
    </p:spTree>
    <p:extLst>
      <p:ext uri="{BB962C8B-B14F-4D97-AF65-F5344CB8AC3E}">
        <p14:creationId xmlns:p14="http://schemas.microsoft.com/office/powerpoint/2010/main" val="2210135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308DDF-11DC-36AC-BE70-C0F2D65A3A27}"/>
              </a:ext>
            </a:extLst>
          </p:cNvPr>
          <p:cNvSpPr/>
          <p:nvPr/>
        </p:nvSpPr>
        <p:spPr>
          <a:xfrm>
            <a:off x="0" y="0"/>
            <a:ext cx="12192000" cy="1016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3E5C4EA-84DA-1DB5-B589-5FB4D6D21967}"/>
              </a:ext>
            </a:extLst>
          </p:cNvPr>
          <p:cNvSpPr/>
          <p:nvPr/>
        </p:nvSpPr>
        <p:spPr>
          <a:xfrm>
            <a:off x="0" y="0"/>
            <a:ext cx="2794000" cy="101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80B7BE0-8757-974D-A59F-0338C9329105}"/>
              </a:ext>
            </a:extLst>
          </p:cNvPr>
          <p:cNvSpPr txBox="1"/>
          <p:nvPr/>
        </p:nvSpPr>
        <p:spPr>
          <a:xfrm>
            <a:off x="609600" y="381000"/>
            <a:ext cx="8890000" cy="203200"/>
          </a:xfrm>
          <a:prstGeom prst="rect">
            <a:avLst/>
          </a:prstGeom>
          <a:noFill/>
        </p:spPr>
        <p:txBody>
          <a:bodyPr vert="horz" wrap="square" lIns="0" tIns="0" rIns="0" bIns="0" rtlCol="0" anchor="t">
            <a:noAutofit/>
          </a:bodyPr>
          <a:lstStyle/>
          <a:p>
            <a:r>
              <a:rPr lang="en-US" sz="1050" b="1" spc="250">
                <a:solidFill>
                  <a:srgbClr val="00B4D8"/>
                </a:solidFill>
                <a:latin typeface="Segoe UI Semibold" panose="020B0702040204020203" pitchFamily="34" charset="0"/>
              </a:rPr>
              <a:t>11  —  FUTURE</a:t>
            </a:r>
          </a:p>
        </p:txBody>
      </p:sp>
      <p:sp>
        <p:nvSpPr>
          <p:cNvPr id="5" name="TextBox 4">
            <a:extLst>
              <a:ext uri="{FF2B5EF4-FFF2-40B4-BE49-F238E27FC236}">
                <a16:creationId xmlns:a16="http://schemas.microsoft.com/office/drawing/2014/main" id="{496DD072-33D5-0387-C428-D2B87A641524}"/>
              </a:ext>
            </a:extLst>
          </p:cNvPr>
          <p:cNvSpPr txBox="1"/>
          <p:nvPr/>
        </p:nvSpPr>
        <p:spPr>
          <a:xfrm>
            <a:off x="609600" y="609600"/>
            <a:ext cx="9652000" cy="558800"/>
          </a:xfrm>
          <a:prstGeom prst="rect">
            <a:avLst/>
          </a:prstGeom>
          <a:noFill/>
        </p:spPr>
        <p:txBody>
          <a:bodyPr vert="horz" wrap="square" lIns="0" tIns="0" rIns="0" bIns="0" rtlCol="0" anchor="t">
            <a:noAutofit/>
          </a:bodyPr>
          <a:lstStyle/>
          <a:p>
            <a:r>
              <a:rPr lang="en-US" sz="2800" b="1">
                <a:solidFill>
                  <a:srgbClr val="0B1F3A"/>
                </a:solidFill>
                <a:latin typeface="Segoe UI Semibold" panose="020B0702040204020203" pitchFamily="34" charset="0"/>
              </a:rPr>
              <a:t>Building the Next Generation of Industrial Automation</a:t>
            </a:r>
          </a:p>
        </p:txBody>
      </p:sp>
      <p:sp>
        <p:nvSpPr>
          <p:cNvPr id="6" name="Rectangle 5">
            <a:extLst>
              <a:ext uri="{FF2B5EF4-FFF2-40B4-BE49-F238E27FC236}">
                <a16:creationId xmlns:a16="http://schemas.microsoft.com/office/drawing/2014/main" id="{4867F9A8-987C-2033-8CCE-F6F07A4A5AB6}"/>
              </a:ext>
            </a:extLst>
          </p:cNvPr>
          <p:cNvSpPr/>
          <p:nvPr/>
        </p:nvSpPr>
        <p:spPr>
          <a:xfrm>
            <a:off x="609600" y="1244600"/>
            <a:ext cx="711200" cy="50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4CA2702F-5D8B-EDD2-3EFB-3B124E12E83C}"/>
              </a:ext>
            </a:extLst>
          </p:cNvPr>
          <p:cNvPicPr>
            <a:picLocks/>
          </p:cNvPicPr>
          <p:nvPr/>
        </p:nvPicPr>
        <p:blipFill>
          <a:blip>
            <a:extLst>
              <a:ext uri="{96DAC541-7B7A-43D3-8B79-37D633B846F1}">
                <asvg:svgBlip xmlns:asvg="http://schemas.microsoft.com/office/drawing/2016/SVG/main" r:embed="rId2"/>
              </a:ext>
            </a:extLst>
          </a:blip>
          <a:srcRect l="11000" t="19000" r="11000" b="28000"/>
          <a:stretch>
            <a:fillRect/>
          </a:stretch>
        </p:blipFill>
        <p:spPr>
          <a:xfrm>
            <a:off x="10439400" y="381000"/>
            <a:ext cx="1143001" cy="776655"/>
          </a:xfrm>
          <a:prstGeom prst="rect">
            <a:avLst/>
          </a:prstGeom>
        </p:spPr>
      </p:pic>
      <p:sp>
        <p:nvSpPr>
          <p:cNvPr id="9" name="Rectangle: Rounded Corners 8">
            <a:extLst>
              <a:ext uri="{FF2B5EF4-FFF2-40B4-BE49-F238E27FC236}">
                <a16:creationId xmlns:a16="http://schemas.microsoft.com/office/drawing/2014/main" id="{F16E3CD8-DCE1-CE23-52F7-048CB740DB02}"/>
              </a:ext>
            </a:extLst>
          </p:cNvPr>
          <p:cNvSpPr/>
          <p:nvPr/>
        </p:nvSpPr>
        <p:spPr>
          <a:xfrm>
            <a:off x="609600" y="1600200"/>
            <a:ext cx="3454400" cy="17526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BC97E6EB-EA20-94EC-C0D5-CB78BDEC2CCC}"/>
              </a:ext>
            </a:extLst>
          </p:cNvPr>
          <p:cNvSpPr/>
          <p:nvPr/>
        </p:nvSpPr>
        <p:spPr>
          <a:xfrm>
            <a:off x="609600" y="1600200"/>
            <a:ext cx="3454400" cy="431800"/>
          </a:xfrm>
          <a:prstGeom prst="roundRect">
            <a:avLst>
              <a:gd name="adj" fmla="val 20000"/>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2DC0424-2285-ED01-29D0-84DDBD829C38}"/>
              </a:ext>
            </a:extLst>
          </p:cNvPr>
          <p:cNvSpPr/>
          <p:nvPr/>
        </p:nvSpPr>
        <p:spPr>
          <a:xfrm>
            <a:off x="609600" y="1828800"/>
            <a:ext cx="3454400" cy="203200"/>
          </a:xfrm>
          <a:prstGeom prst="rect">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1F6E2F4-DE05-2AAD-43FB-8E4F7570C5B5}"/>
              </a:ext>
            </a:extLst>
          </p:cNvPr>
          <p:cNvSpPr txBox="1"/>
          <p:nvPr/>
        </p:nvSpPr>
        <p:spPr>
          <a:xfrm>
            <a:off x="838200" y="1600200"/>
            <a:ext cx="3048000" cy="431800"/>
          </a:xfrm>
          <a:prstGeom prst="rect">
            <a:avLst/>
          </a:prstGeom>
          <a:noFill/>
        </p:spPr>
        <p:txBody>
          <a:bodyPr vert="horz" wrap="square" lIns="0" tIns="0" rIns="0" bIns="0" rtlCol="0" anchor="ctr">
            <a:noAutofit/>
          </a:bodyPr>
          <a:lstStyle/>
          <a:p>
            <a:r>
              <a:rPr lang="en-US" sz="1200" b="1" spc="300">
                <a:solidFill>
                  <a:srgbClr val="FFFFFF"/>
                </a:solidFill>
                <a:latin typeface="Segoe UI Semibold" panose="020B0702040204020203" pitchFamily="34" charset="0"/>
              </a:rPr>
              <a:t>NOW</a:t>
            </a:r>
          </a:p>
        </p:txBody>
      </p:sp>
      <p:sp>
        <p:nvSpPr>
          <p:cNvPr id="13" name="TextBox 12">
            <a:extLst>
              <a:ext uri="{FF2B5EF4-FFF2-40B4-BE49-F238E27FC236}">
                <a16:creationId xmlns:a16="http://schemas.microsoft.com/office/drawing/2014/main" id="{C70072A1-DEB7-B033-ED64-391538B9593F}"/>
              </a:ext>
            </a:extLst>
          </p:cNvPr>
          <p:cNvSpPr txBox="1"/>
          <p:nvPr/>
        </p:nvSpPr>
        <p:spPr>
          <a:xfrm>
            <a:off x="838200" y="2184400"/>
            <a:ext cx="3022600" cy="2794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Automation &amp; Control</a:t>
            </a:r>
          </a:p>
        </p:txBody>
      </p:sp>
      <p:sp>
        <p:nvSpPr>
          <p:cNvPr id="14" name="TextBox 13">
            <a:extLst>
              <a:ext uri="{FF2B5EF4-FFF2-40B4-BE49-F238E27FC236}">
                <a16:creationId xmlns:a16="http://schemas.microsoft.com/office/drawing/2014/main" id="{A3BC4412-4109-2AA7-1CBE-75E4593E190F}"/>
              </a:ext>
            </a:extLst>
          </p:cNvPr>
          <p:cNvSpPr txBox="1"/>
          <p:nvPr/>
        </p:nvSpPr>
        <p:spPr>
          <a:xfrm>
            <a:off x="838200" y="2540000"/>
            <a:ext cx="3022600" cy="1016000"/>
          </a:xfrm>
          <a:prstGeom prst="rect">
            <a:avLst/>
          </a:prstGeom>
          <a:noFill/>
        </p:spPr>
        <p:txBody>
          <a:bodyPr vert="horz" wrap="square" lIns="0" tIns="0" rIns="0" bIns="0" rtlCol="0" anchor="t">
            <a:noAutofit/>
          </a:bodyPr>
          <a:lstStyle/>
          <a:p>
            <a:pPr>
              <a:lnSpc>
                <a:spcPct val="115000"/>
              </a:lnSpc>
            </a:pPr>
            <a:r>
              <a:rPr lang="en-US" sz="1100">
                <a:solidFill>
                  <a:srgbClr val="5B6B80"/>
                </a:solidFill>
                <a:latin typeface="Segoe UI" panose="020B0502040204020203" pitchFamily="34" charset="0"/>
              </a:rPr>
              <a:t>PLC, HMI, SCADA, drives, instrumentation, retrofit &amp; custom machine automation.</a:t>
            </a:r>
          </a:p>
        </p:txBody>
      </p:sp>
      <p:sp>
        <p:nvSpPr>
          <p:cNvPr id="15" name="Rectangle: Rounded Corners 14">
            <a:extLst>
              <a:ext uri="{FF2B5EF4-FFF2-40B4-BE49-F238E27FC236}">
                <a16:creationId xmlns:a16="http://schemas.microsoft.com/office/drawing/2014/main" id="{639C66B1-B12E-89D5-773D-B9EC4AB24CFE}"/>
              </a:ext>
            </a:extLst>
          </p:cNvPr>
          <p:cNvSpPr/>
          <p:nvPr/>
        </p:nvSpPr>
        <p:spPr>
          <a:xfrm>
            <a:off x="4368800" y="1600200"/>
            <a:ext cx="3454400" cy="17526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21D45460-747A-7222-8898-97FAEF18C0A1}"/>
              </a:ext>
            </a:extLst>
          </p:cNvPr>
          <p:cNvSpPr/>
          <p:nvPr/>
        </p:nvSpPr>
        <p:spPr>
          <a:xfrm>
            <a:off x="4368800" y="1600200"/>
            <a:ext cx="3454400" cy="431800"/>
          </a:xfrm>
          <a:prstGeom prst="roundRect">
            <a:avLst>
              <a:gd name="adj" fmla="val 20000"/>
            </a:avLst>
          </a:prstGeom>
          <a:solidFill>
            <a:srgbClr val="1F6F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9027771-2CD3-AB6B-C051-AEEAFDFA26E3}"/>
              </a:ext>
            </a:extLst>
          </p:cNvPr>
          <p:cNvSpPr/>
          <p:nvPr/>
        </p:nvSpPr>
        <p:spPr>
          <a:xfrm>
            <a:off x="4368800" y="1828800"/>
            <a:ext cx="3454400" cy="203200"/>
          </a:xfrm>
          <a:prstGeom prst="rect">
            <a:avLst/>
          </a:prstGeom>
          <a:solidFill>
            <a:srgbClr val="1F6F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AC2694C-6C1D-4C3B-CB6A-480F2EA0C698}"/>
              </a:ext>
            </a:extLst>
          </p:cNvPr>
          <p:cNvSpPr txBox="1"/>
          <p:nvPr/>
        </p:nvSpPr>
        <p:spPr>
          <a:xfrm>
            <a:off x="4597400" y="1600200"/>
            <a:ext cx="3048000" cy="431800"/>
          </a:xfrm>
          <a:prstGeom prst="rect">
            <a:avLst/>
          </a:prstGeom>
          <a:noFill/>
        </p:spPr>
        <p:txBody>
          <a:bodyPr vert="horz" wrap="square" lIns="0" tIns="0" rIns="0" bIns="0" rtlCol="0" anchor="ctr">
            <a:noAutofit/>
          </a:bodyPr>
          <a:lstStyle/>
          <a:p>
            <a:r>
              <a:rPr lang="en-US" sz="1200" b="1" spc="300">
                <a:solidFill>
                  <a:srgbClr val="FFFFFF"/>
                </a:solidFill>
                <a:latin typeface="Segoe UI Semibold" panose="020B0702040204020203" pitchFamily="34" charset="0"/>
              </a:rPr>
              <a:t>NEXT</a:t>
            </a:r>
          </a:p>
        </p:txBody>
      </p:sp>
      <p:sp>
        <p:nvSpPr>
          <p:cNvPr id="19" name="TextBox 18">
            <a:extLst>
              <a:ext uri="{FF2B5EF4-FFF2-40B4-BE49-F238E27FC236}">
                <a16:creationId xmlns:a16="http://schemas.microsoft.com/office/drawing/2014/main" id="{7FD1FF4C-48CA-C0D1-008B-DBAA65362FDF}"/>
              </a:ext>
            </a:extLst>
          </p:cNvPr>
          <p:cNvSpPr txBox="1"/>
          <p:nvPr/>
        </p:nvSpPr>
        <p:spPr>
          <a:xfrm>
            <a:off x="4597400" y="2184400"/>
            <a:ext cx="3022600" cy="2794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Smart Manufacturing</a:t>
            </a:r>
          </a:p>
        </p:txBody>
      </p:sp>
      <p:sp>
        <p:nvSpPr>
          <p:cNvPr id="20" name="TextBox 19">
            <a:extLst>
              <a:ext uri="{FF2B5EF4-FFF2-40B4-BE49-F238E27FC236}">
                <a16:creationId xmlns:a16="http://schemas.microsoft.com/office/drawing/2014/main" id="{A340B64C-86C4-E043-FD3A-6BD1BDCA45A3}"/>
              </a:ext>
            </a:extLst>
          </p:cNvPr>
          <p:cNvSpPr txBox="1"/>
          <p:nvPr/>
        </p:nvSpPr>
        <p:spPr>
          <a:xfrm>
            <a:off x="4597400" y="2540000"/>
            <a:ext cx="3022600" cy="1016000"/>
          </a:xfrm>
          <a:prstGeom prst="rect">
            <a:avLst/>
          </a:prstGeom>
          <a:noFill/>
        </p:spPr>
        <p:txBody>
          <a:bodyPr vert="horz" wrap="square" lIns="0" tIns="0" rIns="0" bIns="0" rtlCol="0" anchor="t">
            <a:noAutofit/>
          </a:bodyPr>
          <a:lstStyle/>
          <a:p>
            <a:pPr>
              <a:lnSpc>
                <a:spcPct val="115000"/>
              </a:lnSpc>
            </a:pPr>
            <a:r>
              <a:rPr lang="en-US" sz="1100">
                <a:solidFill>
                  <a:srgbClr val="5B6B80"/>
                </a:solidFill>
                <a:latin typeface="Segoe UI" panose="020B0502040204020203" pitchFamily="34" charset="0"/>
              </a:rPr>
              <a:t>IIoT, edge connectivity, energy monitoring &amp; data dashboards for connected factories.</a:t>
            </a:r>
          </a:p>
        </p:txBody>
      </p:sp>
      <p:sp>
        <p:nvSpPr>
          <p:cNvPr id="21" name="Rectangle: Rounded Corners 20">
            <a:extLst>
              <a:ext uri="{FF2B5EF4-FFF2-40B4-BE49-F238E27FC236}">
                <a16:creationId xmlns:a16="http://schemas.microsoft.com/office/drawing/2014/main" id="{E466215D-8B30-E804-BE31-75EB12DA6EF9}"/>
              </a:ext>
            </a:extLst>
          </p:cNvPr>
          <p:cNvSpPr/>
          <p:nvPr/>
        </p:nvSpPr>
        <p:spPr>
          <a:xfrm>
            <a:off x="8128000" y="1600200"/>
            <a:ext cx="3454400" cy="1752600"/>
          </a:xfrm>
          <a:prstGeom prst="roundRect">
            <a:avLst>
              <a:gd name="adj" fmla="val 5000"/>
            </a:avLst>
          </a:prstGeom>
          <a:solidFill>
            <a:srgbClr val="FFFFFF"/>
          </a:solidFill>
          <a:ln w="9525">
            <a:solidFill>
              <a:srgbClr val="D9E2EC"/>
            </a:solidFill>
          </a:ln>
          <a:effectLst>
            <a:outerShdw blurRad="127000" dist="38100" dir="5400000" rotWithShape="0">
              <a:srgbClr val="0B1F3A">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33D41FCB-2D69-84E3-A748-E548048C7609}"/>
              </a:ext>
            </a:extLst>
          </p:cNvPr>
          <p:cNvSpPr/>
          <p:nvPr/>
        </p:nvSpPr>
        <p:spPr>
          <a:xfrm>
            <a:off x="8128000" y="1600200"/>
            <a:ext cx="3454400" cy="431800"/>
          </a:xfrm>
          <a:prstGeom prst="roundRect">
            <a:avLst>
              <a:gd name="adj" fmla="val 20000"/>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7E734ED-A60F-36EA-1FF0-A8F3C0E733F5}"/>
              </a:ext>
            </a:extLst>
          </p:cNvPr>
          <p:cNvSpPr/>
          <p:nvPr/>
        </p:nvSpPr>
        <p:spPr>
          <a:xfrm>
            <a:off x="8128000" y="1828800"/>
            <a:ext cx="3454400" cy="2032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EDA6D2C-A539-8F1F-B961-4155E59C58F3}"/>
              </a:ext>
            </a:extLst>
          </p:cNvPr>
          <p:cNvSpPr txBox="1"/>
          <p:nvPr/>
        </p:nvSpPr>
        <p:spPr>
          <a:xfrm>
            <a:off x="8356600" y="1600200"/>
            <a:ext cx="3048000" cy="431800"/>
          </a:xfrm>
          <a:prstGeom prst="rect">
            <a:avLst/>
          </a:prstGeom>
          <a:noFill/>
        </p:spPr>
        <p:txBody>
          <a:bodyPr vert="horz" wrap="square" lIns="0" tIns="0" rIns="0" bIns="0" rtlCol="0" anchor="ctr">
            <a:noAutofit/>
          </a:bodyPr>
          <a:lstStyle/>
          <a:p>
            <a:r>
              <a:rPr lang="en-US" sz="1200" b="1" spc="300">
                <a:solidFill>
                  <a:srgbClr val="FFFFFF"/>
                </a:solidFill>
                <a:latin typeface="Segoe UI Semibold" panose="020B0702040204020203" pitchFamily="34" charset="0"/>
              </a:rPr>
              <a:t>VISION</a:t>
            </a:r>
          </a:p>
        </p:txBody>
      </p:sp>
      <p:sp>
        <p:nvSpPr>
          <p:cNvPr id="25" name="TextBox 24">
            <a:extLst>
              <a:ext uri="{FF2B5EF4-FFF2-40B4-BE49-F238E27FC236}">
                <a16:creationId xmlns:a16="http://schemas.microsoft.com/office/drawing/2014/main" id="{04819E53-9DCB-AE01-AD8F-591DE1FB89FF}"/>
              </a:ext>
            </a:extLst>
          </p:cNvPr>
          <p:cNvSpPr txBox="1"/>
          <p:nvPr/>
        </p:nvSpPr>
        <p:spPr>
          <a:xfrm>
            <a:off x="8356600" y="2184400"/>
            <a:ext cx="3022600" cy="279400"/>
          </a:xfrm>
          <a:prstGeom prst="rect">
            <a:avLst/>
          </a:prstGeom>
          <a:noFill/>
        </p:spPr>
        <p:txBody>
          <a:bodyPr vert="horz" wrap="square" lIns="0" tIns="0" rIns="0" bIns="0" rtlCol="0" anchor="t">
            <a:noAutofit/>
          </a:bodyPr>
          <a:lstStyle/>
          <a:p>
            <a:r>
              <a:rPr lang="en-US" sz="1400" b="1">
                <a:solidFill>
                  <a:srgbClr val="0B1F3A"/>
                </a:solidFill>
                <a:latin typeface="Segoe UI Semibold" panose="020B0702040204020203" pitchFamily="34" charset="0"/>
              </a:rPr>
              <a:t>Machine Manufacturing Plant</a:t>
            </a:r>
          </a:p>
        </p:txBody>
      </p:sp>
      <p:sp>
        <p:nvSpPr>
          <p:cNvPr id="26" name="TextBox 25">
            <a:extLst>
              <a:ext uri="{FF2B5EF4-FFF2-40B4-BE49-F238E27FC236}">
                <a16:creationId xmlns:a16="http://schemas.microsoft.com/office/drawing/2014/main" id="{B3094407-2562-7D66-B1A0-718B89B9908A}"/>
              </a:ext>
            </a:extLst>
          </p:cNvPr>
          <p:cNvSpPr txBox="1"/>
          <p:nvPr/>
        </p:nvSpPr>
        <p:spPr>
          <a:xfrm>
            <a:off x="8356600" y="2540000"/>
            <a:ext cx="3022600" cy="1016000"/>
          </a:xfrm>
          <a:prstGeom prst="rect">
            <a:avLst/>
          </a:prstGeom>
          <a:noFill/>
        </p:spPr>
        <p:txBody>
          <a:bodyPr vert="horz" wrap="square" lIns="0" tIns="0" rIns="0" bIns="0" rtlCol="0" anchor="t">
            <a:noAutofit/>
          </a:bodyPr>
          <a:lstStyle/>
          <a:p>
            <a:pPr>
              <a:lnSpc>
                <a:spcPct val="115000"/>
              </a:lnSpc>
            </a:pPr>
            <a:r>
              <a:rPr lang="en-US" sz="1100">
                <a:solidFill>
                  <a:srgbClr val="5B6B80"/>
                </a:solidFill>
                <a:latin typeface="Segoe UI" panose="020B0502040204020203" pitchFamily="34" charset="0"/>
              </a:rPr>
              <a:t>Advanced machine manufacturing plant in Bangladesh — local machines, global standards.</a:t>
            </a:r>
          </a:p>
        </p:txBody>
      </p:sp>
      <p:sp>
        <p:nvSpPr>
          <p:cNvPr id="27" name="TextBox 26">
            <a:extLst>
              <a:ext uri="{FF2B5EF4-FFF2-40B4-BE49-F238E27FC236}">
                <a16:creationId xmlns:a16="http://schemas.microsoft.com/office/drawing/2014/main" id="{5683355C-1948-0C2A-DEE8-91DEA944AE8B}"/>
              </a:ext>
            </a:extLst>
          </p:cNvPr>
          <p:cNvSpPr txBox="1"/>
          <p:nvPr/>
        </p:nvSpPr>
        <p:spPr>
          <a:xfrm>
            <a:off x="609600" y="3606800"/>
            <a:ext cx="5080000" cy="203200"/>
          </a:xfrm>
          <a:prstGeom prst="rect">
            <a:avLst/>
          </a:prstGeom>
          <a:noFill/>
        </p:spPr>
        <p:txBody>
          <a:bodyPr vert="horz" wrap="square" lIns="0" tIns="0" rIns="0" bIns="0" rtlCol="0" anchor="t">
            <a:noAutofit/>
          </a:bodyPr>
          <a:lstStyle/>
          <a:p>
            <a:r>
              <a:rPr lang="en-US" sz="1050" b="1" spc="250">
                <a:solidFill>
                  <a:srgbClr val="00B4D8"/>
                </a:solidFill>
                <a:latin typeface="Segoe UI Semibold" panose="020B0702040204020203" pitchFamily="34" charset="0"/>
              </a:rPr>
              <a:t>FOCUS AREAS</a:t>
            </a:r>
          </a:p>
        </p:txBody>
      </p:sp>
      <p:sp>
        <p:nvSpPr>
          <p:cNvPr id="28" name="Rectangle: Rounded Corners 27">
            <a:extLst>
              <a:ext uri="{FF2B5EF4-FFF2-40B4-BE49-F238E27FC236}">
                <a16:creationId xmlns:a16="http://schemas.microsoft.com/office/drawing/2014/main" id="{B7F6371F-CA88-8C21-F7DA-91ACCAE5DEF2}"/>
              </a:ext>
            </a:extLst>
          </p:cNvPr>
          <p:cNvSpPr/>
          <p:nvPr/>
        </p:nvSpPr>
        <p:spPr>
          <a:xfrm>
            <a:off x="609600" y="3886200"/>
            <a:ext cx="2590800" cy="1168400"/>
          </a:xfrm>
          <a:prstGeom prst="roundRect">
            <a:avLst>
              <a:gd name="adj" fmla="val 8000"/>
            </a:avLst>
          </a:prstGeom>
          <a:solidFill>
            <a:srgbClr val="F3F7FB"/>
          </a:solidFill>
          <a:ln w="9525">
            <a:solidFill>
              <a:srgbClr val="D9E2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6FC3D2F-AA32-76A6-D891-6EBEB15AA65E}"/>
              </a:ext>
            </a:extLst>
          </p:cNvPr>
          <p:cNvSpPr/>
          <p:nvPr/>
        </p:nvSpPr>
        <p:spPr>
          <a:xfrm>
            <a:off x="609600" y="4064000"/>
            <a:ext cx="50800" cy="304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21433247-7A4E-195C-2F53-B6FF345CBFB2}"/>
              </a:ext>
            </a:extLst>
          </p:cNvPr>
          <p:cNvSpPr txBox="1"/>
          <p:nvPr/>
        </p:nvSpPr>
        <p:spPr>
          <a:xfrm>
            <a:off x="812800" y="4038600"/>
            <a:ext cx="2286000" cy="228600"/>
          </a:xfrm>
          <a:prstGeom prst="rect">
            <a:avLst/>
          </a:prstGeom>
          <a:noFill/>
        </p:spPr>
        <p:txBody>
          <a:bodyPr vert="horz" wrap="square" lIns="0" tIns="0" rIns="0" bIns="0" rtlCol="0" anchor="t">
            <a:noAutofit/>
          </a:bodyPr>
          <a:lstStyle/>
          <a:p>
            <a:r>
              <a:rPr lang="en-US" sz="1300" b="1">
                <a:solidFill>
                  <a:srgbClr val="0B1F3A"/>
                </a:solidFill>
                <a:latin typeface="Segoe UI Semibold" panose="020B0702040204020203" pitchFamily="34" charset="0"/>
              </a:rPr>
              <a:t>Smart Factory</a:t>
            </a:r>
          </a:p>
        </p:txBody>
      </p:sp>
      <p:sp>
        <p:nvSpPr>
          <p:cNvPr id="31" name="TextBox 30">
            <a:extLst>
              <a:ext uri="{FF2B5EF4-FFF2-40B4-BE49-F238E27FC236}">
                <a16:creationId xmlns:a16="http://schemas.microsoft.com/office/drawing/2014/main" id="{6D41279F-EBFE-4A96-10BC-ED316FE39EEE}"/>
              </a:ext>
            </a:extLst>
          </p:cNvPr>
          <p:cNvSpPr txBox="1"/>
          <p:nvPr/>
        </p:nvSpPr>
        <p:spPr>
          <a:xfrm>
            <a:off x="812800" y="4343400"/>
            <a:ext cx="2235200" cy="635000"/>
          </a:xfrm>
          <a:prstGeom prst="rect">
            <a:avLst/>
          </a:prstGeom>
          <a:noFill/>
        </p:spPr>
        <p:txBody>
          <a:bodyPr vert="horz" wrap="square" lIns="0" tIns="0" rIns="0" bIns="0" rtlCol="0" anchor="t">
            <a:noAutofit/>
          </a:bodyPr>
          <a:lstStyle/>
          <a:p>
            <a:pPr>
              <a:lnSpc>
                <a:spcPct val="110000"/>
              </a:lnSpc>
            </a:pPr>
            <a:r>
              <a:rPr lang="en-US" sz="1100">
                <a:solidFill>
                  <a:srgbClr val="5B6B80"/>
                </a:solidFill>
                <a:latin typeface="Segoe UI" panose="020B0502040204020203" pitchFamily="34" charset="0"/>
              </a:rPr>
              <a:t>Integrated automation &amp; connected production environments.</a:t>
            </a:r>
          </a:p>
        </p:txBody>
      </p:sp>
      <p:sp>
        <p:nvSpPr>
          <p:cNvPr id="32" name="Rectangle: Rounded Corners 31">
            <a:extLst>
              <a:ext uri="{FF2B5EF4-FFF2-40B4-BE49-F238E27FC236}">
                <a16:creationId xmlns:a16="http://schemas.microsoft.com/office/drawing/2014/main" id="{EB19A65F-9E1A-0FE3-DBAF-C2885A12BF35}"/>
              </a:ext>
            </a:extLst>
          </p:cNvPr>
          <p:cNvSpPr/>
          <p:nvPr/>
        </p:nvSpPr>
        <p:spPr>
          <a:xfrm>
            <a:off x="3403600" y="3886200"/>
            <a:ext cx="2590800" cy="1168400"/>
          </a:xfrm>
          <a:prstGeom prst="roundRect">
            <a:avLst>
              <a:gd name="adj" fmla="val 8000"/>
            </a:avLst>
          </a:prstGeom>
          <a:solidFill>
            <a:srgbClr val="F3F7FB"/>
          </a:solidFill>
          <a:ln w="9525">
            <a:solidFill>
              <a:srgbClr val="D9E2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99265888-564C-3491-D824-AC45E0FBF492}"/>
              </a:ext>
            </a:extLst>
          </p:cNvPr>
          <p:cNvSpPr/>
          <p:nvPr/>
        </p:nvSpPr>
        <p:spPr>
          <a:xfrm>
            <a:off x="3403600" y="4064000"/>
            <a:ext cx="50800" cy="304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1D9E10EC-8A1A-1F20-0E19-12B7FB0D54AF}"/>
              </a:ext>
            </a:extLst>
          </p:cNvPr>
          <p:cNvSpPr txBox="1"/>
          <p:nvPr/>
        </p:nvSpPr>
        <p:spPr>
          <a:xfrm>
            <a:off x="3606800" y="4038600"/>
            <a:ext cx="2286000" cy="228600"/>
          </a:xfrm>
          <a:prstGeom prst="rect">
            <a:avLst/>
          </a:prstGeom>
          <a:noFill/>
        </p:spPr>
        <p:txBody>
          <a:bodyPr vert="horz" wrap="square" lIns="0" tIns="0" rIns="0" bIns="0" rtlCol="0" anchor="t">
            <a:noAutofit/>
          </a:bodyPr>
          <a:lstStyle/>
          <a:p>
            <a:r>
              <a:rPr lang="en-US" sz="1300" b="1">
                <a:solidFill>
                  <a:srgbClr val="0B1F3A"/>
                </a:solidFill>
                <a:latin typeface="Segoe UI Semibold" panose="020B0702040204020203" pitchFamily="34" charset="0"/>
              </a:rPr>
              <a:t>IIoT &amp; Edge</a:t>
            </a:r>
          </a:p>
        </p:txBody>
      </p:sp>
      <p:sp>
        <p:nvSpPr>
          <p:cNvPr id="35" name="TextBox 34">
            <a:extLst>
              <a:ext uri="{FF2B5EF4-FFF2-40B4-BE49-F238E27FC236}">
                <a16:creationId xmlns:a16="http://schemas.microsoft.com/office/drawing/2014/main" id="{BCBAAA37-C949-DBC4-D7BA-72A877501C3E}"/>
              </a:ext>
            </a:extLst>
          </p:cNvPr>
          <p:cNvSpPr txBox="1"/>
          <p:nvPr/>
        </p:nvSpPr>
        <p:spPr>
          <a:xfrm>
            <a:off x="3606800" y="4343400"/>
            <a:ext cx="2235200" cy="635000"/>
          </a:xfrm>
          <a:prstGeom prst="rect">
            <a:avLst/>
          </a:prstGeom>
          <a:noFill/>
        </p:spPr>
        <p:txBody>
          <a:bodyPr vert="horz" wrap="square" lIns="0" tIns="0" rIns="0" bIns="0" rtlCol="0" anchor="t">
            <a:noAutofit/>
          </a:bodyPr>
          <a:lstStyle/>
          <a:p>
            <a:pPr>
              <a:lnSpc>
                <a:spcPct val="110000"/>
              </a:lnSpc>
            </a:pPr>
            <a:r>
              <a:rPr lang="en-US" sz="1100">
                <a:solidFill>
                  <a:srgbClr val="5B6B80"/>
                </a:solidFill>
                <a:latin typeface="Segoe UI" panose="020B0502040204020203" pitchFamily="34" charset="0"/>
              </a:rPr>
              <a:t>Industrial connectivity &amp; real-time data access.</a:t>
            </a:r>
          </a:p>
        </p:txBody>
      </p:sp>
      <p:sp>
        <p:nvSpPr>
          <p:cNvPr id="36" name="Rectangle: Rounded Corners 35">
            <a:extLst>
              <a:ext uri="{FF2B5EF4-FFF2-40B4-BE49-F238E27FC236}">
                <a16:creationId xmlns:a16="http://schemas.microsoft.com/office/drawing/2014/main" id="{CCD52B44-046C-27E8-85A9-EF0E64A92B17}"/>
              </a:ext>
            </a:extLst>
          </p:cNvPr>
          <p:cNvSpPr/>
          <p:nvPr/>
        </p:nvSpPr>
        <p:spPr>
          <a:xfrm>
            <a:off x="6197600" y="3886200"/>
            <a:ext cx="2590800" cy="1168400"/>
          </a:xfrm>
          <a:prstGeom prst="roundRect">
            <a:avLst>
              <a:gd name="adj" fmla="val 8000"/>
            </a:avLst>
          </a:prstGeom>
          <a:solidFill>
            <a:srgbClr val="F3F7FB"/>
          </a:solidFill>
          <a:ln w="9525">
            <a:solidFill>
              <a:srgbClr val="D9E2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B7B03CFE-C1E7-3619-A849-B0F7BDE6C9B3}"/>
              </a:ext>
            </a:extLst>
          </p:cNvPr>
          <p:cNvSpPr/>
          <p:nvPr/>
        </p:nvSpPr>
        <p:spPr>
          <a:xfrm>
            <a:off x="6197600" y="4064000"/>
            <a:ext cx="50800" cy="304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8C0867D3-D5FB-B38F-6343-A754C166CDA8}"/>
              </a:ext>
            </a:extLst>
          </p:cNvPr>
          <p:cNvSpPr txBox="1"/>
          <p:nvPr/>
        </p:nvSpPr>
        <p:spPr>
          <a:xfrm>
            <a:off x="6400800" y="4038600"/>
            <a:ext cx="2286000" cy="228600"/>
          </a:xfrm>
          <a:prstGeom prst="rect">
            <a:avLst/>
          </a:prstGeom>
          <a:noFill/>
        </p:spPr>
        <p:txBody>
          <a:bodyPr vert="horz" wrap="square" lIns="0" tIns="0" rIns="0" bIns="0" rtlCol="0" anchor="t">
            <a:noAutofit/>
          </a:bodyPr>
          <a:lstStyle/>
          <a:p>
            <a:r>
              <a:rPr lang="en-US" sz="1300" b="1">
                <a:solidFill>
                  <a:srgbClr val="0B1F3A"/>
                </a:solidFill>
                <a:latin typeface="Segoe UI Semibold" panose="020B0702040204020203" pitchFamily="34" charset="0"/>
              </a:rPr>
              <a:t>Data &amp; Analytics</a:t>
            </a:r>
          </a:p>
        </p:txBody>
      </p:sp>
      <p:sp>
        <p:nvSpPr>
          <p:cNvPr id="39" name="TextBox 38">
            <a:extLst>
              <a:ext uri="{FF2B5EF4-FFF2-40B4-BE49-F238E27FC236}">
                <a16:creationId xmlns:a16="http://schemas.microsoft.com/office/drawing/2014/main" id="{CB3F50D6-E1D0-F6A3-8F7E-5BB0DEB4F840}"/>
              </a:ext>
            </a:extLst>
          </p:cNvPr>
          <p:cNvSpPr txBox="1"/>
          <p:nvPr/>
        </p:nvSpPr>
        <p:spPr>
          <a:xfrm>
            <a:off x="6400800" y="4343400"/>
            <a:ext cx="2235200" cy="635000"/>
          </a:xfrm>
          <a:prstGeom prst="rect">
            <a:avLst/>
          </a:prstGeom>
          <a:noFill/>
        </p:spPr>
        <p:txBody>
          <a:bodyPr vert="horz" wrap="square" lIns="0" tIns="0" rIns="0" bIns="0" rtlCol="0" anchor="t">
            <a:noAutofit/>
          </a:bodyPr>
          <a:lstStyle/>
          <a:p>
            <a:pPr>
              <a:lnSpc>
                <a:spcPct val="110000"/>
              </a:lnSpc>
            </a:pPr>
            <a:r>
              <a:rPr lang="en-US" sz="1100">
                <a:solidFill>
                  <a:srgbClr val="5B6B80"/>
                </a:solidFill>
                <a:latin typeface="Segoe UI" panose="020B0502040204020203" pitchFamily="34" charset="0"/>
              </a:rPr>
              <a:t>Operational information supporting better decisions.</a:t>
            </a:r>
          </a:p>
        </p:txBody>
      </p:sp>
      <p:sp>
        <p:nvSpPr>
          <p:cNvPr id="40" name="Rectangle: Rounded Corners 39">
            <a:extLst>
              <a:ext uri="{FF2B5EF4-FFF2-40B4-BE49-F238E27FC236}">
                <a16:creationId xmlns:a16="http://schemas.microsoft.com/office/drawing/2014/main" id="{08B242AD-DD54-2B7F-DCF9-3CDBB428F579}"/>
              </a:ext>
            </a:extLst>
          </p:cNvPr>
          <p:cNvSpPr/>
          <p:nvPr/>
        </p:nvSpPr>
        <p:spPr>
          <a:xfrm>
            <a:off x="8991600" y="3886200"/>
            <a:ext cx="2590800" cy="1168400"/>
          </a:xfrm>
          <a:prstGeom prst="roundRect">
            <a:avLst>
              <a:gd name="adj" fmla="val 8000"/>
            </a:avLst>
          </a:prstGeom>
          <a:solidFill>
            <a:srgbClr val="F3F7FB"/>
          </a:solidFill>
          <a:ln w="9525">
            <a:solidFill>
              <a:srgbClr val="D9E2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4BD6774A-4D76-D6EE-E317-288F4CC9A060}"/>
              </a:ext>
            </a:extLst>
          </p:cNvPr>
          <p:cNvSpPr/>
          <p:nvPr/>
        </p:nvSpPr>
        <p:spPr>
          <a:xfrm>
            <a:off x="8991600" y="4064000"/>
            <a:ext cx="50800" cy="3048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6844452B-FAD3-FC81-7007-0AF9D2D21F78}"/>
              </a:ext>
            </a:extLst>
          </p:cNvPr>
          <p:cNvSpPr txBox="1"/>
          <p:nvPr/>
        </p:nvSpPr>
        <p:spPr>
          <a:xfrm>
            <a:off x="9194800" y="4038600"/>
            <a:ext cx="2286000" cy="228600"/>
          </a:xfrm>
          <a:prstGeom prst="rect">
            <a:avLst/>
          </a:prstGeom>
          <a:noFill/>
        </p:spPr>
        <p:txBody>
          <a:bodyPr vert="horz" wrap="square" lIns="0" tIns="0" rIns="0" bIns="0" rtlCol="0" anchor="t">
            <a:noAutofit/>
          </a:bodyPr>
          <a:lstStyle/>
          <a:p>
            <a:r>
              <a:rPr lang="en-US" sz="1300" b="1">
                <a:solidFill>
                  <a:srgbClr val="0B1F3A"/>
                </a:solidFill>
                <a:latin typeface="Segoe UI Semibold" panose="020B0702040204020203" pitchFamily="34" charset="0"/>
              </a:rPr>
              <a:t>Energy Monitoring</a:t>
            </a:r>
          </a:p>
        </p:txBody>
      </p:sp>
      <p:sp>
        <p:nvSpPr>
          <p:cNvPr id="43" name="TextBox 42">
            <a:extLst>
              <a:ext uri="{FF2B5EF4-FFF2-40B4-BE49-F238E27FC236}">
                <a16:creationId xmlns:a16="http://schemas.microsoft.com/office/drawing/2014/main" id="{C18B6875-3BD2-3734-8620-5ED181353513}"/>
              </a:ext>
            </a:extLst>
          </p:cNvPr>
          <p:cNvSpPr txBox="1"/>
          <p:nvPr/>
        </p:nvSpPr>
        <p:spPr>
          <a:xfrm>
            <a:off x="9194800" y="4343400"/>
            <a:ext cx="2235200" cy="635000"/>
          </a:xfrm>
          <a:prstGeom prst="rect">
            <a:avLst/>
          </a:prstGeom>
          <a:noFill/>
        </p:spPr>
        <p:txBody>
          <a:bodyPr vert="horz" wrap="square" lIns="0" tIns="0" rIns="0" bIns="0" rtlCol="0" anchor="t">
            <a:noAutofit/>
          </a:bodyPr>
          <a:lstStyle/>
          <a:p>
            <a:pPr>
              <a:lnSpc>
                <a:spcPct val="110000"/>
              </a:lnSpc>
            </a:pPr>
            <a:r>
              <a:rPr lang="en-US" sz="1100">
                <a:solidFill>
                  <a:srgbClr val="5B6B80"/>
                </a:solidFill>
                <a:latin typeface="Segoe UI" panose="020B0502040204020203" pitchFamily="34" charset="0"/>
              </a:rPr>
              <a:t>Visibility into energy use &amp; optimization opportunities.</a:t>
            </a:r>
          </a:p>
        </p:txBody>
      </p:sp>
      <p:sp>
        <p:nvSpPr>
          <p:cNvPr id="44" name="Rectangle: Rounded Corners 43">
            <a:extLst>
              <a:ext uri="{FF2B5EF4-FFF2-40B4-BE49-F238E27FC236}">
                <a16:creationId xmlns:a16="http://schemas.microsoft.com/office/drawing/2014/main" id="{94D0061F-190D-00C5-5AEC-31B5CDFAC197}"/>
              </a:ext>
            </a:extLst>
          </p:cNvPr>
          <p:cNvSpPr/>
          <p:nvPr/>
        </p:nvSpPr>
        <p:spPr>
          <a:xfrm>
            <a:off x="609600" y="5257800"/>
            <a:ext cx="10972800" cy="939800"/>
          </a:xfrm>
          <a:prstGeom prst="roundRect">
            <a:avLst>
              <a:gd name="adj" fmla="val 12000"/>
            </a:avLst>
          </a:prstGeom>
          <a:solidFill>
            <a:srgbClr val="0B1F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154CF317-585A-86B1-B00B-0FE01C23D3B8}"/>
              </a:ext>
            </a:extLst>
          </p:cNvPr>
          <p:cNvSpPr txBox="1"/>
          <p:nvPr/>
        </p:nvSpPr>
        <p:spPr>
          <a:xfrm>
            <a:off x="609600" y="5384800"/>
            <a:ext cx="10972800" cy="355600"/>
          </a:xfrm>
          <a:prstGeom prst="rect">
            <a:avLst/>
          </a:prstGeom>
          <a:noFill/>
        </p:spPr>
        <p:txBody>
          <a:bodyPr vert="horz" wrap="square" lIns="0" tIns="0" rIns="0" bIns="0" rtlCol="0" anchor="ctr">
            <a:noAutofit/>
          </a:bodyPr>
          <a:lstStyle/>
          <a:p>
            <a:pPr algn="ctr"/>
            <a:r>
              <a:rPr lang="en-US" sz="1300" b="1" spc="50">
                <a:solidFill>
                  <a:srgbClr val="00E5FF"/>
                </a:solidFill>
                <a:latin typeface="Segoe UI Semibold" panose="020B0702040204020203" pitchFamily="34" charset="0"/>
              </a:rPr>
              <a:t>OUR GOAL IS NOT SIMPLY TO AUTOMATE — OUR GOAL IS TO HELP INDUSTRIES BECOME SMARTER.</a:t>
            </a:r>
          </a:p>
        </p:txBody>
      </p:sp>
      <p:sp>
        <p:nvSpPr>
          <p:cNvPr id="46" name="TextBox 45">
            <a:extLst>
              <a:ext uri="{FF2B5EF4-FFF2-40B4-BE49-F238E27FC236}">
                <a16:creationId xmlns:a16="http://schemas.microsoft.com/office/drawing/2014/main" id="{3FA049C7-0DA4-E33B-8BA0-C5E84C67626C}"/>
              </a:ext>
            </a:extLst>
          </p:cNvPr>
          <p:cNvSpPr txBox="1"/>
          <p:nvPr/>
        </p:nvSpPr>
        <p:spPr>
          <a:xfrm>
            <a:off x="609600" y="5791200"/>
            <a:ext cx="10972800" cy="254000"/>
          </a:xfrm>
          <a:prstGeom prst="rect">
            <a:avLst/>
          </a:prstGeom>
          <a:noFill/>
        </p:spPr>
        <p:txBody>
          <a:bodyPr vert="horz" wrap="square" lIns="0" tIns="0" rIns="0" bIns="0" rtlCol="0" anchor="ctr">
            <a:noAutofit/>
          </a:bodyPr>
          <a:lstStyle/>
          <a:p>
            <a:pPr algn="ctr"/>
            <a:r>
              <a:rPr lang="en-US" sz="1100">
                <a:solidFill>
                  <a:srgbClr val="C8D6E8"/>
                </a:solidFill>
                <a:latin typeface="Segoe UI" panose="020B0502040204020203" pitchFamily="34" charset="0"/>
              </a:rPr>
              <a:t>Local Machines, Global Standards — Empowering Bangladesh Industry.</a:t>
            </a:r>
          </a:p>
        </p:txBody>
      </p:sp>
      <p:sp>
        <p:nvSpPr>
          <p:cNvPr id="47" name="Rectangle 46">
            <a:extLst>
              <a:ext uri="{FF2B5EF4-FFF2-40B4-BE49-F238E27FC236}">
                <a16:creationId xmlns:a16="http://schemas.microsoft.com/office/drawing/2014/main" id="{12067BE6-F471-21F7-C74A-93B049E41D41}"/>
              </a:ext>
            </a:extLst>
          </p:cNvPr>
          <p:cNvSpPr/>
          <p:nvPr/>
        </p:nvSpPr>
        <p:spPr>
          <a:xfrm>
            <a:off x="609600" y="6388100"/>
            <a:ext cx="10972800" cy="9525"/>
          </a:xfrm>
          <a:prstGeom prst="rect">
            <a:avLst/>
          </a:prstGeom>
          <a:solidFill>
            <a:srgbClr val="D9E2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208A2264-6C70-763C-42C5-6599A9125AE0}"/>
              </a:ext>
            </a:extLst>
          </p:cNvPr>
          <p:cNvSpPr txBox="1"/>
          <p:nvPr/>
        </p:nvSpPr>
        <p:spPr>
          <a:xfrm>
            <a:off x="609600" y="6489700"/>
            <a:ext cx="6350000" cy="177800"/>
          </a:xfrm>
          <a:prstGeom prst="rect">
            <a:avLst/>
          </a:prstGeom>
          <a:noFill/>
        </p:spPr>
        <p:txBody>
          <a:bodyPr vert="horz" wrap="square" lIns="0" tIns="0" rIns="0" bIns="0" rtlCol="0" anchor="t">
            <a:noAutofit/>
          </a:bodyPr>
          <a:lstStyle/>
          <a:p>
            <a:r>
              <a:rPr lang="en-US" sz="850" spc="100">
                <a:solidFill>
                  <a:srgbClr val="5B6B80"/>
                </a:solidFill>
                <a:latin typeface="Segoe UI" panose="020B0502040204020203" pitchFamily="34" charset="0"/>
              </a:rPr>
              <a:t>MECHWARE  |  TECHNOLOGY FOR SMARTER SYSTEMS</a:t>
            </a:r>
          </a:p>
        </p:txBody>
      </p:sp>
      <p:sp>
        <p:nvSpPr>
          <p:cNvPr id="49" name="TextBox 48">
            <a:extLst>
              <a:ext uri="{FF2B5EF4-FFF2-40B4-BE49-F238E27FC236}">
                <a16:creationId xmlns:a16="http://schemas.microsoft.com/office/drawing/2014/main" id="{86EE1E55-7410-1D9D-243D-6BEEA43544C2}"/>
              </a:ext>
            </a:extLst>
          </p:cNvPr>
          <p:cNvSpPr txBox="1"/>
          <p:nvPr/>
        </p:nvSpPr>
        <p:spPr>
          <a:xfrm>
            <a:off x="7772400" y="6489700"/>
            <a:ext cx="3810000" cy="177800"/>
          </a:xfrm>
          <a:prstGeom prst="rect">
            <a:avLst/>
          </a:prstGeom>
          <a:noFill/>
        </p:spPr>
        <p:txBody>
          <a:bodyPr vert="horz" wrap="square" lIns="0" tIns="0" rIns="0" bIns="0" rtlCol="0" anchor="t">
            <a:noAutofit/>
          </a:bodyPr>
          <a:lstStyle/>
          <a:p>
            <a:pPr algn="r"/>
            <a:r>
              <a:rPr lang="en-US" sz="950" b="1">
                <a:solidFill>
                  <a:srgbClr val="0B1F3A"/>
                </a:solidFill>
                <a:latin typeface="Segoe UI Semibold" panose="020B0702040204020203" pitchFamily="34" charset="0"/>
              </a:rPr>
              <a:t>15</a:t>
            </a:r>
          </a:p>
        </p:txBody>
      </p:sp>
    </p:spTree>
    <p:extLst>
      <p:ext uri="{BB962C8B-B14F-4D97-AF65-F5344CB8AC3E}">
        <p14:creationId xmlns:p14="http://schemas.microsoft.com/office/powerpoint/2010/main" val="3716591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142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B36592-80B6-3028-225B-0847309D29D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37812622-1747-CAE5-F158-41B16CC25F38}"/>
              </a:ext>
            </a:extLst>
          </p:cNvPr>
          <p:cNvSpPr/>
          <p:nvPr/>
        </p:nvSpPr>
        <p:spPr>
          <a:xfrm>
            <a:off x="0" y="0"/>
            <a:ext cx="12192000" cy="6858000"/>
          </a:xfrm>
          <a:prstGeom prst="rect">
            <a:avLst/>
          </a:prstGeom>
          <a:solidFill>
            <a:srgbClr val="07142A">
              <a:alpha val="8000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37A44D6-8BCA-1735-D255-3C06EF02FD8C}"/>
              </a:ext>
            </a:extLst>
          </p:cNvPr>
          <p:cNvSpPr/>
          <p:nvPr/>
        </p:nvSpPr>
        <p:spPr>
          <a:xfrm>
            <a:off x="0" y="0"/>
            <a:ext cx="12192000" cy="101600"/>
          </a:xfrm>
          <a:prstGeom prst="rect">
            <a:avLst/>
          </a:prstGeom>
          <a:solidFill>
            <a:srgbClr val="00B4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0CC45364-2375-ABB3-E31D-647744EF4A34}"/>
              </a:ext>
            </a:extLst>
          </p:cNvPr>
          <p:cNvSpPr/>
          <p:nvPr/>
        </p:nvSpPr>
        <p:spPr>
          <a:xfrm>
            <a:off x="711200" y="1397000"/>
            <a:ext cx="1905000" cy="1905000"/>
          </a:xfrm>
          <a:prstGeom prst="roundRect">
            <a:avLst>
              <a:gd name="adj" fmla="val 12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D38532D6-6C87-B7BC-73CC-9FF66100146B}"/>
              </a:ext>
            </a:extLst>
          </p:cNvPr>
          <p:cNvPicPr>
            <a:picLocks/>
          </p:cNvPicPr>
          <p:nvPr/>
        </p:nvPicPr>
        <p:blipFill>
          <a:blip>
            <a:extLst>
              <a:ext uri="{96DAC541-7B7A-43D3-8B79-37D633B846F1}">
                <asvg:svgBlip xmlns:asvg="http://schemas.microsoft.com/office/drawing/2016/SVG/main" r:embed="rId3"/>
              </a:ext>
            </a:extLst>
          </a:blip>
          <a:srcRect l="11000" t="19000" r="11000" b="28000"/>
          <a:stretch>
            <a:fillRect/>
          </a:stretch>
        </p:blipFill>
        <p:spPr>
          <a:xfrm>
            <a:off x="863600" y="1778000"/>
            <a:ext cx="1600201" cy="1087316"/>
          </a:xfrm>
          <a:prstGeom prst="rect">
            <a:avLst/>
          </a:prstGeom>
        </p:spPr>
      </p:pic>
      <p:sp>
        <p:nvSpPr>
          <p:cNvPr id="9" name="TextBox 8">
            <a:extLst>
              <a:ext uri="{FF2B5EF4-FFF2-40B4-BE49-F238E27FC236}">
                <a16:creationId xmlns:a16="http://schemas.microsoft.com/office/drawing/2014/main" id="{7258115F-6E2F-8B08-CC51-69A2C8A8C4FF}"/>
              </a:ext>
            </a:extLst>
          </p:cNvPr>
          <p:cNvSpPr txBox="1"/>
          <p:nvPr/>
        </p:nvSpPr>
        <p:spPr>
          <a:xfrm>
            <a:off x="711200" y="3606800"/>
            <a:ext cx="4826000" cy="254000"/>
          </a:xfrm>
          <a:prstGeom prst="rect">
            <a:avLst/>
          </a:prstGeom>
          <a:noFill/>
        </p:spPr>
        <p:txBody>
          <a:bodyPr vert="horz" wrap="square" lIns="0" tIns="0" rIns="0" bIns="0" rtlCol="0" anchor="t">
            <a:noAutofit/>
          </a:bodyPr>
          <a:lstStyle/>
          <a:p>
            <a:r>
              <a:rPr lang="en-US" sz="1500" b="1" spc="400">
                <a:solidFill>
                  <a:srgbClr val="00E5FF"/>
                </a:solidFill>
                <a:latin typeface="Segoe UI Semibold" panose="020B0702040204020203" pitchFamily="34" charset="0"/>
              </a:rPr>
              <a:t>LET'S BUILD</a:t>
            </a:r>
          </a:p>
        </p:txBody>
      </p:sp>
      <p:sp>
        <p:nvSpPr>
          <p:cNvPr id="10" name="TextBox 9">
            <a:extLst>
              <a:ext uri="{FF2B5EF4-FFF2-40B4-BE49-F238E27FC236}">
                <a16:creationId xmlns:a16="http://schemas.microsoft.com/office/drawing/2014/main" id="{7C1E86BC-914C-AE5E-BE4E-64AEB2D4D67E}"/>
              </a:ext>
            </a:extLst>
          </p:cNvPr>
          <p:cNvSpPr txBox="1"/>
          <p:nvPr/>
        </p:nvSpPr>
        <p:spPr>
          <a:xfrm>
            <a:off x="711200" y="3911600"/>
            <a:ext cx="5080000" cy="889000"/>
          </a:xfrm>
          <a:prstGeom prst="rect">
            <a:avLst/>
          </a:prstGeom>
          <a:noFill/>
        </p:spPr>
        <p:txBody>
          <a:bodyPr vert="horz" wrap="square" lIns="0" tIns="0" rIns="0" bIns="0" rtlCol="0" anchor="t">
            <a:noAutofit/>
          </a:bodyPr>
          <a:lstStyle/>
          <a:p>
            <a:pPr>
              <a:lnSpc>
                <a:spcPct val="95000"/>
              </a:lnSpc>
            </a:pPr>
            <a:r>
              <a:rPr lang="en-US" sz="3600" b="1">
                <a:solidFill>
                  <a:srgbClr val="FFFFFF"/>
                </a:solidFill>
                <a:latin typeface="Segoe UI Semibold" panose="020B0702040204020203" pitchFamily="34" charset="0"/>
              </a:rPr>
              <a:t>Smarter Industries</a:t>
            </a:r>
          </a:p>
        </p:txBody>
      </p:sp>
      <p:sp>
        <p:nvSpPr>
          <p:cNvPr id="11" name="TextBox 10">
            <a:extLst>
              <a:ext uri="{FF2B5EF4-FFF2-40B4-BE49-F238E27FC236}">
                <a16:creationId xmlns:a16="http://schemas.microsoft.com/office/drawing/2014/main" id="{4894F31E-AD33-AD23-97AB-561C143413A3}"/>
              </a:ext>
            </a:extLst>
          </p:cNvPr>
          <p:cNvSpPr txBox="1"/>
          <p:nvPr/>
        </p:nvSpPr>
        <p:spPr>
          <a:xfrm>
            <a:off x="711200" y="4978400"/>
            <a:ext cx="4826000" cy="508000"/>
          </a:xfrm>
          <a:prstGeom prst="rect">
            <a:avLst/>
          </a:prstGeom>
          <a:noFill/>
        </p:spPr>
        <p:txBody>
          <a:bodyPr vert="horz" wrap="square" lIns="0" tIns="0" rIns="0" bIns="0" rtlCol="0" anchor="t">
            <a:noAutofit/>
          </a:bodyPr>
          <a:lstStyle/>
          <a:p>
            <a:r>
              <a:rPr lang="en-US" sz="1250">
                <a:solidFill>
                  <a:srgbClr val="C8D6E8"/>
                </a:solidFill>
                <a:latin typeface="Segoe UI" panose="020B0502040204020203" pitchFamily="34" charset="0"/>
              </a:rPr>
              <a:t>MECHWARE  —  Your Gateway to Industry 4.0</a:t>
            </a:r>
          </a:p>
        </p:txBody>
      </p:sp>
      <p:sp>
        <p:nvSpPr>
          <p:cNvPr id="12" name="Rectangle 11">
            <a:extLst>
              <a:ext uri="{FF2B5EF4-FFF2-40B4-BE49-F238E27FC236}">
                <a16:creationId xmlns:a16="http://schemas.microsoft.com/office/drawing/2014/main" id="{FA45B8B8-6FA5-0DB7-D08D-7F11ED5CF73E}"/>
              </a:ext>
            </a:extLst>
          </p:cNvPr>
          <p:cNvSpPr/>
          <p:nvPr/>
        </p:nvSpPr>
        <p:spPr>
          <a:xfrm>
            <a:off x="6350000" y="1397000"/>
            <a:ext cx="12700" cy="4064000"/>
          </a:xfrm>
          <a:prstGeom prst="rect">
            <a:avLst/>
          </a:prstGeom>
          <a:solidFill>
            <a:srgbClr val="2A446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5926EE0-8460-27CD-6DF8-849DBB4DE09A}"/>
              </a:ext>
            </a:extLst>
          </p:cNvPr>
          <p:cNvSpPr txBox="1"/>
          <p:nvPr/>
        </p:nvSpPr>
        <p:spPr>
          <a:xfrm>
            <a:off x="6807200" y="1320800"/>
            <a:ext cx="3810000" cy="177800"/>
          </a:xfrm>
          <a:prstGeom prst="rect">
            <a:avLst/>
          </a:prstGeom>
          <a:noFill/>
        </p:spPr>
        <p:txBody>
          <a:bodyPr vert="horz" wrap="square" lIns="0" tIns="0" rIns="0" bIns="0" rtlCol="0" anchor="t">
            <a:noAutofit/>
          </a:bodyPr>
          <a:lstStyle/>
          <a:p>
            <a:r>
              <a:rPr lang="en-US" sz="950" b="1" spc="300">
                <a:solidFill>
                  <a:srgbClr val="00E5FF"/>
                </a:solidFill>
                <a:latin typeface="Segoe UI Semibold" panose="020B0702040204020203" pitchFamily="34" charset="0"/>
              </a:rPr>
              <a:t>OFFICE</a:t>
            </a:r>
          </a:p>
        </p:txBody>
      </p:sp>
      <p:sp>
        <p:nvSpPr>
          <p:cNvPr id="14" name="TextBox 13">
            <a:extLst>
              <a:ext uri="{FF2B5EF4-FFF2-40B4-BE49-F238E27FC236}">
                <a16:creationId xmlns:a16="http://schemas.microsoft.com/office/drawing/2014/main" id="{E3CE6D6B-CA21-C1A4-C788-A0F3F7452C11}"/>
              </a:ext>
            </a:extLst>
          </p:cNvPr>
          <p:cNvSpPr txBox="1"/>
          <p:nvPr/>
        </p:nvSpPr>
        <p:spPr>
          <a:xfrm>
            <a:off x="6807200" y="1574800"/>
            <a:ext cx="4775200" cy="558800"/>
          </a:xfrm>
          <a:prstGeom prst="rect">
            <a:avLst/>
          </a:prstGeom>
          <a:noFill/>
        </p:spPr>
        <p:txBody>
          <a:bodyPr vert="horz" wrap="square" lIns="0" tIns="0" rIns="0" bIns="0" rtlCol="0" anchor="t">
            <a:noAutofit/>
          </a:bodyPr>
          <a:lstStyle/>
          <a:p>
            <a:pPr>
              <a:lnSpc>
                <a:spcPct val="110000"/>
              </a:lnSpc>
            </a:pPr>
            <a:r>
              <a:rPr lang="en-US" sz="1500">
                <a:solidFill>
                  <a:srgbClr val="FFFFFF"/>
                </a:solidFill>
                <a:latin typeface="Segoe UI" panose="020B0502040204020203" pitchFamily="34" charset="0"/>
              </a:rPr>
              <a:t>Sha-23/E (6th Floor), Modhubon Tower,</a:t>
            </a:r>
          </a:p>
          <a:p>
            <a:pPr>
              <a:lnSpc>
                <a:spcPct val="110000"/>
              </a:lnSpc>
            </a:pPr>
            <a:r>
              <a:rPr lang="en-US" sz="1500">
                <a:solidFill>
                  <a:srgbClr val="FFFFFF"/>
                </a:solidFill>
                <a:latin typeface="Segoe UI" panose="020B0502040204020203" pitchFamily="34" charset="0"/>
              </a:rPr>
              <a:t>Gulshan Link Rd, Dhaka 1212</a:t>
            </a:r>
          </a:p>
        </p:txBody>
      </p:sp>
      <p:sp>
        <p:nvSpPr>
          <p:cNvPr id="15" name="Rectangle 14">
            <a:extLst>
              <a:ext uri="{FF2B5EF4-FFF2-40B4-BE49-F238E27FC236}">
                <a16:creationId xmlns:a16="http://schemas.microsoft.com/office/drawing/2014/main" id="{503C4C0A-D46E-5AC4-FF50-07B805014364}"/>
              </a:ext>
            </a:extLst>
          </p:cNvPr>
          <p:cNvSpPr/>
          <p:nvPr/>
        </p:nvSpPr>
        <p:spPr>
          <a:xfrm>
            <a:off x="6807200" y="2184400"/>
            <a:ext cx="4775200" cy="9525"/>
          </a:xfrm>
          <a:prstGeom prst="rect">
            <a:avLst/>
          </a:prstGeom>
          <a:solidFill>
            <a:srgbClr val="2A446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55853FE-D42D-E235-A26F-3DDDC159FD72}"/>
              </a:ext>
            </a:extLst>
          </p:cNvPr>
          <p:cNvSpPr txBox="1"/>
          <p:nvPr/>
        </p:nvSpPr>
        <p:spPr>
          <a:xfrm>
            <a:off x="6807200" y="2311400"/>
            <a:ext cx="3810000" cy="177800"/>
          </a:xfrm>
          <a:prstGeom prst="rect">
            <a:avLst/>
          </a:prstGeom>
          <a:noFill/>
        </p:spPr>
        <p:txBody>
          <a:bodyPr vert="horz" wrap="square" lIns="0" tIns="0" rIns="0" bIns="0" rtlCol="0" anchor="t">
            <a:noAutofit/>
          </a:bodyPr>
          <a:lstStyle/>
          <a:p>
            <a:r>
              <a:rPr lang="en-US" sz="950" b="1" spc="300">
                <a:solidFill>
                  <a:srgbClr val="00E5FF"/>
                </a:solidFill>
                <a:latin typeface="Segoe UI Semibold" panose="020B0702040204020203" pitchFamily="34" charset="0"/>
              </a:rPr>
              <a:t>PHONE</a:t>
            </a:r>
          </a:p>
        </p:txBody>
      </p:sp>
      <p:sp>
        <p:nvSpPr>
          <p:cNvPr id="17" name="TextBox 16">
            <a:extLst>
              <a:ext uri="{FF2B5EF4-FFF2-40B4-BE49-F238E27FC236}">
                <a16:creationId xmlns:a16="http://schemas.microsoft.com/office/drawing/2014/main" id="{FD0AF22B-F0BC-3C30-6C9D-64A3B821BBE7}"/>
              </a:ext>
            </a:extLst>
          </p:cNvPr>
          <p:cNvSpPr txBox="1"/>
          <p:nvPr/>
        </p:nvSpPr>
        <p:spPr>
          <a:xfrm>
            <a:off x="6807200" y="2565400"/>
            <a:ext cx="4775200" cy="558800"/>
          </a:xfrm>
          <a:prstGeom prst="rect">
            <a:avLst/>
          </a:prstGeom>
          <a:noFill/>
        </p:spPr>
        <p:txBody>
          <a:bodyPr vert="horz" wrap="square" lIns="0" tIns="0" rIns="0" bIns="0" rtlCol="0" anchor="t">
            <a:noAutofit/>
          </a:bodyPr>
          <a:lstStyle/>
          <a:p>
            <a:pPr>
              <a:lnSpc>
                <a:spcPct val="110000"/>
              </a:lnSpc>
            </a:pPr>
            <a:r>
              <a:rPr lang="en-US" sz="1500">
                <a:solidFill>
                  <a:srgbClr val="FFFFFF"/>
                </a:solidFill>
                <a:latin typeface="Segoe UI" panose="020B0502040204020203" pitchFamily="34" charset="0"/>
              </a:rPr>
              <a:t>+88 01748-305931</a:t>
            </a:r>
          </a:p>
        </p:txBody>
      </p:sp>
      <p:sp>
        <p:nvSpPr>
          <p:cNvPr id="18" name="Rectangle 17">
            <a:extLst>
              <a:ext uri="{FF2B5EF4-FFF2-40B4-BE49-F238E27FC236}">
                <a16:creationId xmlns:a16="http://schemas.microsoft.com/office/drawing/2014/main" id="{021FF01B-F181-E1BF-443C-A4073ECCF010}"/>
              </a:ext>
            </a:extLst>
          </p:cNvPr>
          <p:cNvSpPr/>
          <p:nvPr/>
        </p:nvSpPr>
        <p:spPr>
          <a:xfrm>
            <a:off x="6807200" y="2921000"/>
            <a:ext cx="4775200" cy="9525"/>
          </a:xfrm>
          <a:prstGeom prst="rect">
            <a:avLst/>
          </a:prstGeom>
          <a:solidFill>
            <a:srgbClr val="2A446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9AC9954-9A09-02C8-9FD3-C5152C6D07C7}"/>
              </a:ext>
            </a:extLst>
          </p:cNvPr>
          <p:cNvSpPr txBox="1"/>
          <p:nvPr/>
        </p:nvSpPr>
        <p:spPr>
          <a:xfrm>
            <a:off x="6807200" y="3048000"/>
            <a:ext cx="3810000" cy="177800"/>
          </a:xfrm>
          <a:prstGeom prst="rect">
            <a:avLst/>
          </a:prstGeom>
          <a:noFill/>
        </p:spPr>
        <p:txBody>
          <a:bodyPr vert="horz" wrap="square" lIns="0" tIns="0" rIns="0" bIns="0" rtlCol="0" anchor="t">
            <a:noAutofit/>
          </a:bodyPr>
          <a:lstStyle/>
          <a:p>
            <a:r>
              <a:rPr lang="en-US" sz="950" b="1" spc="300">
                <a:solidFill>
                  <a:srgbClr val="00E5FF"/>
                </a:solidFill>
                <a:latin typeface="Segoe UI Semibold" panose="020B0702040204020203" pitchFamily="34" charset="0"/>
              </a:rPr>
              <a:t>EMAIL</a:t>
            </a:r>
          </a:p>
        </p:txBody>
      </p:sp>
      <p:sp>
        <p:nvSpPr>
          <p:cNvPr id="20" name="TextBox 19">
            <a:extLst>
              <a:ext uri="{FF2B5EF4-FFF2-40B4-BE49-F238E27FC236}">
                <a16:creationId xmlns:a16="http://schemas.microsoft.com/office/drawing/2014/main" id="{B380F316-0104-A2A2-565D-24095DF2F755}"/>
              </a:ext>
            </a:extLst>
          </p:cNvPr>
          <p:cNvSpPr txBox="1"/>
          <p:nvPr/>
        </p:nvSpPr>
        <p:spPr>
          <a:xfrm>
            <a:off x="6807200" y="3302000"/>
            <a:ext cx="4775200" cy="558800"/>
          </a:xfrm>
          <a:prstGeom prst="rect">
            <a:avLst/>
          </a:prstGeom>
          <a:noFill/>
        </p:spPr>
        <p:txBody>
          <a:bodyPr vert="horz" wrap="square" lIns="0" tIns="0" rIns="0" bIns="0" rtlCol="0" anchor="t">
            <a:noAutofit/>
          </a:bodyPr>
          <a:lstStyle/>
          <a:p>
            <a:pPr>
              <a:lnSpc>
                <a:spcPct val="110000"/>
              </a:lnSpc>
            </a:pPr>
            <a:r>
              <a:rPr lang="en-US" sz="1500">
                <a:solidFill>
                  <a:srgbClr val="FFFFFF"/>
                </a:solidFill>
                <a:latin typeface="Segoe UI" panose="020B0502040204020203" pitchFamily="34" charset="0"/>
              </a:rPr>
              <a:t>parvez.mechware@gmail.com</a:t>
            </a:r>
          </a:p>
        </p:txBody>
      </p:sp>
      <p:sp>
        <p:nvSpPr>
          <p:cNvPr id="21" name="Rectangle 20">
            <a:extLst>
              <a:ext uri="{FF2B5EF4-FFF2-40B4-BE49-F238E27FC236}">
                <a16:creationId xmlns:a16="http://schemas.microsoft.com/office/drawing/2014/main" id="{EDEF2553-56F3-95B6-962E-542203E33B6C}"/>
              </a:ext>
            </a:extLst>
          </p:cNvPr>
          <p:cNvSpPr/>
          <p:nvPr/>
        </p:nvSpPr>
        <p:spPr>
          <a:xfrm>
            <a:off x="6807200" y="3657600"/>
            <a:ext cx="4775200" cy="9525"/>
          </a:xfrm>
          <a:prstGeom prst="rect">
            <a:avLst/>
          </a:prstGeom>
          <a:solidFill>
            <a:srgbClr val="2A446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7F0E876-C05F-796C-1838-BD33EEDA2A77}"/>
              </a:ext>
            </a:extLst>
          </p:cNvPr>
          <p:cNvSpPr txBox="1"/>
          <p:nvPr/>
        </p:nvSpPr>
        <p:spPr>
          <a:xfrm>
            <a:off x="6807200" y="3784600"/>
            <a:ext cx="3810000" cy="177800"/>
          </a:xfrm>
          <a:prstGeom prst="rect">
            <a:avLst/>
          </a:prstGeom>
          <a:noFill/>
        </p:spPr>
        <p:txBody>
          <a:bodyPr vert="horz" wrap="square" lIns="0" tIns="0" rIns="0" bIns="0" rtlCol="0" anchor="t">
            <a:noAutofit/>
          </a:bodyPr>
          <a:lstStyle/>
          <a:p>
            <a:r>
              <a:rPr lang="en-US" sz="950" b="1" spc="300">
                <a:solidFill>
                  <a:srgbClr val="00E5FF"/>
                </a:solidFill>
                <a:latin typeface="Segoe UI Semibold" panose="020B0702040204020203" pitchFamily="34" charset="0"/>
              </a:rPr>
              <a:t>WEBSITE</a:t>
            </a:r>
          </a:p>
        </p:txBody>
      </p:sp>
      <p:sp>
        <p:nvSpPr>
          <p:cNvPr id="23" name="TextBox 22">
            <a:extLst>
              <a:ext uri="{FF2B5EF4-FFF2-40B4-BE49-F238E27FC236}">
                <a16:creationId xmlns:a16="http://schemas.microsoft.com/office/drawing/2014/main" id="{C757253A-F1E6-9875-707B-7EF8548CD513}"/>
              </a:ext>
            </a:extLst>
          </p:cNvPr>
          <p:cNvSpPr txBox="1"/>
          <p:nvPr/>
        </p:nvSpPr>
        <p:spPr>
          <a:xfrm>
            <a:off x="6807200" y="4038600"/>
            <a:ext cx="4775200" cy="558800"/>
          </a:xfrm>
          <a:prstGeom prst="rect">
            <a:avLst/>
          </a:prstGeom>
          <a:noFill/>
        </p:spPr>
        <p:txBody>
          <a:bodyPr vert="horz" wrap="square" lIns="0" tIns="0" rIns="0" bIns="0" rtlCol="0" anchor="t">
            <a:noAutofit/>
          </a:bodyPr>
          <a:lstStyle/>
          <a:p>
            <a:pPr>
              <a:lnSpc>
                <a:spcPct val="110000"/>
              </a:lnSpc>
            </a:pPr>
            <a:r>
              <a:rPr lang="en-US" sz="1500">
                <a:solidFill>
                  <a:srgbClr val="FFFFFF"/>
                </a:solidFill>
                <a:latin typeface="Segoe UI" panose="020B0502040204020203" pitchFamily="34" charset="0"/>
              </a:rPr>
              <a:t>mechware.com.bd</a:t>
            </a:r>
          </a:p>
        </p:txBody>
      </p:sp>
      <p:sp>
        <p:nvSpPr>
          <p:cNvPr id="24" name="Rectangle 23">
            <a:extLst>
              <a:ext uri="{FF2B5EF4-FFF2-40B4-BE49-F238E27FC236}">
                <a16:creationId xmlns:a16="http://schemas.microsoft.com/office/drawing/2014/main" id="{82F38072-1F7B-00BC-8183-D3577BC77638}"/>
              </a:ext>
            </a:extLst>
          </p:cNvPr>
          <p:cNvSpPr/>
          <p:nvPr/>
        </p:nvSpPr>
        <p:spPr>
          <a:xfrm>
            <a:off x="6807200" y="4394200"/>
            <a:ext cx="4775200" cy="9525"/>
          </a:xfrm>
          <a:prstGeom prst="rect">
            <a:avLst/>
          </a:prstGeom>
          <a:solidFill>
            <a:srgbClr val="2A446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F8BA38F-D34C-120D-E0C0-93B3FD899BD7}"/>
              </a:ext>
            </a:extLst>
          </p:cNvPr>
          <p:cNvSpPr txBox="1"/>
          <p:nvPr/>
        </p:nvSpPr>
        <p:spPr>
          <a:xfrm>
            <a:off x="6807200" y="4521200"/>
            <a:ext cx="3810000" cy="177800"/>
          </a:xfrm>
          <a:prstGeom prst="rect">
            <a:avLst/>
          </a:prstGeom>
          <a:noFill/>
        </p:spPr>
        <p:txBody>
          <a:bodyPr vert="horz" wrap="square" lIns="0" tIns="0" rIns="0" bIns="0" rtlCol="0" anchor="t">
            <a:noAutofit/>
          </a:bodyPr>
          <a:lstStyle/>
          <a:p>
            <a:r>
              <a:rPr lang="en-US" sz="950" b="1" spc="300">
                <a:solidFill>
                  <a:srgbClr val="00E5FF"/>
                </a:solidFill>
                <a:latin typeface="Segoe UI Semibold" panose="020B0702040204020203" pitchFamily="34" charset="0"/>
              </a:rPr>
              <a:t>LINKEDIN</a:t>
            </a:r>
          </a:p>
        </p:txBody>
      </p:sp>
      <p:sp>
        <p:nvSpPr>
          <p:cNvPr id="26" name="TextBox 25">
            <a:extLst>
              <a:ext uri="{FF2B5EF4-FFF2-40B4-BE49-F238E27FC236}">
                <a16:creationId xmlns:a16="http://schemas.microsoft.com/office/drawing/2014/main" id="{49CBEE06-A69B-7C8D-7689-CFFCBDBA35EA}"/>
              </a:ext>
            </a:extLst>
          </p:cNvPr>
          <p:cNvSpPr txBox="1"/>
          <p:nvPr/>
        </p:nvSpPr>
        <p:spPr>
          <a:xfrm>
            <a:off x="6807200" y="4775200"/>
            <a:ext cx="4775200" cy="558800"/>
          </a:xfrm>
          <a:prstGeom prst="rect">
            <a:avLst/>
          </a:prstGeom>
          <a:noFill/>
        </p:spPr>
        <p:txBody>
          <a:bodyPr vert="horz" wrap="square" lIns="0" tIns="0" rIns="0" bIns="0" rtlCol="0" anchor="t">
            <a:noAutofit/>
          </a:bodyPr>
          <a:lstStyle/>
          <a:p>
            <a:pPr>
              <a:lnSpc>
                <a:spcPct val="110000"/>
              </a:lnSpc>
            </a:pPr>
            <a:r>
              <a:rPr lang="en-US" sz="1500">
                <a:solidFill>
                  <a:srgbClr val="FFFFFF"/>
                </a:solidFill>
                <a:latin typeface="Segoe UI" panose="020B0502040204020203" pitchFamily="34" charset="0"/>
              </a:rPr>
              <a:t>linkedin.com/company/mechware</a:t>
            </a:r>
          </a:p>
        </p:txBody>
      </p:sp>
      <p:sp>
        <p:nvSpPr>
          <p:cNvPr id="27" name="Rectangle 26">
            <a:extLst>
              <a:ext uri="{FF2B5EF4-FFF2-40B4-BE49-F238E27FC236}">
                <a16:creationId xmlns:a16="http://schemas.microsoft.com/office/drawing/2014/main" id="{D37176E8-9923-2239-3A65-4205EF3F3A4A}"/>
              </a:ext>
            </a:extLst>
          </p:cNvPr>
          <p:cNvSpPr/>
          <p:nvPr/>
        </p:nvSpPr>
        <p:spPr>
          <a:xfrm>
            <a:off x="609600" y="6388100"/>
            <a:ext cx="10972800" cy="9525"/>
          </a:xfrm>
          <a:prstGeom prst="rect">
            <a:avLst/>
          </a:prstGeom>
          <a:solidFill>
            <a:srgbClr val="2A446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4122E37E-78B6-ADB1-A689-CF63EEE538EF}"/>
              </a:ext>
            </a:extLst>
          </p:cNvPr>
          <p:cNvSpPr txBox="1"/>
          <p:nvPr/>
        </p:nvSpPr>
        <p:spPr>
          <a:xfrm>
            <a:off x="609600" y="6489700"/>
            <a:ext cx="6350000" cy="177800"/>
          </a:xfrm>
          <a:prstGeom prst="rect">
            <a:avLst/>
          </a:prstGeom>
          <a:noFill/>
        </p:spPr>
        <p:txBody>
          <a:bodyPr vert="horz" wrap="square" lIns="0" tIns="0" rIns="0" bIns="0" rtlCol="0" anchor="t">
            <a:noAutofit/>
          </a:bodyPr>
          <a:lstStyle/>
          <a:p>
            <a:r>
              <a:rPr lang="en-US" sz="850" spc="100">
                <a:solidFill>
                  <a:srgbClr val="A9BBD3"/>
                </a:solidFill>
                <a:latin typeface="Segoe UI" panose="020B0502040204020203" pitchFamily="34" charset="0"/>
              </a:rPr>
              <a:t>MECHWARE  |  TECHNOLOGY FOR SMARTER SYSTEMS</a:t>
            </a:r>
          </a:p>
        </p:txBody>
      </p:sp>
      <p:sp>
        <p:nvSpPr>
          <p:cNvPr id="29" name="TextBox 28">
            <a:extLst>
              <a:ext uri="{FF2B5EF4-FFF2-40B4-BE49-F238E27FC236}">
                <a16:creationId xmlns:a16="http://schemas.microsoft.com/office/drawing/2014/main" id="{922E61C6-B7CE-4E35-0D62-FC4ACCEB8541}"/>
              </a:ext>
            </a:extLst>
          </p:cNvPr>
          <p:cNvSpPr txBox="1"/>
          <p:nvPr/>
        </p:nvSpPr>
        <p:spPr>
          <a:xfrm>
            <a:off x="7772400" y="6489700"/>
            <a:ext cx="3810000" cy="177800"/>
          </a:xfrm>
          <a:prstGeom prst="rect">
            <a:avLst/>
          </a:prstGeom>
          <a:noFill/>
        </p:spPr>
        <p:txBody>
          <a:bodyPr vert="horz" wrap="square" lIns="0" tIns="0" rIns="0" bIns="0" rtlCol="0" anchor="t">
            <a:noAutofit/>
          </a:bodyPr>
          <a:lstStyle/>
          <a:p>
            <a:pPr algn="r"/>
            <a:r>
              <a:rPr lang="en-US" sz="950" b="1">
                <a:solidFill>
                  <a:srgbClr val="00E5FF"/>
                </a:solidFill>
                <a:latin typeface="Segoe UI Semibold" panose="020B0702040204020203" pitchFamily="34" charset="0"/>
              </a:rPr>
              <a:t>16</a:t>
            </a:r>
          </a:p>
        </p:txBody>
      </p:sp>
    </p:spTree>
    <p:extLst>
      <p:ext uri="{BB962C8B-B14F-4D97-AF65-F5344CB8AC3E}">
        <p14:creationId xmlns:p14="http://schemas.microsoft.com/office/powerpoint/2010/main" val="1144603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1773</Words>
  <Application>Microsoft Office PowerPoint</Application>
  <PresentationFormat>Widescreen</PresentationFormat>
  <Paragraphs>387</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Parvez Mosharaf</dc:creator>
  <cp:lastModifiedBy>Parvez Mosharaf</cp:lastModifiedBy>
  <cp:revision>5</cp:revision>
  <dcterms:created xsi:type="dcterms:W3CDTF">2026-10-03T11:54:34Z</dcterms:created>
  <dcterms:modified xsi:type="dcterms:W3CDTF">2026-10-16T19:42:11Z</dcterms:modified>
</cp:coreProperties>
</file>